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Soy João Miguel y estoy lanzando beira., ropa personalizada de Oliveira do Hospital, en la Serra da Estrela. Este proyecto responde a una pregunta: dónde empieza la venta.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cámaras municipales son los ayuntamientos; las juntas de freguesia, las parroquias. En seis años, cámaras y juntas de estos 66 municipios gastaron casi cinco millones en ropa y merchandising, en 265 contratos. Y es un mínimo: lo pequeño no se publica. En 2024 y 2025, casi el doble que en los años anteriores. Hay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marca tiene tres ofertas: Equipos, Eventos y Trabajo. Produce en dos semanas. Pero no tiene ventas que analizar: hay que decidir con datos públicos.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estudio: 66 municipios de cuatro distritos, 1,1 millones de habitantes y seis años de compras públicas. En terracota, el piloto: seis municipios alrededor de la base; el círculo marca 60 km. La pregunta: dónde, cuándo y a quién proponer primero las prendas, y con qué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¿Por qué 66? El radio de 60 km toca cuatro distritos, y los tomé completos porque el fútbol federado se organiza por distrito. ¿Por qué 6? Son la base y cinco vecinos, todos a 22 km o menos. Solo ahí bajé a las 78 freguesias: el mapa tenía 33 juntas, y completarlas solo tiene sentido donde puedo ir en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lo hice, en cuatro pasos: recoger cinco fuentes públicas; limpiar; comprobar cinco hipótesis, también con simulaciones; y decidir: una lista de 1.600 organizaciones.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limpieza, en números. Del Portal BASE leí 12.350 contratos y quedan 265: el 2 %. Del mapa, de 1.824 elementos quedan 1.596 organizaciones. Y cada paso termina con una comprobación.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dicen los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Dónde. Cuatro de los seis municipios del piloto están entre los 15 primeros del índice: Nelas, segundo; Arganil, quinto. Y a 60 km o menos están seis de cada diez organizaciones y casi la mitad del gasto.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Cuándo. Las compras no tienen un mes fijo; hay meses flojos, como enero. Las fiestas sí: festivos en junio y septiembre, fiestas de los pueblos en verano. Y las cámaras no compran para su fiesta. La fiesta es el motivo para llamar a clubes y asociaciones.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quién. Hay 1.600 organizaciones, pero fuera de los colegios casi nadie publica email. Y cuatro de mis cinco clientes no aparecen en los datos públicos. Los clubes hay que buscarlos.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la oferta Trabajo: cafés, restaurantes y hoteles. Es el mercado más grande en número, 3.000 negocios, casi el doble que las organizaciones. Pero solo el 4 % publica email; los cafés, el 1 %. Se vende a pie, empezando por los hoteles.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clubes. En los cuatro distritos hay 25.000 futbolistas federados, pero el mapa solo tiene 61 clubes: saldrían 400 jugadores por club, y un club de pueblo tiene muchos menos. El mapa ve una parte pequeña: de las 13 asociaciones del piloto, 9 están en Arganil.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los clubes, el mapa no sirve. ¿Cómo los encontramos? Por las juntas, que los conocen; en los pabellones, en pretemporada; en las listas de subvenciones de cada cámara, con su NIF; en las fiestas; y pidiendo a cada cliente otro club. Todo lo que encuentre el piloto entra en Airtable: así nacen los datos que faltan.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compran. De esos cinco millones, sobre todo merchandising y ropa de trabajo; las prendas de equipo pesan poco: 390 mil €. Y casi nueve de cada diez contratos son por invitación: hay que estar en la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compran. Para entregar dan mucho tiempo: 44 días de mediana. Pero para presentarse a un concurso, cada vez menos: de 30 días a 11. Hay que tener la propuesta lista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Proveedores. 21 de 32 cámaras y juntas repiten proveedor; al azar saldrían 6. Pero nadie domina: 150 proveedores. Hay sitio, si llegas antes de que el comprador tenga a quién llamar.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¿Y quién compite? Uno de cada cinco euros de cámaras y juntas va a gráficas y empresas de personalización. En la región hay 178 gráficas, 18 en el piloto, y 19 municipios no tienen ninguna. La ventaja de beira.: estar cerca y entregar a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hipótesis: tres de cinco. Un mes fijo no se confirma y no hay pocos proveedores dominantes. Sí: poco email, festivos concentrados y proveedores que se repiten.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respuesta: cerca de casa, antes de cada fiesta, a quien ya compra y con una prenda concreta para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lo aprovecha beira.: cada segmento con su canal, su mes y su prenda. Colegios por email, en primavera y Navidad; cámaras y juntas, todo el año y entre los invitados; clubes, en pretemporada y a través de la junta; y cafés, restaurantes y hoteles, a pie.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¿Y ahora qué?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límites: lo pequeño no se publica, los clubes casi no están, las muestras son pequeñas, los pesos son míos y abarqué mucho. Si empezara otra vez, hablaría antes con cinco clubes.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podremos hacer. Hoy, con datos públicos: la lista, el calendario y el índice. Con el piloto, datos propios: quién responde y cuándo. Y con un año de pedidos, un modelo que aprenda de quién compra de verdad, en vez de mis pesos.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concreto, el camino: en octubre, verificar contactos e importar la lista; en Navidad, jerséis personalizados; en 2027, el piloto con el calendario de fiestas; y medir cada campaña.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Gracias. ¿Preguntas?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partir de aquí, diapositivas de reserva para las preguntas: no se presentan.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a la demostración: cambio el piloto en config.yaml, ejecuto main.py, enseño el contacto número 1 y una consulta en MySQL Workbench.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cámaras municipales son los ayuntamientos y las juntas de freguesia, las parroquias. A mano alzada: ¿cuánto gastaron las cámaras y juntas de estos 66 municipios en ropa y merchandising en seis años? ¿Medio millón, dos millones o cinco?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 a mes: cada punto es lo que gastaron ese mes. El mes fuerte no es fijo: marzo, febrero, agosto y tres veces julio. Eso puede ser azar. Con las cámaras hay que estar todo el año.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lo que busca la gente en Google: equipaciones de fútbol de mayo a octubre, jerséis personalizados en Navidad y uniformes en septiembre. Cada prenda, antes de su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queda en la empresa: una lista de 1.600 organizaciones para Airtable y otra de 3.000 negocios para Trabajo, un calendario, un orden y una herramienta que se rehace en menos de 20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más falta es saber a quién. Si cruzo lo que aporta cada dato con lo que cuesta conseguirlo, hay dos para empezar ya: los datos del propio piloto y los pedidos de beira. Y uno que vale el esfuerzo: las listas de subvenciones que cada cámara publica todos los años, con el NIF de cada club y asociación que apoya.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gráficos originales del notebook 05. Cada diapositiva de resultados redibuja uno de estos con los mismos números, para que se lea de lejos.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con el detalle de las fuentes y de la limpieza, por si preguntan.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de gestión: Trello con cuatro columnas y una etiqueta por día. Cada fuente que falló tuvo su plan B el mismo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L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EME">
    <p:bg>
      <p:bgPr>
        <a:solidFill>
          <a:srgbClr val="EDE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RRA">
    <p:bg>
      <p:bgPr>
        <a:solidFill>
          <a:srgbClr val="964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E">
    <p:bg>
      <p:bgPr>
        <a:solidFill>
          <a:srgbClr val="404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MBAR">
    <p:bg>
      <p:bgPr>
        <a:solidFill>
          <a:srgbClr val="8F6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a60e9ee-cec4-5fc1-bdd0-d8a953451dda/scratchpad/deck/v12/assets/parch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pic>
        <p:nvPicPr>
          <p:cNvPr id="3" name="Image 1" descr="/tmp/claude-0/-home-claude/3a60e9ee-cec4-5fc1-bdd0-d8a953451dda/scratchpad/deck/v12/assets/beira_logotipo_neg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2" y="304792"/>
            <a:ext cx="1100777" cy="4000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07815" y="2865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de octubre de 2026</a:t>
            </a:r>
            <a:endParaRPr lang="en-US" sz="1000" dirty="0"/>
          </a:p>
        </p:txBody>
      </p:sp>
      <p:sp>
        <p:nvSpPr>
          <p:cNvPr id="5" name="portada-t0"/>
          <p:cNvSpPr txBox="1"/>
          <p:nvPr/>
        </p:nvSpPr>
        <p:spPr>
          <a:xfrm>
            <a:off x="277360" y="1783080"/>
            <a:ext cx="644622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0400" spc="-3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Dónde</a:t>
            </a:r>
            <a:endParaRPr lang="en-US" sz="10400" dirty="0"/>
          </a:p>
        </p:txBody>
      </p:sp>
      <p:sp>
        <p:nvSpPr>
          <p:cNvPr id="6" name="portada-t1"/>
          <p:cNvSpPr txBox="1"/>
          <p:nvPr/>
        </p:nvSpPr>
        <p:spPr>
          <a:xfrm>
            <a:off x="277360" y="2971800"/>
            <a:ext cx="644622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0400" spc="-3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empieza</a:t>
            </a:r>
            <a:endParaRPr lang="en-US" sz="10400" dirty="0"/>
          </a:p>
        </p:txBody>
      </p:sp>
      <p:sp>
        <p:nvSpPr>
          <p:cNvPr id="7" name="portada-t2"/>
          <p:cNvSpPr txBox="1"/>
          <p:nvPr/>
        </p:nvSpPr>
        <p:spPr>
          <a:xfrm>
            <a:off x="277360" y="4160520"/>
            <a:ext cx="644622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0400" spc="-3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venta.</a:t>
            </a:r>
            <a:endParaRPr lang="en-US" sz="10400" dirty="0"/>
          </a:p>
        </p:txBody>
      </p:sp>
      <p:sp>
        <p:nvSpPr>
          <p:cNvPr id="8" name="portada-gancho"/>
          <p:cNvSpPr txBox="1"/>
          <p:nvPr/>
        </p:nvSpPr>
        <p:spPr>
          <a:xfrm>
            <a:off x="304792" y="5413248"/>
            <a:ext cx="64462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pc="-13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66 municipios · 5 fuentes públicas · 1 pregunta</a:t>
            </a:r>
            <a:endParaRPr lang="en-US" sz="1300" dirty="0"/>
          </a:p>
        </p:txBody>
      </p:sp>
      <p:sp>
        <p:nvSpPr>
          <p:cNvPr id="9" name="portada-pie"/>
          <p:cNvSpPr txBox="1"/>
          <p:nvPr/>
        </p:nvSpPr>
        <p:spPr>
          <a:xfrm>
            <a:off x="304792" y="5870448"/>
            <a:ext cx="64462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Estudio de mercado de beira. con datos públicos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Proyecto 1 · Data Wrangling and Retrieval · Ironhack Data Analytics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João Miguel Pais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5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mercado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Introducción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850" dirty="0"/>
          </a:p>
        </p:txBody>
      </p:sp>
      <p:sp>
        <p:nvSpPr>
          <p:cNvPr id="5" name="resp-cifra"/>
          <p:cNvSpPr txBox="1"/>
          <p:nvPr/>
        </p:nvSpPr>
        <p:spPr>
          <a:xfrm>
            <a:off x="2608514" y="118872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200" b="1" spc="-528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 M€</a:t>
            </a:r>
            <a:endParaRPr lang="en-US" sz="13200" dirty="0"/>
          </a:p>
        </p:txBody>
      </p:sp>
      <p:sp>
        <p:nvSpPr>
          <p:cNvPr id="6" name="resp-sub"/>
          <p:cNvSpPr txBox="1"/>
          <p:nvPr/>
        </p:nvSpPr>
        <p:spPr>
          <a:xfrm>
            <a:off x="2654234" y="29718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-40" kern="0" dirty="0">
                <a:solidFill>
                  <a:srgbClr val="0D0D0D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Casi 5 millones de euros en ropa y merchandising: 265 contratos de cámaras y juntas, de 2020 a 2025.</a:t>
            </a:r>
            <a:endParaRPr lang="en-US" sz="2000" dirty="0"/>
          </a:p>
        </p:txBody>
      </p:sp>
      <p:sp>
        <p:nvSpPr>
          <p:cNvPr id="7" name="resp-min"/>
          <p:cNvSpPr txBox="1"/>
          <p:nvPr/>
        </p:nvSpPr>
        <p:spPr>
          <a:xfrm>
            <a:off x="2654234" y="4297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 es un mínimo: lo que cuesta menos de 5.000 € no se publica.</a:t>
            </a:r>
            <a:endParaRPr lang="en-US" sz="1350" dirty="0"/>
          </a:p>
        </p:txBody>
      </p:sp>
      <p:sp>
        <p:nvSpPr>
          <p:cNvPr id="8" name="resp-dato"/>
          <p:cNvSpPr txBox="1"/>
          <p:nvPr/>
        </p:nvSpPr>
        <p:spPr>
          <a:xfrm>
            <a:off x="2654234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359466" y="1417320"/>
            <a:ext cx="45274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Gasto de cámaras y juntas por año, en miles de €</a:t>
            </a:r>
            <a:endParaRPr lang="en-US" sz="1100" dirty="0"/>
          </a:p>
        </p:txBody>
      </p:sp>
      <p:sp>
        <p:nvSpPr>
          <p:cNvPr id="10" name="resp-g-0-b"/>
          <p:cNvSpPr/>
          <p:nvPr/>
        </p:nvSpPr>
        <p:spPr>
          <a:xfrm>
            <a:off x="7510381" y="3566160"/>
            <a:ext cx="452744" cy="192024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1" name="resp-g-0-v"/>
          <p:cNvSpPr txBox="1"/>
          <p:nvPr/>
        </p:nvSpPr>
        <p:spPr>
          <a:xfrm>
            <a:off x="7268026" y="3337560"/>
            <a:ext cx="9374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670</a:t>
            </a:r>
            <a:endParaRPr lang="en-US" sz="1200" dirty="0"/>
          </a:p>
        </p:txBody>
      </p:sp>
      <p:sp>
        <p:nvSpPr>
          <p:cNvPr id="12" name="resp-g-0-c"/>
          <p:cNvSpPr txBox="1"/>
          <p:nvPr/>
        </p:nvSpPr>
        <p:spPr>
          <a:xfrm>
            <a:off x="7268026" y="5541264"/>
            <a:ext cx="9374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2020</a:t>
            </a:r>
            <a:endParaRPr lang="en-US" sz="1100" dirty="0"/>
          </a:p>
        </p:txBody>
      </p:sp>
      <p:sp>
        <p:nvSpPr>
          <p:cNvPr id="13" name="resp-g-1-b"/>
          <p:cNvSpPr/>
          <p:nvPr/>
        </p:nvSpPr>
        <p:spPr>
          <a:xfrm>
            <a:off x="8264953" y="3934777"/>
            <a:ext cx="452744" cy="1551623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4" name="resp-g-1-v"/>
          <p:cNvSpPr txBox="1"/>
          <p:nvPr/>
        </p:nvSpPr>
        <p:spPr>
          <a:xfrm>
            <a:off x="8022599" y="3706177"/>
            <a:ext cx="9374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540</a:t>
            </a:r>
            <a:endParaRPr lang="en-US" sz="1200" dirty="0"/>
          </a:p>
        </p:txBody>
      </p:sp>
      <p:sp>
        <p:nvSpPr>
          <p:cNvPr id="15" name="resp-g-1-c"/>
          <p:cNvSpPr txBox="1"/>
          <p:nvPr/>
        </p:nvSpPr>
        <p:spPr>
          <a:xfrm>
            <a:off x="8022599" y="5541264"/>
            <a:ext cx="9374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2021</a:t>
            </a:r>
            <a:endParaRPr lang="en-US" sz="1100" dirty="0"/>
          </a:p>
        </p:txBody>
      </p:sp>
      <p:sp>
        <p:nvSpPr>
          <p:cNvPr id="16" name="resp-g-2-b"/>
          <p:cNvSpPr/>
          <p:nvPr/>
        </p:nvSpPr>
        <p:spPr>
          <a:xfrm>
            <a:off x="9019526" y="3640455"/>
            <a:ext cx="452744" cy="1845945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7" name="resp-g-2-v"/>
          <p:cNvSpPr txBox="1"/>
          <p:nvPr/>
        </p:nvSpPr>
        <p:spPr>
          <a:xfrm>
            <a:off x="8777172" y="3411855"/>
            <a:ext cx="9374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650</a:t>
            </a:r>
            <a:endParaRPr lang="en-US" sz="1200" dirty="0"/>
          </a:p>
        </p:txBody>
      </p:sp>
      <p:sp>
        <p:nvSpPr>
          <p:cNvPr id="18" name="resp-g-2-c"/>
          <p:cNvSpPr txBox="1"/>
          <p:nvPr/>
        </p:nvSpPr>
        <p:spPr>
          <a:xfrm>
            <a:off x="8777172" y="5541264"/>
            <a:ext cx="9374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2022</a:t>
            </a:r>
            <a:endParaRPr lang="en-US" sz="1100" dirty="0"/>
          </a:p>
        </p:txBody>
      </p:sp>
      <p:sp>
        <p:nvSpPr>
          <p:cNvPr id="19" name="resp-g-3-b"/>
          <p:cNvSpPr/>
          <p:nvPr/>
        </p:nvSpPr>
        <p:spPr>
          <a:xfrm>
            <a:off x="9774099" y="3477578"/>
            <a:ext cx="452744" cy="2008823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0" name="resp-g-3-v"/>
          <p:cNvSpPr txBox="1"/>
          <p:nvPr/>
        </p:nvSpPr>
        <p:spPr>
          <a:xfrm>
            <a:off x="9531744" y="3248978"/>
            <a:ext cx="9374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700</a:t>
            </a:r>
            <a:endParaRPr lang="en-US" sz="1200" dirty="0"/>
          </a:p>
        </p:txBody>
      </p:sp>
      <p:sp>
        <p:nvSpPr>
          <p:cNvPr id="21" name="resp-g-3-c"/>
          <p:cNvSpPr txBox="1"/>
          <p:nvPr/>
        </p:nvSpPr>
        <p:spPr>
          <a:xfrm>
            <a:off x="9531744" y="5541264"/>
            <a:ext cx="9374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2023</a:t>
            </a:r>
            <a:endParaRPr lang="en-US" sz="1100" dirty="0"/>
          </a:p>
        </p:txBody>
      </p:sp>
      <p:sp>
        <p:nvSpPr>
          <p:cNvPr id="22" name="resp-g-4-b"/>
          <p:cNvSpPr/>
          <p:nvPr/>
        </p:nvSpPr>
        <p:spPr>
          <a:xfrm>
            <a:off x="10528672" y="2194560"/>
            <a:ext cx="452744" cy="329184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3" name="resp-g-4-v"/>
          <p:cNvSpPr txBox="1"/>
          <p:nvPr/>
        </p:nvSpPr>
        <p:spPr>
          <a:xfrm>
            <a:off x="10286317" y="1965960"/>
            <a:ext cx="9374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1.150</a:t>
            </a:r>
            <a:endParaRPr lang="en-US" sz="1200" dirty="0"/>
          </a:p>
        </p:txBody>
      </p:sp>
      <p:sp>
        <p:nvSpPr>
          <p:cNvPr id="24" name="resp-g-4-c"/>
          <p:cNvSpPr txBox="1"/>
          <p:nvPr/>
        </p:nvSpPr>
        <p:spPr>
          <a:xfrm>
            <a:off x="10286317" y="5541264"/>
            <a:ext cx="9374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2024</a:t>
            </a:r>
            <a:endParaRPr lang="en-US" sz="1100" dirty="0"/>
          </a:p>
        </p:txBody>
      </p:sp>
      <p:sp>
        <p:nvSpPr>
          <p:cNvPr id="25" name="resp-g-5-b"/>
          <p:cNvSpPr/>
          <p:nvPr/>
        </p:nvSpPr>
        <p:spPr>
          <a:xfrm>
            <a:off x="11283245" y="2057400"/>
            <a:ext cx="452744" cy="342900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6" name="resp-g-5-v"/>
          <p:cNvSpPr txBox="1"/>
          <p:nvPr/>
        </p:nvSpPr>
        <p:spPr>
          <a:xfrm>
            <a:off x="11040890" y="1828800"/>
            <a:ext cx="9374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1.200</a:t>
            </a:r>
            <a:endParaRPr lang="en-US" sz="1200" dirty="0"/>
          </a:p>
        </p:txBody>
      </p:sp>
      <p:sp>
        <p:nvSpPr>
          <p:cNvPr id="27" name="resp-g-5-c"/>
          <p:cNvSpPr txBox="1"/>
          <p:nvPr/>
        </p:nvSpPr>
        <p:spPr>
          <a:xfrm>
            <a:off x="11040890" y="5541264"/>
            <a:ext cx="9374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1100" dirty="0"/>
          </a:p>
        </p:txBody>
      </p:sp>
      <p:sp>
        <p:nvSpPr>
          <p:cNvPr id="28" name="resp-g-base"/>
          <p:cNvSpPr/>
          <p:nvPr/>
        </p:nvSpPr>
        <p:spPr>
          <a:xfrm>
            <a:off x="7359466" y="5486400"/>
            <a:ext cx="4527437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59466" y="5897880"/>
            <a:ext cx="4527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Fuente: Portal BASE (IMPIC). En 2024 y 2025, casi el doble que la media de 2020 a 2023.</a:t>
            </a:r>
            <a:endParaRPr lang="en-US" sz="9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5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3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3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3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3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8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3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3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3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3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31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3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3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23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23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4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23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23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23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23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770"/>
                            </p:stCondLst>
                            <p:childTnLst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2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23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23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23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23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23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23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a60e9ee-cec4-5fc1-bdd0-d8a953451dda/scratchpad/deck/v12/assets/cartel_model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903417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59466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marca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Introducción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marca-tit"/>
          <p:cNvSpPr txBox="1"/>
          <p:nvPr/>
        </p:nvSpPr>
        <p:spPr>
          <a:xfrm>
            <a:off x="7359466" y="960120"/>
            <a:ext cx="4527437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12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marca que empieza casi no tiene datos.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359466" y="2377440"/>
            <a:ext cx="452743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beira. personaliza ropa desde Oliveira do Hospital, en la Serra da Estrela, y la produce en dos semanas.</a:t>
            </a:r>
            <a:endParaRPr lang="en-US" sz="1350" dirty="0"/>
          </a:p>
        </p:txBody>
      </p:sp>
      <p:sp>
        <p:nvSpPr>
          <p:cNvPr id="8" name="marca-o0-l"/>
          <p:cNvSpPr/>
          <p:nvPr/>
        </p:nvSpPr>
        <p:spPr>
          <a:xfrm>
            <a:off x="7359466" y="3246120"/>
            <a:ext cx="4527437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9" name="marca-o0-t"/>
          <p:cNvSpPr txBox="1"/>
          <p:nvPr/>
        </p:nvSpPr>
        <p:spPr>
          <a:xfrm>
            <a:off x="7359466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Equipos</a:t>
            </a:r>
            <a:endParaRPr lang="en-US" sz="1400" dirty="0"/>
          </a:p>
        </p:txBody>
      </p:sp>
      <p:sp>
        <p:nvSpPr>
          <p:cNvPr id="10" name="marca-o0-d"/>
          <p:cNvSpPr txBox="1"/>
          <p:nvPr/>
        </p:nvSpPr>
        <p:spPr>
          <a:xfrm>
            <a:off x="8593906" y="3392424"/>
            <a:ext cx="32929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Clubes y grupos</a:t>
            </a:r>
            <a:endParaRPr lang="en-US" sz="1250" dirty="0"/>
          </a:p>
        </p:txBody>
      </p:sp>
      <p:sp>
        <p:nvSpPr>
          <p:cNvPr id="11" name="marca-o1-l"/>
          <p:cNvSpPr/>
          <p:nvPr/>
        </p:nvSpPr>
        <p:spPr>
          <a:xfrm>
            <a:off x="7359466" y="3813048"/>
            <a:ext cx="4527437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2" name="marca-o1-t"/>
          <p:cNvSpPr txBox="1"/>
          <p:nvPr/>
        </p:nvSpPr>
        <p:spPr>
          <a:xfrm>
            <a:off x="7359466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Eventos</a:t>
            </a:r>
            <a:endParaRPr lang="en-US" sz="1400" dirty="0"/>
          </a:p>
        </p:txBody>
      </p:sp>
      <p:sp>
        <p:nvSpPr>
          <p:cNvPr id="13" name="marca-o1-d"/>
          <p:cNvSpPr txBox="1"/>
          <p:nvPr/>
        </p:nvSpPr>
        <p:spPr>
          <a:xfrm>
            <a:off x="8593906" y="3959352"/>
            <a:ext cx="32929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Fiestas y actividades</a:t>
            </a:r>
            <a:endParaRPr lang="en-US" sz="1250" dirty="0"/>
          </a:p>
        </p:txBody>
      </p:sp>
      <p:sp>
        <p:nvSpPr>
          <p:cNvPr id="14" name="marca-o2-l"/>
          <p:cNvSpPr/>
          <p:nvPr/>
        </p:nvSpPr>
        <p:spPr>
          <a:xfrm>
            <a:off x="7359466" y="4379976"/>
            <a:ext cx="4527437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5" name="marca-o2-t"/>
          <p:cNvSpPr txBox="1"/>
          <p:nvPr/>
        </p:nvSpPr>
        <p:spPr>
          <a:xfrm>
            <a:off x="7359466" y="45171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Trabajo</a:t>
            </a:r>
            <a:endParaRPr lang="en-US" sz="1400" dirty="0"/>
          </a:p>
        </p:txBody>
      </p:sp>
      <p:sp>
        <p:nvSpPr>
          <p:cNvPr id="16" name="marca-o2-d"/>
          <p:cNvSpPr txBox="1"/>
          <p:nvPr/>
        </p:nvSpPr>
        <p:spPr>
          <a:xfrm>
            <a:off x="8593906" y="4526280"/>
            <a:ext cx="32929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Ropa de trabajo para empresas y entidades</a:t>
            </a:r>
            <a:endParaRPr lang="en-US" sz="1250" dirty="0"/>
          </a:p>
        </p:txBody>
      </p:sp>
      <p:sp>
        <p:nvSpPr>
          <p:cNvPr id="17" name="marca-frase"/>
          <p:cNvSpPr txBox="1"/>
          <p:nvPr/>
        </p:nvSpPr>
        <p:spPr>
          <a:xfrm>
            <a:off x="7359466" y="5166360"/>
            <a:ext cx="452743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-36" kern="0" dirty="0">
                <a:solidFill>
                  <a:srgbClr val="0D0D0D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 cinco clientes no hay historial que analizar: la primera decisión se toma con datos públicos.</a:t>
            </a:r>
            <a:endParaRPr lang="en-US" sz="18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estudio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Introducción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850" dirty="0"/>
          </a:p>
        </p:txBody>
      </p:sp>
      <p:sp>
        <p:nvSpPr>
          <p:cNvPr id="5" name="mapa-anillo"/>
          <p:cNvSpPr/>
          <p:nvPr/>
        </p:nvSpPr>
        <p:spPr>
          <a:xfrm>
            <a:off x="1371560" y="1940575"/>
            <a:ext cx="3524596" cy="3524596"/>
          </a:xfrm>
          <a:prstGeom prst="ellipse">
            <a:avLst/>
          </a:prstGeom>
          <a:solidFill>
            <a:srgbClr val="F2F2F2">
              <a:alpha val="0"/>
            </a:srgbClr>
          </a:solidFill>
          <a:ln w="15875">
            <a:solidFill>
              <a:srgbClr val="96422C"/>
            </a:solidFill>
            <a:prstDash val="solid"/>
          </a:ln>
        </p:spPr>
      </p:sp>
      <p:sp>
        <p:nvSpPr>
          <p:cNvPr id="6" name="mapa-anillo-t"/>
          <p:cNvSpPr txBox="1"/>
          <p:nvPr/>
        </p:nvSpPr>
        <p:spPr>
          <a:xfrm>
            <a:off x="3225298" y="1684543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spc="-1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 km</a:t>
            </a:r>
            <a:endParaRPr lang="en-US" sz="1000" dirty="0"/>
          </a:p>
        </p:txBody>
      </p:sp>
      <p:sp>
        <p:nvSpPr>
          <p:cNvPr id="7" name="mapa-p-0"/>
          <p:cNvSpPr/>
          <p:nvPr/>
        </p:nvSpPr>
        <p:spPr>
          <a:xfrm>
            <a:off x="1184731" y="3632192"/>
            <a:ext cx="224760" cy="22476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8" name="mapa-p-1"/>
          <p:cNvSpPr/>
          <p:nvPr/>
        </p:nvSpPr>
        <p:spPr>
          <a:xfrm>
            <a:off x="1557182" y="4030101"/>
            <a:ext cx="329184" cy="329184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9" name="mapa-p-2"/>
          <p:cNvSpPr/>
          <p:nvPr/>
        </p:nvSpPr>
        <p:spPr>
          <a:xfrm>
            <a:off x="1462853" y="4407447"/>
            <a:ext cx="166857" cy="166857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0" name="mapa-p-3"/>
          <p:cNvSpPr/>
          <p:nvPr/>
        </p:nvSpPr>
        <p:spPr>
          <a:xfrm>
            <a:off x="565254" y="4254780"/>
            <a:ext cx="241092" cy="241092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1" name="mapa-p-4"/>
          <p:cNvSpPr/>
          <p:nvPr/>
        </p:nvSpPr>
        <p:spPr>
          <a:xfrm>
            <a:off x="2438838" y="4289798"/>
            <a:ext cx="153973" cy="15397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2" name="mapa-p-5"/>
          <p:cNvSpPr/>
          <p:nvPr/>
        </p:nvSpPr>
        <p:spPr>
          <a:xfrm>
            <a:off x="2103175" y="4391887"/>
            <a:ext cx="164462" cy="164462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3" name="mapa-p-6"/>
          <p:cNvSpPr/>
          <p:nvPr/>
        </p:nvSpPr>
        <p:spPr>
          <a:xfrm>
            <a:off x="869523" y="3380860"/>
            <a:ext cx="171432" cy="171432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4" name="mapa-p-7"/>
          <p:cNvSpPr/>
          <p:nvPr/>
        </p:nvSpPr>
        <p:spPr>
          <a:xfrm>
            <a:off x="1874788" y="4489872"/>
            <a:ext cx="161986" cy="161986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5" name="mapa-p-8"/>
          <p:cNvSpPr/>
          <p:nvPr/>
        </p:nvSpPr>
        <p:spPr>
          <a:xfrm>
            <a:off x="1050206" y="4117843"/>
            <a:ext cx="179875" cy="179875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6" name="mapa-p-9"/>
          <p:cNvSpPr/>
          <p:nvPr/>
        </p:nvSpPr>
        <p:spPr>
          <a:xfrm>
            <a:off x="2903306" y="4482646"/>
            <a:ext cx="159420" cy="15942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7" name="mapa-p-10"/>
          <p:cNvSpPr/>
          <p:nvPr/>
        </p:nvSpPr>
        <p:spPr>
          <a:xfrm>
            <a:off x="2000257" y="3909652"/>
            <a:ext cx="161986" cy="161986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8" name="mapa-p-11"/>
          <p:cNvSpPr/>
          <p:nvPr/>
        </p:nvSpPr>
        <p:spPr>
          <a:xfrm>
            <a:off x="1745159" y="4705948"/>
            <a:ext cx="153973" cy="15397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9" name="mapa-p-12"/>
          <p:cNvSpPr/>
          <p:nvPr/>
        </p:nvSpPr>
        <p:spPr>
          <a:xfrm>
            <a:off x="1115401" y="4460545"/>
            <a:ext cx="187579" cy="187579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0" name="mapa-p-13"/>
          <p:cNvSpPr/>
          <p:nvPr/>
        </p:nvSpPr>
        <p:spPr>
          <a:xfrm>
            <a:off x="2071205" y="4080657"/>
            <a:ext cx="171432" cy="171432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1" name="mapa-p-14"/>
          <p:cNvSpPr/>
          <p:nvPr/>
        </p:nvSpPr>
        <p:spPr>
          <a:xfrm>
            <a:off x="3477287" y="1190737"/>
            <a:ext cx="173624" cy="173624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2" name="mapa-p-15"/>
          <p:cNvSpPr/>
          <p:nvPr/>
        </p:nvSpPr>
        <p:spPr>
          <a:xfrm>
            <a:off x="2872264" y="1848420"/>
            <a:ext cx="183807" cy="183807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3" name="mapa-p-16"/>
          <p:cNvSpPr/>
          <p:nvPr/>
        </p:nvSpPr>
        <p:spPr>
          <a:xfrm>
            <a:off x="2301402" y="1306924"/>
            <a:ext cx="212167" cy="212167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4" name="mapa-p-17"/>
          <p:cNvSpPr/>
          <p:nvPr/>
        </p:nvSpPr>
        <p:spPr>
          <a:xfrm>
            <a:off x="3157462" y="1218439"/>
            <a:ext cx="202984" cy="202984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5" name="mapa-p-18"/>
          <p:cNvSpPr/>
          <p:nvPr/>
        </p:nvSpPr>
        <p:spPr>
          <a:xfrm>
            <a:off x="3326799" y="2842467"/>
            <a:ext cx="159420" cy="15942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6" name="mapa-p-19"/>
          <p:cNvSpPr/>
          <p:nvPr/>
        </p:nvSpPr>
        <p:spPr>
          <a:xfrm>
            <a:off x="3662124" y="1597256"/>
            <a:ext cx="169178" cy="169178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7" name="mapa-p-20"/>
          <p:cNvSpPr/>
          <p:nvPr/>
        </p:nvSpPr>
        <p:spPr>
          <a:xfrm>
            <a:off x="2121517" y="3496729"/>
            <a:ext cx="153973" cy="15397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8" name="mapa-p-21"/>
          <p:cNvSpPr/>
          <p:nvPr/>
        </p:nvSpPr>
        <p:spPr>
          <a:xfrm>
            <a:off x="2280487" y="2415232"/>
            <a:ext cx="151063" cy="15106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9" name="mapa-p-22"/>
          <p:cNvSpPr/>
          <p:nvPr/>
        </p:nvSpPr>
        <p:spPr>
          <a:xfrm>
            <a:off x="3474073" y="2595277"/>
            <a:ext cx="137623" cy="13762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0" name="mapa-p-23"/>
          <p:cNvSpPr/>
          <p:nvPr/>
        </p:nvSpPr>
        <p:spPr>
          <a:xfrm>
            <a:off x="4225623" y="1583983"/>
            <a:ext cx="129149" cy="129149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1" name="mapa-p-24"/>
          <p:cNvSpPr/>
          <p:nvPr/>
        </p:nvSpPr>
        <p:spPr>
          <a:xfrm>
            <a:off x="2804306" y="1196630"/>
            <a:ext cx="169178" cy="169178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2" name="mapa-p-25"/>
          <p:cNvSpPr/>
          <p:nvPr/>
        </p:nvSpPr>
        <p:spPr>
          <a:xfrm>
            <a:off x="2390953" y="3503708"/>
            <a:ext cx="148003" cy="14800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3" name="mapa-p-26"/>
          <p:cNvSpPr/>
          <p:nvPr/>
        </p:nvSpPr>
        <p:spPr>
          <a:xfrm>
            <a:off x="4155514" y="1070616"/>
            <a:ext cx="144768" cy="144768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4" name="mapa-p-27"/>
          <p:cNvSpPr/>
          <p:nvPr/>
        </p:nvSpPr>
        <p:spPr>
          <a:xfrm>
            <a:off x="2530511" y="2265215"/>
            <a:ext cx="177841" cy="177841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5" name="mapa-p-28"/>
          <p:cNvSpPr/>
          <p:nvPr/>
        </p:nvSpPr>
        <p:spPr>
          <a:xfrm>
            <a:off x="3381310" y="2378173"/>
            <a:ext cx="144768" cy="144768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6" name="mapa-p-29"/>
          <p:cNvSpPr/>
          <p:nvPr/>
        </p:nvSpPr>
        <p:spPr>
          <a:xfrm>
            <a:off x="3974747" y="1869345"/>
            <a:ext cx="153973" cy="15397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7" name="mapa-p-30"/>
          <p:cNvSpPr/>
          <p:nvPr/>
        </p:nvSpPr>
        <p:spPr>
          <a:xfrm>
            <a:off x="3790941" y="1177559"/>
            <a:ext cx="133600" cy="13360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8" name="mapa-p-31"/>
          <p:cNvSpPr/>
          <p:nvPr/>
        </p:nvSpPr>
        <p:spPr>
          <a:xfrm>
            <a:off x="3276711" y="1484786"/>
            <a:ext cx="141324" cy="141324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9" name="mapa-p-32"/>
          <p:cNvSpPr/>
          <p:nvPr/>
        </p:nvSpPr>
        <p:spPr>
          <a:xfrm>
            <a:off x="2474034" y="3055057"/>
            <a:ext cx="224760" cy="22476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0" name="mapa-p-33"/>
          <p:cNvSpPr/>
          <p:nvPr/>
        </p:nvSpPr>
        <p:spPr>
          <a:xfrm>
            <a:off x="3368506" y="2015330"/>
            <a:ext cx="159420" cy="15942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1" name="mapa-p-34"/>
          <p:cNvSpPr/>
          <p:nvPr/>
        </p:nvSpPr>
        <p:spPr>
          <a:xfrm>
            <a:off x="2847188" y="2580039"/>
            <a:ext cx="299693" cy="29969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2" name="mapa-p-35"/>
          <p:cNvSpPr/>
          <p:nvPr/>
        </p:nvSpPr>
        <p:spPr>
          <a:xfrm>
            <a:off x="2418131" y="2474100"/>
            <a:ext cx="173624" cy="173624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3" name="mapa-p-36"/>
          <p:cNvSpPr/>
          <p:nvPr/>
        </p:nvSpPr>
        <p:spPr>
          <a:xfrm>
            <a:off x="3857834" y="2148678"/>
            <a:ext cx="159420" cy="15942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4" name="mapa-p-37"/>
          <p:cNvSpPr/>
          <p:nvPr/>
        </p:nvSpPr>
        <p:spPr>
          <a:xfrm>
            <a:off x="5444638" y="2809081"/>
            <a:ext cx="159420" cy="15942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5" name="mapa-p-38"/>
          <p:cNvSpPr/>
          <p:nvPr/>
        </p:nvSpPr>
        <p:spPr>
          <a:xfrm>
            <a:off x="4229047" y="2731134"/>
            <a:ext cx="153973" cy="15397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6" name="mapa-p-39"/>
          <p:cNvSpPr/>
          <p:nvPr/>
        </p:nvSpPr>
        <p:spPr>
          <a:xfrm>
            <a:off x="5294394" y="1883574"/>
            <a:ext cx="159420" cy="15942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7" name="mapa-p-40"/>
          <p:cNvSpPr/>
          <p:nvPr/>
        </p:nvSpPr>
        <p:spPr>
          <a:xfrm>
            <a:off x="3886158" y="2720391"/>
            <a:ext cx="156753" cy="15675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8" name="mapa-p-41"/>
          <p:cNvSpPr/>
          <p:nvPr/>
        </p:nvSpPr>
        <p:spPr>
          <a:xfrm>
            <a:off x="3707559" y="3123785"/>
            <a:ext cx="189410" cy="18941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9" name="mapa-p-42"/>
          <p:cNvSpPr/>
          <p:nvPr/>
        </p:nvSpPr>
        <p:spPr>
          <a:xfrm>
            <a:off x="4498153" y="3016004"/>
            <a:ext cx="222067" cy="222067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0" name="mapa-p-43"/>
          <p:cNvSpPr/>
          <p:nvPr/>
        </p:nvSpPr>
        <p:spPr>
          <a:xfrm>
            <a:off x="3860494" y="3487889"/>
            <a:ext cx="151063" cy="15106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1" name="mapa-p-44"/>
          <p:cNvSpPr/>
          <p:nvPr/>
        </p:nvSpPr>
        <p:spPr>
          <a:xfrm>
            <a:off x="4557698" y="1654864"/>
            <a:ext cx="141324" cy="141324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2" name="mapa-p-45"/>
          <p:cNvSpPr/>
          <p:nvPr/>
        </p:nvSpPr>
        <p:spPr>
          <a:xfrm>
            <a:off x="5023436" y="2277543"/>
            <a:ext cx="159420" cy="15942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3" name="mapa-p-46"/>
          <p:cNvSpPr/>
          <p:nvPr/>
        </p:nvSpPr>
        <p:spPr>
          <a:xfrm>
            <a:off x="5075477" y="3620377"/>
            <a:ext cx="185712" cy="185712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4" name="mapa-p-47"/>
          <p:cNvSpPr/>
          <p:nvPr/>
        </p:nvSpPr>
        <p:spPr>
          <a:xfrm>
            <a:off x="4324216" y="2280190"/>
            <a:ext cx="161986" cy="161986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5" name="mapa-p-48"/>
          <p:cNvSpPr/>
          <p:nvPr/>
        </p:nvSpPr>
        <p:spPr>
          <a:xfrm>
            <a:off x="4846961" y="1281532"/>
            <a:ext cx="156753" cy="15675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6" name="mapa-p-49"/>
          <p:cNvSpPr/>
          <p:nvPr/>
        </p:nvSpPr>
        <p:spPr>
          <a:xfrm>
            <a:off x="4337542" y="3628378"/>
            <a:ext cx="137623" cy="13762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7" name="mapa-p-50"/>
          <p:cNvSpPr/>
          <p:nvPr/>
        </p:nvSpPr>
        <p:spPr>
          <a:xfrm>
            <a:off x="3911270" y="5325939"/>
            <a:ext cx="238697" cy="238697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8" name="mapa-p-51"/>
          <p:cNvSpPr/>
          <p:nvPr/>
        </p:nvSpPr>
        <p:spPr>
          <a:xfrm>
            <a:off x="3873770" y="3922461"/>
            <a:ext cx="246917" cy="246917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9" name="mapa-p-52"/>
          <p:cNvSpPr/>
          <p:nvPr/>
        </p:nvSpPr>
        <p:spPr>
          <a:xfrm>
            <a:off x="3919480" y="4316834"/>
            <a:ext cx="228702" cy="228702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0" name="mapa-p-53"/>
          <p:cNvSpPr/>
          <p:nvPr/>
        </p:nvSpPr>
        <p:spPr>
          <a:xfrm>
            <a:off x="4917624" y="4844512"/>
            <a:ext cx="161986" cy="161986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1" name="mapa-p-54"/>
          <p:cNvSpPr/>
          <p:nvPr/>
        </p:nvSpPr>
        <p:spPr>
          <a:xfrm>
            <a:off x="2930236" y="5045136"/>
            <a:ext cx="156753" cy="15675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2" name="mapa-p-55"/>
          <p:cNvSpPr/>
          <p:nvPr/>
        </p:nvSpPr>
        <p:spPr>
          <a:xfrm>
            <a:off x="4770188" y="4249200"/>
            <a:ext cx="148003" cy="14800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3" name="mapa-p-56"/>
          <p:cNvSpPr/>
          <p:nvPr/>
        </p:nvSpPr>
        <p:spPr>
          <a:xfrm>
            <a:off x="2914578" y="5608258"/>
            <a:ext cx="137623" cy="13762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4" name="mapa-p-57"/>
          <p:cNvSpPr/>
          <p:nvPr/>
        </p:nvSpPr>
        <p:spPr>
          <a:xfrm>
            <a:off x="2455420" y="5408007"/>
            <a:ext cx="181862" cy="181862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5" name="mapa-p-58"/>
          <p:cNvSpPr/>
          <p:nvPr/>
        </p:nvSpPr>
        <p:spPr>
          <a:xfrm>
            <a:off x="2361905" y="5844425"/>
            <a:ext cx="137623" cy="13762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6" name="mapa-p-59"/>
          <p:cNvSpPr/>
          <p:nvPr/>
        </p:nvSpPr>
        <p:spPr>
          <a:xfrm>
            <a:off x="3530611" y="5911919"/>
            <a:ext cx="124097" cy="124097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7" name="mapa-pp-0"/>
          <p:cNvSpPr/>
          <p:nvPr/>
        </p:nvSpPr>
        <p:spPr>
          <a:xfrm>
            <a:off x="2600461" y="4031361"/>
            <a:ext cx="215076" cy="215076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68" name="mapa-pp-1"/>
          <p:cNvSpPr/>
          <p:nvPr/>
        </p:nvSpPr>
        <p:spPr>
          <a:xfrm>
            <a:off x="3040736" y="3601394"/>
            <a:ext cx="194709" cy="194709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69" name="mapa-pp-2"/>
          <p:cNvSpPr/>
          <p:nvPr/>
        </p:nvSpPr>
        <p:spPr>
          <a:xfrm>
            <a:off x="2636526" y="3617352"/>
            <a:ext cx="171432" cy="171432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70" name="mapa-pp-3"/>
          <p:cNvSpPr/>
          <p:nvPr/>
        </p:nvSpPr>
        <p:spPr>
          <a:xfrm>
            <a:off x="2722198" y="3374346"/>
            <a:ext cx="161986" cy="161986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71" name="mapa-pp-4"/>
          <p:cNvSpPr/>
          <p:nvPr/>
        </p:nvSpPr>
        <p:spPr>
          <a:xfrm>
            <a:off x="2949975" y="3058874"/>
            <a:ext cx="183807" cy="183807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72" name="mapa-pp-5"/>
          <p:cNvSpPr/>
          <p:nvPr/>
        </p:nvSpPr>
        <p:spPr>
          <a:xfrm>
            <a:off x="3414777" y="3441086"/>
            <a:ext cx="183807" cy="183807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73" name="mapa-et-0"/>
          <p:cNvSpPr txBox="1"/>
          <p:nvPr/>
        </p:nvSpPr>
        <p:spPr>
          <a:xfrm>
            <a:off x="2861258" y="4047459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Arganil</a:t>
            </a:r>
            <a:endParaRPr lang="en-US" sz="1000" dirty="0"/>
          </a:p>
        </p:txBody>
      </p:sp>
      <p:sp>
        <p:nvSpPr>
          <p:cNvPr id="74" name="mapa-et-1"/>
          <p:cNvSpPr txBox="1"/>
          <p:nvPr/>
        </p:nvSpPr>
        <p:spPr>
          <a:xfrm>
            <a:off x="853094" y="3819789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Coimbra</a:t>
            </a:r>
            <a:endParaRPr lang="en-US" sz="950" dirty="0"/>
          </a:p>
        </p:txBody>
      </p:sp>
      <p:sp>
        <p:nvSpPr>
          <p:cNvPr id="75" name="mapa-et-2"/>
          <p:cNvSpPr txBox="1"/>
          <p:nvPr/>
        </p:nvSpPr>
        <p:spPr>
          <a:xfrm>
            <a:off x="2269411" y="3823535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Oliveira do Hospital · base</a:t>
            </a:r>
            <a:endParaRPr lang="en-US" sz="1000" dirty="0"/>
          </a:p>
        </p:txBody>
      </p:sp>
      <p:sp>
        <p:nvSpPr>
          <p:cNvPr id="76" name="mapa-et-3"/>
          <p:cNvSpPr txBox="1"/>
          <p:nvPr/>
        </p:nvSpPr>
        <p:spPr>
          <a:xfrm>
            <a:off x="853446" y="36116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Tábua</a:t>
            </a:r>
            <a:endParaRPr lang="en-US" sz="1000" dirty="0"/>
          </a:p>
        </p:txBody>
      </p:sp>
      <p:sp>
        <p:nvSpPr>
          <p:cNvPr id="77" name="mapa-et-4"/>
          <p:cNvSpPr txBox="1"/>
          <p:nvPr/>
        </p:nvSpPr>
        <p:spPr>
          <a:xfrm>
            <a:off x="939118" y="3363899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Carregal do Sal</a:t>
            </a:r>
            <a:endParaRPr lang="en-US" sz="1000" dirty="0"/>
          </a:p>
        </p:txBody>
      </p:sp>
      <p:sp>
        <p:nvSpPr>
          <p:cNvPr id="78" name="mapa-et-5"/>
          <p:cNvSpPr txBox="1"/>
          <p:nvPr/>
        </p:nvSpPr>
        <p:spPr>
          <a:xfrm>
            <a:off x="3179502" y="3059337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Nelas</a:t>
            </a:r>
            <a:endParaRPr lang="en-US" sz="1000" dirty="0"/>
          </a:p>
        </p:txBody>
      </p:sp>
      <p:sp>
        <p:nvSpPr>
          <p:cNvPr id="79" name="mapa-et-6"/>
          <p:cNvSpPr txBox="1"/>
          <p:nvPr/>
        </p:nvSpPr>
        <p:spPr>
          <a:xfrm>
            <a:off x="1064108" y="2638445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Viseu</a:t>
            </a:r>
            <a:endParaRPr lang="en-US" sz="950" dirty="0"/>
          </a:p>
        </p:txBody>
      </p:sp>
      <p:sp>
        <p:nvSpPr>
          <p:cNvPr id="80" name="mapa-et-7"/>
          <p:cNvSpPr txBox="1"/>
          <p:nvPr/>
        </p:nvSpPr>
        <p:spPr>
          <a:xfrm>
            <a:off x="4765940" y="3035597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Guarda</a:t>
            </a:r>
            <a:endParaRPr lang="en-US" sz="950" dirty="0"/>
          </a:p>
        </p:txBody>
      </p:sp>
      <p:sp>
        <p:nvSpPr>
          <p:cNvPr id="81" name="mapa-et-8"/>
          <p:cNvSpPr txBox="1"/>
          <p:nvPr/>
        </p:nvSpPr>
        <p:spPr>
          <a:xfrm>
            <a:off x="2638000" y="323077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Seia</a:t>
            </a:r>
            <a:endParaRPr lang="en-US" sz="1000" dirty="0"/>
          </a:p>
        </p:txBody>
      </p:sp>
      <p:sp>
        <p:nvSpPr>
          <p:cNvPr id="82" name="mapa-et-9"/>
          <p:cNvSpPr txBox="1"/>
          <p:nvPr/>
        </p:nvSpPr>
        <p:spPr>
          <a:xfrm>
            <a:off x="4195687" y="5353847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Castelo Branco</a:t>
            </a:r>
            <a:endParaRPr lang="en-US" sz="950" dirty="0"/>
          </a:p>
        </p:txBody>
      </p:sp>
      <p:sp>
        <p:nvSpPr>
          <p:cNvPr id="83" name="Text 81"/>
          <p:cNvSpPr txBox="1"/>
          <p:nvPr/>
        </p:nvSpPr>
        <p:spPr>
          <a:xfrm>
            <a:off x="304792" y="635508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punto es un municipio; el tamaño, sus organizaciones. En terracota, el piloto.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7040880" y="6355080"/>
            <a:ext cx="48523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Fuentes: OpenStreetMap, INE, Portal BASE, Wikipedia y Google Trends.</a:t>
            </a:r>
            <a:endParaRPr lang="en-US" sz="900" dirty="0"/>
          </a:p>
        </p:txBody>
      </p:sp>
      <p:sp>
        <p:nvSpPr>
          <p:cNvPr id="85" name="est-preg"/>
          <p:cNvSpPr txBox="1"/>
          <p:nvPr/>
        </p:nvSpPr>
        <p:spPr>
          <a:xfrm>
            <a:off x="7040880" y="914400"/>
            <a:ext cx="485237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spc="-42" kern="0" dirty="0">
                <a:solidFill>
                  <a:srgbClr val="0D0D0D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¿Dónde, cuándo y a quién proponer primero las prendas, y con qué idea?</a:t>
            </a:r>
            <a:endParaRPr lang="en-US" sz="2100" dirty="0"/>
          </a:p>
        </p:txBody>
      </p:sp>
      <p:sp>
        <p:nvSpPr>
          <p:cNvPr id="86" name="est-0-l"/>
          <p:cNvSpPr/>
          <p:nvPr/>
        </p:nvSpPr>
        <p:spPr>
          <a:xfrm>
            <a:off x="7040880" y="2194560"/>
            <a:ext cx="485237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87" name="est-0-n"/>
          <p:cNvSpPr txBox="1"/>
          <p:nvPr/>
        </p:nvSpPr>
        <p:spPr>
          <a:xfrm>
            <a:off x="7040880" y="232257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128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66</a:t>
            </a:r>
            <a:endParaRPr lang="en-US" sz="3200" dirty="0"/>
          </a:p>
        </p:txBody>
      </p:sp>
      <p:sp>
        <p:nvSpPr>
          <p:cNvPr id="88" name="est-0-t"/>
          <p:cNvSpPr txBox="1"/>
          <p:nvPr/>
        </p:nvSpPr>
        <p:spPr>
          <a:xfrm>
            <a:off x="8869680" y="2340864"/>
            <a:ext cx="302357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municipios de Coimbra, Viseu, Guarda y Castelo Branco</a:t>
            </a:r>
            <a:endParaRPr lang="en-US" sz="1250" dirty="0"/>
          </a:p>
        </p:txBody>
      </p:sp>
      <p:sp>
        <p:nvSpPr>
          <p:cNvPr id="89" name="est-0-e"/>
          <p:cNvSpPr txBox="1"/>
          <p:nvPr/>
        </p:nvSpPr>
        <p:spPr>
          <a:xfrm>
            <a:off x="8869680" y="28712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90" name="est-1-l"/>
          <p:cNvSpPr/>
          <p:nvPr/>
        </p:nvSpPr>
        <p:spPr>
          <a:xfrm>
            <a:off x="7040880" y="3218688"/>
            <a:ext cx="485237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91" name="est-1-n"/>
          <p:cNvSpPr txBox="1"/>
          <p:nvPr/>
        </p:nvSpPr>
        <p:spPr>
          <a:xfrm>
            <a:off x="7040880" y="33467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128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1,1 M</a:t>
            </a:r>
            <a:endParaRPr lang="en-US" sz="3200" dirty="0"/>
          </a:p>
        </p:txBody>
      </p:sp>
      <p:sp>
        <p:nvSpPr>
          <p:cNvPr id="92" name="est-1-t"/>
          <p:cNvSpPr txBox="1"/>
          <p:nvPr/>
        </p:nvSpPr>
        <p:spPr>
          <a:xfrm>
            <a:off x="8869680" y="3364992"/>
            <a:ext cx="302357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habitantes en la región</a:t>
            </a:r>
            <a:endParaRPr lang="en-US" sz="1250" dirty="0"/>
          </a:p>
        </p:txBody>
      </p:sp>
      <p:sp>
        <p:nvSpPr>
          <p:cNvPr id="93" name="est-1-e"/>
          <p:cNvSpPr txBox="1"/>
          <p:nvPr/>
        </p:nvSpPr>
        <p:spPr>
          <a:xfrm>
            <a:off x="8869680" y="3895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94" name="est-2-l"/>
          <p:cNvSpPr/>
          <p:nvPr/>
        </p:nvSpPr>
        <p:spPr>
          <a:xfrm>
            <a:off x="7040880" y="4242816"/>
            <a:ext cx="485237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95" name="est-2-n"/>
          <p:cNvSpPr txBox="1"/>
          <p:nvPr/>
        </p:nvSpPr>
        <p:spPr>
          <a:xfrm>
            <a:off x="7040880" y="43708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128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3200" dirty="0"/>
          </a:p>
        </p:txBody>
      </p:sp>
      <p:sp>
        <p:nvSpPr>
          <p:cNvPr id="96" name="est-2-t"/>
          <p:cNvSpPr txBox="1"/>
          <p:nvPr/>
        </p:nvSpPr>
        <p:spPr>
          <a:xfrm>
            <a:off x="8869680" y="4389120"/>
            <a:ext cx="302357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municipios en el piloto, con 87.000 habitantes</a:t>
            </a:r>
            <a:endParaRPr lang="en-US" sz="1250" dirty="0"/>
          </a:p>
        </p:txBody>
      </p:sp>
      <p:sp>
        <p:nvSpPr>
          <p:cNvPr id="97" name="est-2-e"/>
          <p:cNvSpPr txBox="1"/>
          <p:nvPr/>
        </p:nvSpPr>
        <p:spPr>
          <a:xfrm>
            <a:off x="88696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98" name="est-3-l"/>
          <p:cNvSpPr/>
          <p:nvPr/>
        </p:nvSpPr>
        <p:spPr>
          <a:xfrm>
            <a:off x="7040880" y="5266944"/>
            <a:ext cx="485237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99" name="est-3-n"/>
          <p:cNvSpPr txBox="1"/>
          <p:nvPr/>
        </p:nvSpPr>
        <p:spPr>
          <a:xfrm>
            <a:off x="7040880" y="5394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128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 años</a:t>
            </a:r>
            <a:endParaRPr lang="en-US" sz="3200" dirty="0"/>
          </a:p>
        </p:txBody>
      </p:sp>
      <p:sp>
        <p:nvSpPr>
          <p:cNvPr id="100" name="est-3-t"/>
          <p:cNvSpPr txBox="1"/>
          <p:nvPr/>
        </p:nvSpPr>
        <p:spPr>
          <a:xfrm>
            <a:off x="8869680" y="5413248"/>
            <a:ext cx="302357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compras públicas, de 2020 a 2025</a:t>
            </a:r>
            <a:endParaRPr lang="en-US" sz="1250" dirty="0"/>
          </a:p>
        </p:txBody>
      </p:sp>
      <p:sp>
        <p:nvSpPr>
          <p:cNvPr id="101" name="est-3-e"/>
          <p:cNvSpPr txBox="1"/>
          <p:nvPr/>
        </p:nvSpPr>
        <p:spPr>
          <a:xfrm>
            <a:off x="8869680" y="5943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900"/>
                            </p:stCondLst>
                            <p:childTnLst>
                              <p:par>
                                <p:cTn id="2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140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3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1700"/>
                            </p:stCondLst>
                            <p:childTnLst>
                              <p:par>
                                <p:cTn id="2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1950"/>
                            </p:stCondLst>
                            <p:childTnLst>
                              <p:par>
                                <p:cTn id="2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2200"/>
                            </p:stCondLst>
                            <p:childTnLst>
                              <p:par>
                                <p:cTn id="2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2450"/>
                            </p:stCondLst>
                            <p:childTnLst>
                              <p:par>
                                <p:cTn id="2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5" grpId="0" animBg="1"/>
      <p:bldP spid="6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alcance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Introducción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 qué 66 municipios, y por qué solo 6.</a:t>
            </a:r>
            <a:endParaRPr lang="en-US" sz="3000" dirty="0"/>
          </a:p>
        </p:txBody>
      </p:sp>
      <p:sp>
        <p:nvSpPr>
          <p:cNvPr id="6" name="alc-0-q"/>
          <p:cNvSpPr/>
          <p:nvPr/>
        </p:nvSpPr>
        <p:spPr>
          <a:xfrm>
            <a:off x="-3444248" y="2240280"/>
            <a:ext cx="7772400" cy="7772400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7" name="alc-1-q"/>
          <p:cNvSpPr/>
          <p:nvPr/>
        </p:nvSpPr>
        <p:spPr>
          <a:xfrm>
            <a:off x="-2388053" y="3296475"/>
            <a:ext cx="5660010" cy="5660010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8" name="alc-2-q"/>
          <p:cNvSpPr/>
          <p:nvPr/>
        </p:nvSpPr>
        <p:spPr>
          <a:xfrm>
            <a:off x="-729781" y="4954747"/>
            <a:ext cx="2343467" cy="2343467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9" name="alc-0-n"/>
          <p:cNvSpPr txBox="1"/>
          <p:nvPr/>
        </p:nvSpPr>
        <p:spPr>
          <a:xfrm>
            <a:off x="2176051" y="336825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66</a:t>
            </a:r>
            <a:endParaRPr lang="en-US" sz="3000" dirty="0"/>
          </a:p>
        </p:txBody>
      </p:sp>
      <p:sp>
        <p:nvSpPr>
          <p:cNvPr id="10" name="alc-0-c"/>
          <p:cNvSpPr txBox="1"/>
          <p:nvPr/>
        </p:nvSpPr>
        <p:spPr>
          <a:xfrm>
            <a:off x="2084611" y="380716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municipios</a:t>
            </a:r>
            <a:endParaRPr lang="en-US" sz="1000" dirty="0"/>
          </a:p>
        </p:txBody>
      </p:sp>
      <p:sp>
        <p:nvSpPr>
          <p:cNvPr id="11" name="alc-1-n"/>
          <p:cNvSpPr txBox="1"/>
          <p:nvPr/>
        </p:nvSpPr>
        <p:spPr>
          <a:xfrm>
            <a:off x="1216487" y="4327817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</a:t>
            </a:r>
            <a:endParaRPr lang="en-US" sz="3000" dirty="0"/>
          </a:p>
        </p:txBody>
      </p:sp>
      <p:sp>
        <p:nvSpPr>
          <p:cNvPr id="12" name="alc-1-c"/>
          <p:cNvSpPr txBox="1"/>
          <p:nvPr/>
        </p:nvSpPr>
        <p:spPr>
          <a:xfrm>
            <a:off x="1125047" y="4766729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60 km</a:t>
            </a:r>
            <a:endParaRPr lang="en-US" sz="1000" dirty="0"/>
          </a:p>
        </p:txBody>
      </p:sp>
      <p:sp>
        <p:nvSpPr>
          <p:cNvPr id="13" name="alc-2-n"/>
          <p:cNvSpPr txBox="1"/>
          <p:nvPr/>
        </p:nvSpPr>
        <p:spPr>
          <a:xfrm>
            <a:off x="315490" y="522881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400" b="1" spc="-96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2400" dirty="0"/>
          </a:p>
        </p:txBody>
      </p:sp>
      <p:sp>
        <p:nvSpPr>
          <p:cNvPr id="14" name="alc-2-c"/>
          <p:cNvSpPr txBox="1"/>
          <p:nvPr/>
        </p:nvSpPr>
        <p:spPr>
          <a:xfrm>
            <a:off x="224050" y="566772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piloto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04792" y="62636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área de cada cuarto de círculo es proporcional al número de municipios.</a:t>
            </a:r>
            <a:endParaRPr lang="en-US" sz="900" dirty="0"/>
          </a:p>
        </p:txBody>
      </p:sp>
      <p:sp>
        <p:nvSpPr>
          <p:cNvPr id="16" name="alc-r0-l"/>
          <p:cNvSpPr/>
          <p:nvPr/>
        </p:nvSpPr>
        <p:spPr>
          <a:xfrm>
            <a:off x="5074920" y="1737360"/>
            <a:ext cx="681833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7" name="alc-r0-n"/>
          <p:cNvSpPr txBox="1"/>
          <p:nvPr/>
        </p:nvSpPr>
        <p:spPr>
          <a:xfrm>
            <a:off x="5074920" y="18470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66</a:t>
            </a:r>
            <a:endParaRPr lang="en-US" sz="3000" dirty="0"/>
          </a:p>
        </p:txBody>
      </p:sp>
      <p:sp>
        <p:nvSpPr>
          <p:cNvPr id="18" name="alc-r0-t"/>
          <p:cNvSpPr txBox="1"/>
          <p:nvPr/>
        </p:nvSpPr>
        <p:spPr>
          <a:xfrm>
            <a:off x="6263640" y="1856232"/>
            <a:ext cx="56296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cuatro distritos que toca el radio de 60 km</a:t>
            </a:r>
            <a:endParaRPr lang="en-US" sz="1350" dirty="0"/>
          </a:p>
        </p:txBody>
      </p:sp>
      <p:sp>
        <p:nvSpPr>
          <p:cNvPr id="19" name="alc-r0-d"/>
          <p:cNvSpPr txBox="1"/>
          <p:nvPr/>
        </p:nvSpPr>
        <p:spPr>
          <a:xfrm>
            <a:off x="6263640" y="2139696"/>
            <a:ext cx="5629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Coimbra, Viseu, Guarda y Castelo Branco, completos: el fútbol federado y sus asociaciones se organizan por distrito.</a:t>
            </a:r>
            <a:endParaRPr lang="en-US" sz="1150" dirty="0"/>
          </a:p>
        </p:txBody>
      </p:sp>
      <p:sp>
        <p:nvSpPr>
          <p:cNvPr id="20" name="alc-r0-e"/>
          <p:cNvSpPr txBox="1"/>
          <p:nvPr/>
        </p:nvSpPr>
        <p:spPr>
          <a:xfrm>
            <a:off x="5074920" y="23591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21" name="alc-r1-l"/>
          <p:cNvSpPr/>
          <p:nvPr/>
        </p:nvSpPr>
        <p:spPr>
          <a:xfrm>
            <a:off x="5074920" y="2816352"/>
            <a:ext cx="681833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2" name="alc-r1-n"/>
          <p:cNvSpPr txBox="1"/>
          <p:nvPr/>
        </p:nvSpPr>
        <p:spPr>
          <a:xfrm>
            <a:off x="5074920" y="2926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</a:t>
            </a:r>
            <a:endParaRPr lang="en-US" sz="3000" dirty="0"/>
          </a:p>
        </p:txBody>
      </p:sp>
      <p:sp>
        <p:nvSpPr>
          <p:cNvPr id="23" name="alc-r1-t"/>
          <p:cNvSpPr txBox="1"/>
          <p:nvPr/>
        </p:nvSpPr>
        <p:spPr>
          <a:xfrm>
            <a:off x="6263640" y="2935224"/>
            <a:ext cx="56296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municipios a 60 km o menos de la base</a:t>
            </a:r>
            <a:endParaRPr lang="en-US" sz="1350" dirty="0"/>
          </a:p>
        </p:txBody>
      </p:sp>
      <p:sp>
        <p:nvSpPr>
          <p:cNvPr id="24" name="alc-r1-d"/>
          <p:cNvSpPr txBox="1"/>
          <p:nvPr/>
        </p:nvSpPr>
        <p:spPr>
          <a:xfrm>
            <a:off x="6263640" y="3218688"/>
            <a:ext cx="5629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 ninguno de los 66 a más de 100 km en línea recta: toda la región se puede visitar en el día.</a:t>
            </a:r>
            <a:endParaRPr lang="en-US" sz="1150" dirty="0"/>
          </a:p>
        </p:txBody>
      </p:sp>
      <p:sp>
        <p:nvSpPr>
          <p:cNvPr id="25" name="alc-r1-e"/>
          <p:cNvSpPr txBox="1"/>
          <p:nvPr/>
        </p:nvSpPr>
        <p:spPr>
          <a:xfrm>
            <a:off x="5074920" y="34381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26" name="alc-r2-l"/>
          <p:cNvSpPr/>
          <p:nvPr/>
        </p:nvSpPr>
        <p:spPr>
          <a:xfrm>
            <a:off x="5074920" y="3895344"/>
            <a:ext cx="681833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7" name="alc-r2-n"/>
          <p:cNvSpPr txBox="1"/>
          <p:nvPr/>
        </p:nvSpPr>
        <p:spPr>
          <a:xfrm>
            <a:off x="5074920" y="40050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3000" dirty="0"/>
          </a:p>
        </p:txBody>
      </p:sp>
      <p:sp>
        <p:nvSpPr>
          <p:cNvPr id="28" name="alc-r2-t"/>
          <p:cNvSpPr txBox="1"/>
          <p:nvPr/>
        </p:nvSpPr>
        <p:spPr>
          <a:xfrm>
            <a:off x="6263640" y="4014216"/>
            <a:ext cx="56296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piloto: la base y cinco vecinos</a:t>
            </a:r>
            <a:endParaRPr lang="en-US" sz="1350" dirty="0"/>
          </a:p>
        </p:txBody>
      </p:sp>
      <p:sp>
        <p:nvSpPr>
          <p:cNvPr id="29" name="alc-r2-d"/>
          <p:cNvSpPr txBox="1"/>
          <p:nvPr/>
        </p:nvSpPr>
        <p:spPr>
          <a:xfrm>
            <a:off x="6263640" y="4297680"/>
            <a:ext cx="5629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Todos a 22 km o menos, en tres distritos, con 87.000 habitantes: se puede ir en persona.</a:t>
            </a:r>
            <a:endParaRPr lang="en-US" sz="1150" dirty="0"/>
          </a:p>
        </p:txBody>
      </p:sp>
      <p:sp>
        <p:nvSpPr>
          <p:cNvPr id="30" name="alc-r2-e"/>
          <p:cNvSpPr txBox="1"/>
          <p:nvPr/>
        </p:nvSpPr>
        <p:spPr>
          <a:xfrm>
            <a:off x="5074920" y="45171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31" name="alc-r3-l"/>
          <p:cNvSpPr/>
          <p:nvPr/>
        </p:nvSpPr>
        <p:spPr>
          <a:xfrm>
            <a:off x="5074920" y="4974336"/>
            <a:ext cx="681833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32" name="alc-r3-n"/>
          <p:cNvSpPr txBox="1"/>
          <p:nvPr/>
        </p:nvSpPr>
        <p:spPr>
          <a:xfrm>
            <a:off x="507492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78</a:t>
            </a:r>
            <a:endParaRPr lang="en-US" sz="3000" dirty="0"/>
          </a:p>
        </p:txBody>
      </p:sp>
      <p:sp>
        <p:nvSpPr>
          <p:cNvPr id="33" name="alc-r3-t"/>
          <p:cNvSpPr txBox="1"/>
          <p:nvPr/>
        </p:nvSpPr>
        <p:spPr>
          <a:xfrm>
            <a:off x="6263640" y="5093208"/>
            <a:ext cx="56296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freguesias del piloto, las únicas estudiadas una a una</a:t>
            </a:r>
            <a:endParaRPr lang="en-US" sz="1350" dirty="0"/>
          </a:p>
        </p:txBody>
      </p:sp>
      <p:sp>
        <p:nvSpPr>
          <p:cNvPr id="34" name="alc-r3-d"/>
          <p:cNvSpPr txBox="1"/>
          <p:nvPr/>
        </p:nvSpPr>
        <p:spPr>
          <a:xfrm>
            <a:off x="6263640" y="5376672"/>
            <a:ext cx="5629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mapa solo tenía 33 de sus 78 juntas. Completarlas y visitarlas solo tiene sentido donde se puede ir en persona.</a:t>
            </a:r>
            <a:endParaRPr lang="en-US" sz="1150" dirty="0"/>
          </a:p>
        </p:txBody>
      </p:sp>
      <p:sp>
        <p:nvSpPr>
          <p:cNvPr id="35" name="alc-r3-e"/>
          <p:cNvSpPr txBox="1"/>
          <p:nvPr/>
        </p:nvSpPr>
        <p:spPr>
          <a:xfrm>
            <a:off x="5074920" y="55961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4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65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5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3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7" grpId="0" animBg="1"/>
      <p:bldP spid="11" grpId="0" animBg="1"/>
      <p:bldP spid="12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8" grpId="0" animBg="1"/>
      <p:bldP spid="13" grpId="0" animBg="1"/>
      <p:bldP spid="1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Método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Introducción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cinco fuentes públicas a una lista para llamar.</a:t>
            </a:r>
            <a:endParaRPr lang="en-US" sz="3000" dirty="0"/>
          </a:p>
        </p:txBody>
      </p:sp>
      <p:sp>
        <p:nvSpPr>
          <p:cNvPr id="6" name="pro-0-m"/>
          <p:cNvSpPr/>
          <p:nvPr/>
        </p:nvSpPr>
        <p:spPr>
          <a:xfrm>
            <a:off x="2654234" y="1737360"/>
            <a:ext cx="2651760" cy="265176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7" name="pro-0-k1"/>
          <p:cNvSpPr txBox="1"/>
          <p:nvPr/>
        </p:nvSpPr>
        <p:spPr>
          <a:xfrm>
            <a:off x="3038282" y="21945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spc="-96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pro-0-k"/>
          <p:cNvSpPr txBox="1"/>
          <p:nvPr/>
        </p:nvSpPr>
        <p:spPr>
          <a:xfrm>
            <a:off x="3038282" y="2651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Recoger</a:t>
            </a:r>
            <a:endParaRPr lang="en-US" sz="1400" dirty="0"/>
          </a:p>
        </p:txBody>
      </p:sp>
      <p:sp>
        <p:nvSpPr>
          <p:cNvPr id="9" name="pro-0-n"/>
          <p:cNvSpPr txBox="1"/>
          <p:nvPr/>
        </p:nvSpPr>
        <p:spPr>
          <a:xfrm>
            <a:off x="2654234" y="3246120"/>
            <a:ext cx="21970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spc="-176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4400" dirty="0"/>
          </a:p>
        </p:txBody>
      </p:sp>
      <p:sp>
        <p:nvSpPr>
          <p:cNvPr id="10" name="pro-0-t"/>
          <p:cNvSpPr txBox="1"/>
          <p:nvPr/>
        </p:nvSpPr>
        <p:spPr>
          <a:xfrm>
            <a:off x="2654234" y="3977640"/>
            <a:ext cx="219704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fuentes públicas: OpenStreetMap e INE por API, Portal BASE en descarga, Wikipedia con scraping y Google Trends.</a:t>
            </a:r>
            <a:endParaRPr lang="en-US" sz="1200" dirty="0"/>
          </a:p>
        </p:txBody>
      </p:sp>
      <p:sp>
        <p:nvSpPr>
          <p:cNvPr id="11" name="pro-0-e"/>
          <p:cNvSpPr txBox="1"/>
          <p:nvPr/>
        </p:nvSpPr>
        <p:spPr>
          <a:xfrm>
            <a:off x="2654234" y="5349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12" name="pro-1-m"/>
          <p:cNvSpPr/>
          <p:nvPr/>
        </p:nvSpPr>
        <p:spPr>
          <a:xfrm>
            <a:off x="3671445" y="1737360"/>
            <a:ext cx="2651760" cy="2651760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3" name="pro-1-k1"/>
          <p:cNvSpPr txBox="1"/>
          <p:nvPr/>
        </p:nvSpPr>
        <p:spPr>
          <a:xfrm>
            <a:off x="5143629" y="21945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spc="-96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pro-1-k"/>
          <p:cNvSpPr txBox="1"/>
          <p:nvPr/>
        </p:nvSpPr>
        <p:spPr>
          <a:xfrm>
            <a:off x="5143629" y="2651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Limpiar</a:t>
            </a:r>
            <a:endParaRPr lang="en-US" sz="1400" dirty="0"/>
          </a:p>
        </p:txBody>
      </p:sp>
      <p:sp>
        <p:nvSpPr>
          <p:cNvPr id="15" name="pro-1-n"/>
          <p:cNvSpPr txBox="1"/>
          <p:nvPr/>
        </p:nvSpPr>
        <p:spPr>
          <a:xfrm>
            <a:off x="4997325" y="3246120"/>
            <a:ext cx="21970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spc="-176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265</a:t>
            </a:r>
            <a:endParaRPr lang="en-US" sz="4400" dirty="0"/>
          </a:p>
        </p:txBody>
      </p:sp>
      <p:sp>
        <p:nvSpPr>
          <p:cNvPr id="16" name="pro-1-t"/>
          <p:cNvSpPr txBox="1"/>
          <p:nvPr/>
        </p:nvSpPr>
        <p:spPr>
          <a:xfrm>
            <a:off x="4997325" y="3977640"/>
            <a:ext cx="219704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contratos de cámaras y juntas de la región, de 12.000 leídos. Y 1.600 organizaciones de 1.800 elementos.</a:t>
            </a:r>
            <a:endParaRPr lang="en-US" sz="1200" dirty="0"/>
          </a:p>
        </p:txBody>
      </p:sp>
      <p:sp>
        <p:nvSpPr>
          <p:cNvPr id="17" name="pro-1-e"/>
          <p:cNvSpPr txBox="1"/>
          <p:nvPr/>
        </p:nvSpPr>
        <p:spPr>
          <a:xfrm>
            <a:off x="4997325" y="5349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18" name="pro-2-m"/>
          <p:cNvSpPr/>
          <p:nvPr/>
        </p:nvSpPr>
        <p:spPr>
          <a:xfrm>
            <a:off x="7340416" y="1737360"/>
            <a:ext cx="2651760" cy="265176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19" name="pro-2-k1"/>
          <p:cNvSpPr txBox="1"/>
          <p:nvPr/>
        </p:nvSpPr>
        <p:spPr>
          <a:xfrm>
            <a:off x="7724464" y="21945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spc="-96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pro-2-k"/>
          <p:cNvSpPr txBox="1"/>
          <p:nvPr/>
        </p:nvSpPr>
        <p:spPr>
          <a:xfrm>
            <a:off x="7724464" y="2651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Analizar</a:t>
            </a:r>
            <a:endParaRPr lang="en-US" sz="1400" dirty="0"/>
          </a:p>
        </p:txBody>
      </p:sp>
      <p:sp>
        <p:nvSpPr>
          <p:cNvPr id="21" name="pro-2-n"/>
          <p:cNvSpPr txBox="1"/>
          <p:nvPr/>
        </p:nvSpPr>
        <p:spPr>
          <a:xfrm>
            <a:off x="7340416" y="3246120"/>
            <a:ext cx="21970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spc="-176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4400" dirty="0"/>
          </a:p>
        </p:txBody>
      </p:sp>
      <p:sp>
        <p:nvSpPr>
          <p:cNvPr id="22" name="pro-2-t"/>
          <p:cNvSpPr txBox="1"/>
          <p:nvPr/>
        </p:nvSpPr>
        <p:spPr>
          <a:xfrm>
            <a:off x="7340416" y="3977640"/>
            <a:ext cx="219704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hipótesis comprobadas con los datos y con simulaciones. Un índice ordena los 66 municipios.</a:t>
            </a:r>
            <a:endParaRPr lang="en-US" sz="1200" dirty="0"/>
          </a:p>
        </p:txBody>
      </p:sp>
      <p:sp>
        <p:nvSpPr>
          <p:cNvPr id="23" name="pro-2-e"/>
          <p:cNvSpPr txBox="1"/>
          <p:nvPr/>
        </p:nvSpPr>
        <p:spPr>
          <a:xfrm>
            <a:off x="7340416" y="5349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24" name="pro-3-m"/>
          <p:cNvSpPr/>
          <p:nvPr/>
        </p:nvSpPr>
        <p:spPr>
          <a:xfrm>
            <a:off x="8357628" y="1737360"/>
            <a:ext cx="2651760" cy="2651760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5" name="pro-3-k1"/>
          <p:cNvSpPr txBox="1"/>
          <p:nvPr/>
        </p:nvSpPr>
        <p:spPr>
          <a:xfrm>
            <a:off x="9829812" y="21945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spc="-96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pro-3-k"/>
          <p:cNvSpPr txBox="1"/>
          <p:nvPr/>
        </p:nvSpPr>
        <p:spPr>
          <a:xfrm>
            <a:off x="9829812" y="2651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Decidir</a:t>
            </a:r>
            <a:endParaRPr lang="en-US" sz="1400" dirty="0"/>
          </a:p>
        </p:txBody>
      </p:sp>
      <p:sp>
        <p:nvSpPr>
          <p:cNvPr id="27" name="pro-3-n"/>
          <p:cNvSpPr txBox="1"/>
          <p:nvPr/>
        </p:nvSpPr>
        <p:spPr>
          <a:xfrm>
            <a:off x="9683508" y="3246120"/>
            <a:ext cx="21970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spc="-176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1.600</a:t>
            </a:r>
            <a:endParaRPr lang="en-US" sz="4400" dirty="0"/>
          </a:p>
        </p:txBody>
      </p:sp>
      <p:sp>
        <p:nvSpPr>
          <p:cNvPr id="28" name="pro-3-t"/>
          <p:cNvSpPr txBox="1"/>
          <p:nvPr/>
        </p:nvSpPr>
        <p:spPr>
          <a:xfrm>
            <a:off x="9683508" y="3977640"/>
            <a:ext cx="219704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organizaciones con puntuación, motivo para llamar, idea de prenda y tres fechas.</a:t>
            </a:r>
            <a:endParaRPr lang="en-US" sz="1200" dirty="0"/>
          </a:p>
        </p:txBody>
      </p:sp>
      <p:sp>
        <p:nvSpPr>
          <p:cNvPr id="29" name="pro-3-e"/>
          <p:cNvSpPr txBox="1"/>
          <p:nvPr/>
        </p:nvSpPr>
        <p:spPr>
          <a:xfrm>
            <a:off x="9683508" y="5349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2654234" y="6035040"/>
            <a:ext cx="92390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detalle de las fuentes y de la limpieza, en la diapositiva siguiente, en la 35 y en el README.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5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3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5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9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150"/>
                            </p:stCondLst>
                            <p:childTnLst>
                              <p:par>
                                <p:cTn id="8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Limpieza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Introducción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12.350 contratos a 265.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288474" y="1691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Portal BASE, 2020-2025</a:t>
            </a:r>
            <a:endParaRPr lang="en-US" sz="1100" dirty="0"/>
          </a:p>
        </p:txBody>
      </p:sp>
      <p:sp>
        <p:nvSpPr>
          <p:cNvPr id="7" name="emb-b-0-t"/>
          <p:cNvSpPr txBox="1"/>
          <p:nvPr/>
        </p:nvSpPr>
        <p:spPr>
          <a:xfrm>
            <a:off x="2288474" y="21031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12.350 </a:t>
            </a:r>
            <a:pPr algn="ctr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ropa y merchandising en todo el país</a:t>
            </a:r>
            <a:endParaRPr lang="en-US" sz="1150" dirty="0"/>
          </a:p>
        </p:txBody>
      </p:sp>
      <p:sp>
        <p:nvSpPr>
          <p:cNvPr id="8" name="emb-b-0-b"/>
          <p:cNvSpPr/>
          <p:nvPr/>
        </p:nvSpPr>
        <p:spPr>
          <a:xfrm>
            <a:off x="2288474" y="2377440"/>
            <a:ext cx="4572000" cy="329184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9" name="emb-b-1-t"/>
          <p:cNvSpPr txBox="1"/>
          <p:nvPr/>
        </p:nvSpPr>
        <p:spPr>
          <a:xfrm>
            <a:off x="2288474" y="28712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12.292 </a:t>
            </a:r>
            <a:pPr algn="ctr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 duplicados</a:t>
            </a:r>
            <a:endParaRPr lang="en-US" sz="1150" dirty="0"/>
          </a:p>
        </p:txBody>
      </p:sp>
      <p:sp>
        <p:nvSpPr>
          <p:cNvPr id="10" name="emb-b-1-b"/>
          <p:cNvSpPr/>
          <p:nvPr/>
        </p:nvSpPr>
        <p:spPr>
          <a:xfrm>
            <a:off x="2299210" y="3145536"/>
            <a:ext cx="4550528" cy="329184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1" name="emb-b-2-t"/>
          <p:cNvSpPr txBox="1"/>
          <p:nvPr/>
        </p:nvSpPr>
        <p:spPr>
          <a:xfrm>
            <a:off x="2288474" y="36393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7.265 </a:t>
            </a:r>
            <a:pPr algn="ctr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el catálogo de la marca</a:t>
            </a:r>
            <a:endParaRPr lang="en-US" sz="1150" dirty="0"/>
          </a:p>
        </p:txBody>
      </p:sp>
      <p:sp>
        <p:nvSpPr>
          <p:cNvPr id="12" name="emb-b-2-b"/>
          <p:cNvSpPr/>
          <p:nvPr/>
        </p:nvSpPr>
        <p:spPr>
          <a:xfrm>
            <a:off x="3229713" y="3913632"/>
            <a:ext cx="2689521" cy="329184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3" name="emb-b-3-t"/>
          <p:cNvSpPr txBox="1"/>
          <p:nvPr/>
        </p:nvSpPr>
        <p:spPr>
          <a:xfrm>
            <a:off x="2288474" y="44074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485 </a:t>
            </a:r>
            <a:pPr algn="ctr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los 66 municipios</a:t>
            </a:r>
            <a:endParaRPr lang="en-US" sz="1150" dirty="0"/>
          </a:p>
        </p:txBody>
      </p:sp>
      <p:sp>
        <p:nvSpPr>
          <p:cNvPr id="14" name="emb-b-3-b"/>
          <p:cNvSpPr/>
          <p:nvPr/>
        </p:nvSpPr>
        <p:spPr>
          <a:xfrm>
            <a:off x="4484700" y="4681728"/>
            <a:ext cx="179548" cy="329184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5" name="emb-b-4-t"/>
          <p:cNvSpPr txBox="1"/>
          <p:nvPr/>
        </p:nvSpPr>
        <p:spPr>
          <a:xfrm>
            <a:off x="2288474" y="51755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265 </a:t>
            </a:r>
            <a:pPr algn="ctr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cámaras y juntas</a:t>
            </a:r>
            <a:endParaRPr lang="en-US" sz="1150" dirty="0"/>
          </a:p>
        </p:txBody>
      </p:sp>
      <p:sp>
        <p:nvSpPr>
          <p:cNvPr id="16" name="emb-b-4-b"/>
          <p:cNvSpPr/>
          <p:nvPr/>
        </p:nvSpPr>
        <p:spPr>
          <a:xfrm>
            <a:off x="4525422" y="5449824"/>
            <a:ext cx="98104" cy="329184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1691640"/>
            <a:ext cx="42122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OpenStreetMap</a:t>
            </a:r>
            <a:endParaRPr lang="en-US" sz="1100" dirty="0"/>
          </a:p>
        </p:txBody>
      </p:sp>
      <p:sp>
        <p:nvSpPr>
          <p:cNvPr id="18" name="emb-o-0-t"/>
          <p:cNvSpPr txBox="1"/>
          <p:nvPr/>
        </p:nvSpPr>
        <p:spPr>
          <a:xfrm>
            <a:off x="7680960" y="2103120"/>
            <a:ext cx="42122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1.824 </a:t>
            </a:r>
            <a:pPr algn="ctr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elementos en el mapa</a:t>
            </a:r>
            <a:endParaRPr lang="en-US" sz="1150" dirty="0"/>
          </a:p>
        </p:txBody>
      </p:sp>
      <p:sp>
        <p:nvSpPr>
          <p:cNvPr id="19" name="emb-o-0-b"/>
          <p:cNvSpPr/>
          <p:nvPr/>
        </p:nvSpPr>
        <p:spPr>
          <a:xfrm>
            <a:off x="7680960" y="2377440"/>
            <a:ext cx="4212293" cy="329184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0" name="emb-o-1-t"/>
          <p:cNvSpPr txBox="1"/>
          <p:nvPr/>
        </p:nvSpPr>
        <p:spPr>
          <a:xfrm>
            <a:off x="7680960" y="2871216"/>
            <a:ext cx="42122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1.589 </a:t>
            </a:r>
            <a:pPr algn="ctr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nombre</a:t>
            </a:r>
            <a:endParaRPr lang="en-US" sz="1150" dirty="0"/>
          </a:p>
        </p:txBody>
      </p:sp>
      <p:sp>
        <p:nvSpPr>
          <p:cNvPr id="21" name="emb-o-1-b"/>
          <p:cNvSpPr/>
          <p:nvPr/>
        </p:nvSpPr>
        <p:spPr>
          <a:xfrm>
            <a:off x="7952311" y="3145536"/>
            <a:ext cx="3669590" cy="329184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2" name="emb-o-2-t"/>
          <p:cNvSpPr txBox="1"/>
          <p:nvPr/>
        </p:nvSpPr>
        <p:spPr>
          <a:xfrm>
            <a:off x="7680960" y="3639312"/>
            <a:ext cx="42122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1.552 </a:t>
            </a:r>
            <a:pPr algn="ctr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 duplicados</a:t>
            </a:r>
            <a:endParaRPr lang="en-US" sz="1150" dirty="0"/>
          </a:p>
        </p:txBody>
      </p:sp>
      <p:sp>
        <p:nvSpPr>
          <p:cNvPr id="23" name="emb-o-2-b"/>
          <p:cNvSpPr/>
          <p:nvPr/>
        </p:nvSpPr>
        <p:spPr>
          <a:xfrm>
            <a:off x="7995034" y="3913632"/>
            <a:ext cx="3584144" cy="329184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4" name="emb-o-3-t"/>
          <p:cNvSpPr txBox="1"/>
          <p:nvPr/>
        </p:nvSpPr>
        <p:spPr>
          <a:xfrm>
            <a:off x="7680960" y="4407408"/>
            <a:ext cx="42122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1.596 </a:t>
            </a:r>
            <a:pPr algn="ctr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44 juntas añadidas</a:t>
            </a:r>
            <a:endParaRPr lang="en-US" sz="1150" dirty="0"/>
          </a:p>
        </p:txBody>
      </p:sp>
      <p:sp>
        <p:nvSpPr>
          <p:cNvPr id="25" name="emb-o-3-b"/>
          <p:cNvSpPr/>
          <p:nvPr/>
        </p:nvSpPr>
        <p:spPr>
          <a:xfrm>
            <a:off x="7944228" y="4681728"/>
            <a:ext cx="3685756" cy="329184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88474" y="6053328"/>
            <a:ext cx="92390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paso termina con una comprobación (assert). Lo que queda del BASE es el 2 % de lo leído.</a:t>
            </a:r>
            <a:endParaRPr lang="en-US" sz="1000" dirty="0"/>
          </a:p>
        </p:txBody>
      </p:sp>
      <p:sp>
        <p:nvSpPr>
          <p:cNvPr id="27" name="emb-e"/>
          <p:cNvSpPr txBox="1"/>
          <p:nvPr/>
        </p:nvSpPr>
        <p:spPr>
          <a:xfrm>
            <a:off x="10978853" y="60533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5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75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a60e9ee-cec4-5fc1-bdd0-d8a953451dda/scratchpad/deck/v12/assets/patron_terra_franj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3748" y="0"/>
            <a:ext cx="2377947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90788" y="301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sep1-tit"/>
          <p:cNvSpPr txBox="1"/>
          <p:nvPr/>
        </p:nvSpPr>
        <p:spPr>
          <a:xfrm>
            <a:off x="277360" y="914400"/>
            <a:ext cx="9052560" cy="5623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0400" spc="-312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</a:t>
            </a:r>
            <a:endParaRPr lang="en-US" sz="104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10400" spc="-312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descubrimos.</a:t>
            </a:r>
            <a:endParaRPr lang="en-US" sz="104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Dónde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Resultados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Empezar cerca de casa.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654234" y="17373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Índice de oportunidad: los 15 primeros de 66 municipios (0 a 100)</a:t>
            </a:r>
            <a:endParaRPr lang="en-US" sz="1100" dirty="0"/>
          </a:p>
        </p:txBody>
      </p:sp>
      <p:sp>
        <p:nvSpPr>
          <p:cNvPr id="7" name="don-g-0-et"/>
          <p:cNvSpPr txBox="1"/>
          <p:nvPr/>
        </p:nvSpPr>
        <p:spPr>
          <a:xfrm>
            <a:off x="2654234" y="2057400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Góis</a:t>
            </a:r>
            <a:endParaRPr lang="en-US" sz="1050" dirty="0"/>
          </a:p>
        </p:txBody>
      </p:sp>
      <p:sp>
        <p:nvSpPr>
          <p:cNvPr id="8" name="don-g-0-b"/>
          <p:cNvSpPr/>
          <p:nvPr/>
        </p:nvSpPr>
        <p:spPr>
          <a:xfrm>
            <a:off x="4254434" y="2103120"/>
            <a:ext cx="2864129" cy="15544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9" name="don-g-0-v"/>
          <p:cNvSpPr txBox="1"/>
          <p:nvPr/>
        </p:nvSpPr>
        <p:spPr>
          <a:xfrm>
            <a:off x="7191715" y="2057400"/>
            <a:ext cx="53743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74</a:t>
            </a:r>
            <a:endParaRPr lang="en-US" sz="1050" dirty="0"/>
          </a:p>
        </p:txBody>
      </p:sp>
      <p:sp>
        <p:nvSpPr>
          <p:cNvPr id="10" name="don-g-1-et"/>
          <p:cNvSpPr txBox="1"/>
          <p:nvPr/>
        </p:nvSpPr>
        <p:spPr>
          <a:xfrm>
            <a:off x="2654234" y="2304288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Nelas</a:t>
            </a:r>
            <a:endParaRPr lang="en-US" sz="1050" dirty="0"/>
          </a:p>
        </p:txBody>
      </p:sp>
      <p:sp>
        <p:nvSpPr>
          <p:cNvPr id="11" name="don-g-1-b"/>
          <p:cNvSpPr/>
          <p:nvPr/>
        </p:nvSpPr>
        <p:spPr>
          <a:xfrm>
            <a:off x="4254434" y="2350008"/>
            <a:ext cx="2786405" cy="155448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2" name="don-g-1-v"/>
          <p:cNvSpPr txBox="1"/>
          <p:nvPr/>
        </p:nvSpPr>
        <p:spPr>
          <a:xfrm>
            <a:off x="7113991" y="2304288"/>
            <a:ext cx="61516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72</a:t>
            </a:r>
            <a:endParaRPr lang="en-US" sz="1050" dirty="0"/>
          </a:p>
        </p:txBody>
      </p:sp>
      <p:sp>
        <p:nvSpPr>
          <p:cNvPr id="13" name="don-g-2-et"/>
          <p:cNvSpPr txBox="1"/>
          <p:nvPr/>
        </p:nvSpPr>
        <p:spPr>
          <a:xfrm>
            <a:off x="2654234" y="2551176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Oleiros</a:t>
            </a:r>
            <a:endParaRPr lang="en-US" sz="1050" dirty="0"/>
          </a:p>
        </p:txBody>
      </p:sp>
      <p:sp>
        <p:nvSpPr>
          <p:cNvPr id="14" name="don-g-2-b"/>
          <p:cNvSpPr/>
          <p:nvPr/>
        </p:nvSpPr>
        <p:spPr>
          <a:xfrm>
            <a:off x="4254434" y="2596896"/>
            <a:ext cx="2786405" cy="15544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5" name="don-g-2-v"/>
          <p:cNvSpPr txBox="1"/>
          <p:nvPr/>
        </p:nvSpPr>
        <p:spPr>
          <a:xfrm>
            <a:off x="7113991" y="2551176"/>
            <a:ext cx="61516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72</a:t>
            </a:r>
            <a:endParaRPr lang="en-US" sz="1050" dirty="0"/>
          </a:p>
        </p:txBody>
      </p:sp>
      <p:sp>
        <p:nvSpPr>
          <p:cNvPr id="16" name="don-g-3-et"/>
          <p:cNvSpPr txBox="1"/>
          <p:nvPr/>
        </p:nvSpPr>
        <p:spPr>
          <a:xfrm>
            <a:off x="2654234" y="2798064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Vila Nova de Paiva</a:t>
            </a:r>
            <a:endParaRPr lang="en-US" sz="1050" dirty="0"/>
          </a:p>
        </p:txBody>
      </p:sp>
      <p:sp>
        <p:nvSpPr>
          <p:cNvPr id="17" name="don-g-3-b"/>
          <p:cNvSpPr/>
          <p:nvPr/>
        </p:nvSpPr>
        <p:spPr>
          <a:xfrm>
            <a:off x="4254434" y="2843784"/>
            <a:ext cx="2704795" cy="15544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8" name="don-g-3-v"/>
          <p:cNvSpPr txBox="1"/>
          <p:nvPr/>
        </p:nvSpPr>
        <p:spPr>
          <a:xfrm>
            <a:off x="7032381" y="2798064"/>
            <a:ext cx="6967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</a:t>
            </a:r>
            <a:endParaRPr lang="en-US" sz="1050" dirty="0"/>
          </a:p>
        </p:txBody>
      </p:sp>
      <p:sp>
        <p:nvSpPr>
          <p:cNvPr id="19" name="don-g-4-et"/>
          <p:cNvSpPr txBox="1"/>
          <p:nvPr/>
        </p:nvSpPr>
        <p:spPr>
          <a:xfrm>
            <a:off x="2654234" y="3044952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Arganil</a:t>
            </a:r>
            <a:endParaRPr lang="en-US" sz="1050" dirty="0"/>
          </a:p>
        </p:txBody>
      </p:sp>
      <p:sp>
        <p:nvSpPr>
          <p:cNvPr id="20" name="don-g-4-b"/>
          <p:cNvSpPr/>
          <p:nvPr/>
        </p:nvSpPr>
        <p:spPr>
          <a:xfrm>
            <a:off x="4254434" y="3090672"/>
            <a:ext cx="2576551" cy="155448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1" name="don-g-4-v"/>
          <p:cNvSpPr txBox="1"/>
          <p:nvPr/>
        </p:nvSpPr>
        <p:spPr>
          <a:xfrm>
            <a:off x="6904136" y="3044952"/>
            <a:ext cx="82501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66</a:t>
            </a:r>
            <a:endParaRPr lang="en-US" sz="1050" dirty="0"/>
          </a:p>
        </p:txBody>
      </p:sp>
      <p:sp>
        <p:nvSpPr>
          <p:cNvPr id="22" name="don-g-5-et"/>
          <p:cNvSpPr txBox="1"/>
          <p:nvPr/>
        </p:nvSpPr>
        <p:spPr>
          <a:xfrm>
            <a:off x="2654234" y="3291840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Carregal do Sal</a:t>
            </a:r>
            <a:endParaRPr lang="en-US" sz="1050" dirty="0"/>
          </a:p>
        </p:txBody>
      </p:sp>
      <p:sp>
        <p:nvSpPr>
          <p:cNvPr id="23" name="don-g-5-b"/>
          <p:cNvSpPr/>
          <p:nvPr/>
        </p:nvSpPr>
        <p:spPr>
          <a:xfrm>
            <a:off x="4254434" y="3337560"/>
            <a:ext cx="2533802" cy="155448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4" name="don-g-5-v"/>
          <p:cNvSpPr txBox="1"/>
          <p:nvPr/>
        </p:nvSpPr>
        <p:spPr>
          <a:xfrm>
            <a:off x="6861388" y="3291840"/>
            <a:ext cx="8677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65</a:t>
            </a:r>
            <a:endParaRPr lang="en-US" sz="1050" dirty="0"/>
          </a:p>
        </p:txBody>
      </p:sp>
      <p:sp>
        <p:nvSpPr>
          <p:cNvPr id="25" name="don-g-6-et"/>
          <p:cNvSpPr txBox="1"/>
          <p:nvPr/>
        </p:nvSpPr>
        <p:spPr>
          <a:xfrm>
            <a:off x="2654234" y="3538728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Fundão</a:t>
            </a:r>
            <a:endParaRPr lang="en-US" sz="1050" dirty="0"/>
          </a:p>
        </p:txBody>
      </p:sp>
      <p:sp>
        <p:nvSpPr>
          <p:cNvPr id="26" name="don-g-6-b"/>
          <p:cNvSpPr/>
          <p:nvPr/>
        </p:nvSpPr>
        <p:spPr>
          <a:xfrm>
            <a:off x="4254434" y="3584448"/>
            <a:ext cx="2491054" cy="15544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7" name="don-g-6-v"/>
          <p:cNvSpPr txBox="1"/>
          <p:nvPr/>
        </p:nvSpPr>
        <p:spPr>
          <a:xfrm>
            <a:off x="6818640" y="3538728"/>
            <a:ext cx="91051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64</a:t>
            </a:r>
            <a:endParaRPr lang="en-US" sz="1050" dirty="0"/>
          </a:p>
        </p:txBody>
      </p:sp>
      <p:sp>
        <p:nvSpPr>
          <p:cNvPr id="28" name="don-g-7-et"/>
          <p:cNvSpPr txBox="1"/>
          <p:nvPr/>
        </p:nvSpPr>
        <p:spPr>
          <a:xfrm>
            <a:off x="2654234" y="3785616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Tondela</a:t>
            </a:r>
            <a:endParaRPr lang="en-US" sz="1050" dirty="0"/>
          </a:p>
        </p:txBody>
      </p:sp>
      <p:sp>
        <p:nvSpPr>
          <p:cNvPr id="29" name="don-g-7-b"/>
          <p:cNvSpPr/>
          <p:nvPr/>
        </p:nvSpPr>
        <p:spPr>
          <a:xfrm>
            <a:off x="4254434" y="3831336"/>
            <a:ext cx="2440534" cy="15544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0" name="don-g-7-v"/>
          <p:cNvSpPr txBox="1"/>
          <p:nvPr/>
        </p:nvSpPr>
        <p:spPr>
          <a:xfrm>
            <a:off x="6768119" y="3785616"/>
            <a:ext cx="96103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63</a:t>
            </a:r>
            <a:endParaRPr lang="en-US" sz="1050" dirty="0"/>
          </a:p>
        </p:txBody>
      </p:sp>
      <p:sp>
        <p:nvSpPr>
          <p:cNvPr id="31" name="don-g-8-et"/>
          <p:cNvSpPr txBox="1"/>
          <p:nvPr/>
        </p:nvSpPr>
        <p:spPr>
          <a:xfrm>
            <a:off x="2654234" y="4032504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Viseu</a:t>
            </a:r>
            <a:endParaRPr lang="en-US" sz="1050" dirty="0"/>
          </a:p>
        </p:txBody>
      </p:sp>
      <p:sp>
        <p:nvSpPr>
          <p:cNvPr id="32" name="don-g-8-b"/>
          <p:cNvSpPr/>
          <p:nvPr/>
        </p:nvSpPr>
        <p:spPr>
          <a:xfrm>
            <a:off x="4254434" y="4078224"/>
            <a:ext cx="2393899" cy="15544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3" name="don-g-8-v"/>
          <p:cNvSpPr txBox="1"/>
          <p:nvPr/>
        </p:nvSpPr>
        <p:spPr>
          <a:xfrm>
            <a:off x="6721485" y="4032504"/>
            <a:ext cx="1007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62</a:t>
            </a:r>
            <a:endParaRPr lang="en-US" sz="1050" dirty="0"/>
          </a:p>
        </p:txBody>
      </p:sp>
      <p:sp>
        <p:nvSpPr>
          <p:cNvPr id="34" name="don-g-9-et"/>
          <p:cNvSpPr txBox="1"/>
          <p:nvPr/>
        </p:nvSpPr>
        <p:spPr>
          <a:xfrm>
            <a:off x="2654234" y="4279392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Moimenta da Beira</a:t>
            </a:r>
            <a:endParaRPr lang="en-US" sz="1050" dirty="0"/>
          </a:p>
        </p:txBody>
      </p:sp>
      <p:sp>
        <p:nvSpPr>
          <p:cNvPr id="35" name="don-g-9-b"/>
          <p:cNvSpPr/>
          <p:nvPr/>
        </p:nvSpPr>
        <p:spPr>
          <a:xfrm>
            <a:off x="4254434" y="4325112"/>
            <a:ext cx="2390013" cy="15544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6" name="don-g-9-v"/>
          <p:cNvSpPr txBox="1"/>
          <p:nvPr/>
        </p:nvSpPr>
        <p:spPr>
          <a:xfrm>
            <a:off x="6717599" y="4279392"/>
            <a:ext cx="10115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62</a:t>
            </a:r>
            <a:endParaRPr lang="en-US" sz="1050" dirty="0"/>
          </a:p>
        </p:txBody>
      </p:sp>
      <p:sp>
        <p:nvSpPr>
          <p:cNvPr id="37" name="don-g-10-et"/>
          <p:cNvSpPr txBox="1"/>
          <p:nvPr/>
        </p:nvSpPr>
        <p:spPr>
          <a:xfrm>
            <a:off x="2654234" y="4526280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Sernancelhe</a:t>
            </a:r>
            <a:endParaRPr lang="en-US" sz="1050" dirty="0"/>
          </a:p>
        </p:txBody>
      </p:sp>
      <p:sp>
        <p:nvSpPr>
          <p:cNvPr id="38" name="don-g-10-b"/>
          <p:cNvSpPr/>
          <p:nvPr/>
        </p:nvSpPr>
        <p:spPr>
          <a:xfrm>
            <a:off x="4254434" y="4572000"/>
            <a:ext cx="2370582" cy="15544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9" name="don-g-10-v"/>
          <p:cNvSpPr txBox="1"/>
          <p:nvPr/>
        </p:nvSpPr>
        <p:spPr>
          <a:xfrm>
            <a:off x="6698168" y="4526280"/>
            <a:ext cx="103098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61</a:t>
            </a:r>
            <a:endParaRPr lang="en-US" sz="1050" dirty="0"/>
          </a:p>
        </p:txBody>
      </p:sp>
      <p:sp>
        <p:nvSpPr>
          <p:cNvPr id="40" name="don-g-11-et"/>
          <p:cNvSpPr txBox="1"/>
          <p:nvPr/>
        </p:nvSpPr>
        <p:spPr>
          <a:xfrm>
            <a:off x="2654234" y="4773168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Tábua</a:t>
            </a:r>
            <a:endParaRPr lang="en-US" sz="1050" dirty="0"/>
          </a:p>
        </p:txBody>
      </p:sp>
      <p:sp>
        <p:nvSpPr>
          <p:cNvPr id="41" name="don-g-11-b"/>
          <p:cNvSpPr/>
          <p:nvPr/>
        </p:nvSpPr>
        <p:spPr>
          <a:xfrm>
            <a:off x="4254434" y="4818888"/>
            <a:ext cx="2339492" cy="155448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42" name="don-g-11-v"/>
          <p:cNvSpPr txBox="1"/>
          <p:nvPr/>
        </p:nvSpPr>
        <p:spPr>
          <a:xfrm>
            <a:off x="6667078" y="4773168"/>
            <a:ext cx="10620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</a:t>
            </a:r>
            <a:endParaRPr lang="en-US" sz="1050" dirty="0"/>
          </a:p>
        </p:txBody>
      </p:sp>
      <p:sp>
        <p:nvSpPr>
          <p:cNvPr id="43" name="don-g-12-et"/>
          <p:cNvSpPr txBox="1"/>
          <p:nvPr/>
        </p:nvSpPr>
        <p:spPr>
          <a:xfrm>
            <a:off x="2654234" y="5020056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Armamar</a:t>
            </a:r>
            <a:endParaRPr lang="en-US" sz="1050" dirty="0"/>
          </a:p>
        </p:txBody>
      </p:sp>
      <p:sp>
        <p:nvSpPr>
          <p:cNvPr id="44" name="don-g-12-b"/>
          <p:cNvSpPr/>
          <p:nvPr/>
        </p:nvSpPr>
        <p:spPr>
          <a:xfrm>
            <a:off x="4254434" y="5065776"/>
            <a:ext cx="2335606" cy="15544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5" name="don-g-12-v"/>
          <p:cNvSpPr txBox="1"/>
          <p:nvPr/>
        </p:nvSpPr>
        <p:spPr>
          <a:xfrm>
            <a:off x="6663192" y="5020056"/>
            <a:ext cx="106596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</a:t>
            </a:r>
            <a:endParaRPr lang="en-US" sz="1050" dirty="0"/>
          </a:p>
        </p:txBody>
      </p:sp>
      <p:sp>
        <p:nvSpPr>
          <p:cNvPr id="46" name="don-g-13-et"/>
          <p:cNvSpPr txBox="1"/>
          <p:nvPr/>
        </p:nvSpPr>
        <p:spPr>
          <a:xfrm>
            <a:off x="2654234" y="5266944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Mortágua</a:t>
            </a:r>
            <a:endParaRPr lang="en-US" sz="1050" dirty="0"/>
          </a:p>
        </p:txBody>
      </p:sp>
      <p:sp>
        <p:nvSpPr>
          <p:cNvPr id="47" name="don-g-13-b"/>
          <p:cNvSpPr/>
          <p:nvPr/>
        </p:nvSpPr>
        <p:spPr>
          <a:xfrm>
            <a:off x="4254434" y="5312664"/>
            <a:ext cx="2331720" cy="15544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8" name="don-g-13-v"/>
          <p:cNvSpPr txBox="1"/>
          <p:nvPr/>
        </p:nvSpPr>
        <p:spPr>
          <a:xfrm>
            <a:off x="6659306" y="5266944"/>
            <a:ext cx="1069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</a:t>
            </a:r>
            <a:endParaRPr lang="en-US" sz="1050" dirty="0"/>
          </a:p>
        </p:txBody>
      </p:sp>
      <p:sp>
        <p:nvSpPr>
          <p:cNvPr id="49" name="don-g-14-et"/>
          <p:cNvSpPr txBox="1"/>
          <p:nvPr/>
        </p:nvSpPr>
        <p:spPr>
          <a:xfrm>
            <a:off x="2654234" y="5513832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Aguiar da Beira</a:t>
            </a:r>
            <a:endParaRPr lang="en-US" sz="1050" dirty="0"/>
          </a:p>
        </p:txBody>
      </p:sp>
      <p:sp>
        <p:nvSpPr>
          <p:cNvPr id="50" name="don-g-14-b"/>
          <p:cNvSpPr/>
          <p:nvPr/>
        </p:nvSpPr>
        <p:spPr>
          <a:xfrm>
            <a:off x="4254434" y="5559552"/>
            <a:ext cx="2296744" cy="15544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1" name="don-g-14-v"/>
          <p:cNvSpPr txBox="1"/>
          <p:nvPr/>
        </p:nvSpPr>
        <p:spPr>
          <a:xfrm>
            <a:off x="6624330" y="5513832"/>
            <a:ext cx="1104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59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2654234" y="585216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terracota, el piloto. El índice suma organizaciones, gasto, jóvenes, competencia y cercanía; los pesos son una decisión.</a:t>
            </a:r>
            <a:endParaRPr lang="en-US" sz="950" dirty="0"/>
          </a:p>
        </p:txBody>
      </p:sp>
      <p:sp>
        <p:nvSpPr>
          <p:cNvPr id="53" name="don-dec"/>
          <p:cNvSpPr txBox="1"/>
          <p:nvPr/>
        </p:nvSpPr>
        <p:spPr>
          <a:xfrm>
            <a:off x="2654234" y="62727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863840" y="1737360"/>
            <a:ext cx="4029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parte queda a cada distancia de Oliveira do Hospital</a:t>
            </a:r>
            <a:endParaRPr lang="en-US" sz="1100" dirty="0"/>
          </a:p>
        </p:txBody>
      </p:sp>
      <p:sp>
        <p:nvSpPr>
          <p:cNvPr id="55" name="don-d0-ob"/>
          <p:cNvSpPr/>
          <p:nvPr/>
        </p:nvSpPr>
        <p:spPr>
          <a:xfrm>
            <a:off x="7965181" y="3761842"/>
            <a:ext cx="384048" cy="124358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56" name="don-d0-ov"/>
          <p:cNvSpPr txBox="1"/>
          <p:nvPr/>
        </p:nvSpPr>
        <p:spPr>
          <a:xfrm>
            <a:off x="7873741" y="354238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8 %</a:t>
            </a:r>
            <a:endParaRPr lang="en-US" sz="1000" dirty="0"/>
          </a:p>
        </p:txBody>
      </p:sp>
      <p:sp>
        <p:nvSpPr>
          <p:cNvPr id="57" name="don-d0-gb"/>
          <p:cNvSpPr/>
          <p:nvPr/>
        </p:nvSpPr>
        <p:spPr>
          <a:xfrm>
            <a:off x="8385805" y="3867912"/>
            <a:ext cx="384048" cy="1828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8" name="don-d0-gv"/>
          <p:cNvSpPr txBox="1"/>
          <p:nvPr/>
        </p:nvSpPr>
        <p:spPr>
          <a:xfrm>
            <a:off x="8294365" y="36484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1 %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7863840" y="3941064"/>
            <a:ext cx="10073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 km</a:t>
            </a:r>
            <a:endParaRPr lang="en-US" sz="1000" dirty="0"/>
          </a:p>
        </p:txBody>
      </p:sp>
      <p:sp>
        <p:nvSpPr>
          <p:cNvPr id="60" name="don-d-base"/>
          <p:cNvSpPr/>
          <p:nvPr/>
        </p:nvSpPr>
        <p:spPr>
          <a:xfrm>
            <a:off x="7863840" y="3886200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61" name="don-d1-ob"/>
          <p:cNvSpPr/>
          <p:nvPr/>
        </p:nvSpPr>
        <p:spPr>
          <a:xfrm>
            <a:off x="8972534" y="3342132"/>
            <a:ext cx="384048" cy="544068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62" name="don-d1-ov"/>
          <p:cNvSpPr txBox="1"/>
          <p:nvPr/>
        </p:nvSpPr>
        <p:spPr>
          <a:xfrm>
            <a:off x="8881094" y="31226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35 %</a:t>
            </a:r>
            <a:endParaRPr lang="en-US" sz="1000" dirty="0"/>
          </a:p>
        </p:txBody>
      </p:sp>
      <p:sp>
        <p:nvSpPr>
          <p:cNvPr id="63" name="don-d1-gb"/>
          <p:cNvSpPr/>
          <p:nvPr/>
        </p:nvSpPr>
        <p:spPr>
          <a:xfrm>
            <a:off x="9393158" y="3606394"/>
            <a:ext cx="384048" cy="279806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4" name="don-d1-gv"/>
          <p:cNvSpPr txBox="1"/>
          <p:nvPr/>
        </p:nvSpPr>
        <p:spPr>
          <a:xfrm>
            <a:off x="9301718" y="338693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18 %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8871193" y="3941064"/>
            <a:ext cx="10073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 km</a:t>
            </a:r>
            <a:endParaRPr lang="en-US" sz="1000" dirty="0"/>
          </a:p>
        </p:txBody>
      </p:sp>
      <p:sp>
        <p:nvSpPr>
          <p:cNvPr id="66" name="don-d2-ob"/>
          <p:cNvSpPr/>
          <p:nvPr/>
        </p:nvSpPr>
        <p:spPr>
          <a:xfrm>
            <a:off x="9979887" y="2906878"/>
            <a:ext cx="384048" cy="979322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67" name="don-d2-ov"/>
          <p:cNvSpPr txBox="1"/>
          <p:nvPr/>
        </p:nvSpPr>
        <p:spPr>
          <a:xfrm>
            <a:off x="9888447" y="268742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63 %</a:t>
            </a:r>
            <a:endParaRPr lang="en-US" sz="1000" dirty="0"/>
          </a:p>
        </p:txBody>
      </p:sp>
      <p:sp>
        <p:nvSpPr>
          <p:cNvPr id="68" name="don-d2-gb"/>
          <p:cNvSpPr/>
          <p:nvPr/>
        </p:nvSpPr>
        <p:spPr>
          <a:xfrm>
            <a:off x="10400511" y="3124505"/>
            <a:ext cx="384048" cy="761695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9" name="don-d2-gv"/>
          <p:cNvSpPr txBox="1"/>
          <p:nvPr/>
        </p:nvSpPr>
        <p:spPr>
          <a:xfrm>
            <a:off x="10309071" y="2905049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49 %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9878546" y="3941064"/>
            <a:ext cx="10073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 km</a:t>
            </a:r>
            <a:endParaRPr lang="en-US" sz="1000" dirty="0"/>
          </a:p>
        </p:txBody>
      </p:sp>
      <p:sp>
        <p:nvSpPr>
          <p:cNvPr id="71" name="don-d3-ob"/>
          <p:cNvSpPr/>
          <p:nvPr/>
        </p:nvSpPr>
        <p:spPr>
          <a:xfrm>
            <a:off x="10987240" y="2564892"/>
            <a:ext cx="384048" cy="1321308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72" name="don-d3-ov"/>
          <p:cNvSpPr txBox="1"/>
          <p:nvPr/>
        </p:nvSpPr>
        <p:spPr>
          <a:xfrm>
            <a:off x="10895800" y="23454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85 %</a:t>
            </a:r>
            <a:endParaRPr lang="en-US" sz="1000" dirty="0"/>
          </a:p>
        </p:txBody>
      </p:sp>
      <p:sp>
        <p:nvSpPr>
          <p:cNvPr id="73" name="don-d3-gb"/>
          <p:cNvSpPr/>
          <p:nvPr/>
        </p:nvSpPr>
        <p:spPr>
          <a:xfrm>
            <a:off x="11407864" y="2689250"/>
            <a:ext cx="384048" cy="119695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74" name="don-d3-gv"/>
          <p:cNvSpPr txBox="1"/>
          <p:nvPr/>
        </p:nvSpPr>
        <p:spPr>
          <a:xfrm>
            <a:off x="11316424" y="246979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77 %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10885899" y="3941064"/>
            <a:ext cx="10073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 km</a:t>
            </a:r>
            <a:endParaRPr lang="en-US" sz="1000" dirty="0"/>
          </a:p>
        </p:txBody>
      </p:sp>
      <p:sp>
        <p:nvSpPr>
          <p:cNvPr id="76" name="don-ley-0-b"/>
          <p:cNvSpPr/>
          <p:nvPr/>
        </p:nvSpPr>
        <p:spPr>
          <a:xfrm>
            <a:off x="7863840" y="4325112"/>
            <a:ext cx="118872" cy="118872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77" name="don-ley-0-t"/>
          <p:cNvSpPr txBox="1"/>
          <p:nvPr/>
        </p:nvSpPr>
        <p:spPr>
          <a:xfrm>
            <a:off x="8046720" y="42793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organizaciones</a:t>
            </a:r>
            <a:endParaRPr lang="en-US" sz="950" dirty="0"/>
          </a:p>
        </p:txBody>
      </p:sp>
      <p:sp>
        <p:nvSpPr>
          <p:cNvPr id="78" name="don-ley-1-b"/>
          <p:cNvSpPr/>
          <p:nvPr/>
        </p:nvSpPr>
        <p:spPr>
          <a:xfrm>
            <a:off x="9015984" y="4325112"/>
            <a:ext cx="118872" cy="11887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79" name="don-ley-1-t"/>
          <p:cNvSpPr txBox="1"/>
          <p:nvPr/>
        </p:nvSpPr>
        <p:spPr>
          <a:xfrm>
            <a:off x="9198864" y="42793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gasto de cámaras y juntas</a:t>
            </a:r>
            <a:endParaRPr lang="en-US" sz="950" dirty="0"/>
          </a:p>
        </p:txBody>
      </p:sp>
      <p:sp>
        <p:nvSpPr>
          <p:cNvPr id="80" name="don-txt"/>
          <p:cNvSpPr txBox="1"/>
          <p:nvPr/>
        </p:nvSpPr>
        <p:spPr>
          <a:xfrm>
            <a:off x="7863840" y="4572000"/>
            <a:ext cx="40294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60 km o menos: 63 % de las organizaciones y casi la mitad del gasto.</a:t>
            </a:r>
            <a:endParaRPr lang="en-US" sz="1200" dirty="0"/>
          </a:p>
        </p:txBody>
      </p:sp>
      <p:sp>
        <p:nvSpPr>
          <p:cNvPr id="81" name="don-c-l"/>
          <p:cNvSpPr/>
          <p:nvPr/>
        </p:nvSpPr>
        <p:spPr>
          <a:xfrm>
            <a:off x="7863840" y="5120640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82" name="don-c-n"/>
          <p:cNvSpPr txBox="1"/>
          <p:nvPr/>
        </p:nvSpPr>
        <p:spPr>
          <a:xfrm>
            <a:off x="7863840" y="5230368"/>
            <a:ext cx="40294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3000" dirty="0"/>
          </a:p>
        </p:txBody>
      </p:sp>
      <p:sp>
        <p:nvSpPr>
          <p:cNvPr id="83" name="don-c-t"/>
          <p:cNvSpPr txBox="1"/>
          <p:nvPr/>
        </p:nvSpPr>
        <p:spPr>
          <a:xfrm>
            <a:off x="7863840" y="5660136"/>
            <a:ext cx="40294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compradores públicos cercanos compran ropa varios años: 2,2 M€.</a:t>
            </a:r>
            <a:endParaRPr lang="en-US" sz="1200" dirty="0"/>
          </a:p>
        </p:txBody>
      </p:sp>
      <p:sp>
        <p:nvSpPr>
          <p:cNvPr id="84" name="don-c-e"/>
          <p:cNvSpPr txBox="1"/>
          <p:nvPr/>
        </p:nvSpPr>
        <p:spPr>
          <a:xfrm>
            <a:off x="7863840" y="60990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4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3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2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1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9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9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9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9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9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8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9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9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7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16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9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9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25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9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9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34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43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9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9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2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9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9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61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9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700"/>
                            </p:stCondLst>
                            <p:childTnLst>
                              <p:par>
                                <p:cTn id="1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28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28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28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28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28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28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28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28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980"/>
                            </p:stCondLst>
                            <p:childTnLst>
                              <p:par>
                                <p:cTn id="1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28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28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28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28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28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28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28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28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260"/>
                            </p:stCondLst>
                            <p:childTnLst>
                              <p:par>
                                <p:cTn id="14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28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28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28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28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28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28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28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28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540"/>
                            </p:stCondLst>
                            <p:childTnLst>
                              <p:par>
                                <p:cTn id="1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28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28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28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28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28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28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28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28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282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3120"/>
                            </p:stCondLst>
                            <p:childTnLst>
                              <p:par>
                                <p:cTn id="1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  <p:bldP spid="41" grpId="0" animBg="1"/>
      <p:bldP spid="42" grpId="0" animBg="1"/>
      <p:bldP spid="44" grpId="0" animBg="1"/>
      <p:bldP spid="45" grpId="0" animBg="1"/>
      <p:bldP spid="47" grpId="0" animBg="1"/>
      <p:bldP spid="48" grpId="0" animBg="1"/>
      <p:bldP spid="50" grpId="0" animBg="1"/>
      <p:bldP spid="51" grpId="0" animBg="1"/>
      <p:bldP spid="55" grpId="0" animBg="1"/>
      <p:bldP spid="56" grpId="0" animBg="1"/>
      <p:bldP spid="57" grpId="0" animBg="1"/>
      <p:bldP spid="58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67" grpId="0" animBg="1"/>
      <p:bldP spid="68" grpId="0" animBg="1"/>
      <p:bldP spid="69" grpId="0" animBg="1"/>
      <p:bldP spid="71" grpId="0" animBg="1"/>
      <p:bldP spid="72" grpId="0" animBg="1"/>
      <p:bldP spid="73" grpId="0" animBg="1"/>
      <p:bldP spid="74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Cuándo · H4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Resultados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 fiestas tienen fecha. Las compras, no tanto.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654234" y="17190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Contratos de cámaras y juntas por mes (2020-2025)</a:t>
            </a:r>
            <a:endParaRPr lang="en-US" sz="1050" dirty="0"/>
          </a:p>
        </p:txBody>
      </p:sp>
      <p:sp>
        <p:nvSpPr>
          <p:cNvPr id="7" name="cua-g0-0-b"/>
          <p:cNvSpPr/>
          <p:nvPr/>
        </p:nvSpPr>
        <p:spPr>
          <a:xfrm>
            <a:off x="2738816" y="2712720"/>
            <a:ext cx="253746" cy="10363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8" name="cua-g0-0-v"/>
          <p:cNvSpPr txBox="1"/>
          <p:nvPr/>
        </p:nvSpPr>
        <p:spPr>
          <a:xfrm>
            <a:off x="2562794" y="2484120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cua-g0-1-b"/>
          <p:cNvSpPr/>
          <p:nvPr/>
        </p:nvSpPr>
        <p:spPr>
          <a:xfrm>
            <a:off x="3161726" y="2419096"/>
            <a:ext cx="253746" cy="397256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0" name="cua-g0-1-v"/>
          <p:cNvSpPr txBox="1"/>
          <p:nvPr/>
        </p:nvSpPr>
        <p:spPr>
          <a:xfrm>
            <a:off x="2985704" y="2190496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23</a:t>
            </a:r>
            <a:endParaRPr lang="en-US" sz="900" dirty="0"/>
          </a:p>
        </p:txBody>
      </p:sp>
      <p:sp>
        <p:nvSpPr>
          <p:cNvPr id="11" name="cua-g0-2-b"/>
          <p:cNvSpPr/>
          <p:nvPr/>
        </p:nvSpPr>
        <p:spPr>
          <a:xfrm>
            <a:off x="3584636" y="2315464"/>
            <a:ext cx="253746" cy="50088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2" name="cua-g0-2-v"/>
          <p:cNvSpPr txBox="1"/>
          <p:nvPr/>
        </p:nvSpPr>
        <p:spPr>
          <a:xfrm>
            <a:off x="3408614" y="2086864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29</a:t>
            </a:r>
            <a:endParaRPr lang="en-US" sz="900" dirty="0"/>
          </a:p>
        </p:txBody>
      </p:sp>
      <p:sp>
        <p:nvSpPr>
          <p:cNvPr id="13" name="cua-g0-3-b"/>
          <p:cNvSpPr/>
          <p:nvPr/>
        </p:nvSpPr>
        <p:spPr>
          <a:xfrm>
            <a:off x="4007546" y="2574544"/>
            <a:ext cx="253746" cy="24180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4" name="cua-g0-3-v"/>
          <p:cNvSpPr txBox="1"/>
          <p:nvPr/>
        </p:nvSpPr>
        <p:spPr>
          <a:xfrm>
            <a:off x="3831524" y="2345944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900" dirty="0"/>
          </a:p>
        </p:txBody>
      </p:sp>
      <p:sp>
        <p:nvSpPr>
          <p:cNvPr id="15" name="cua-g0-4-b"/>
          <p:cNvSpPr/>
          <p:nvPr/>
        </p:nvSpPr>
        <p:spPr>
          <a:xfrm>
            <a:off x="4430456" y="2470912"/>
            <a:ext cx="253746" cy="34544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6" name="cua-g0-4-v"/>
          <p:cNvSpPr txBox="1"/>
          <p:nvPr/>
        </p:nvSpPr>
        <p:spPr>
          <a:xfrm>
            <a:off x="4254434" y="224231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</a:t>
            </a:r>
            <a:endParaRPr lang="en-US" sz="900" dirty="0"/>
          </a:p>
        </p:txBody>
      </p:sp>
      <p:sp>
        <p:nvSpPr>
          <p:cNvPr id="17" name="cua-g0-5-b"/>
          <p:cNvSpPr/>
          <p:nvPr/>
        </p:nvSpPr>
        <p:spPr>
          <a:xfrm>
            <a:off x="4853366" y="2453640"/>
            <a:ext cx="253746" cy="36271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8" name="cua-g0-5-v"/>
          <p:cNvSpPr txBox="1"/>
          <p:nvPr/>
        </p:nvSpPr>
        <p:spPr>
          <a:xfrm>
            <a:off x="4677344" y="2225040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</a:t>
            </a:r>
            <a:endParaRPr lang="en-US" sz="900" dirty="0"/>
          </a:p>
        </p:txBody>
      </p:sp>
      <p:sp>
        <p:nvSpPr>
          <p:cNvPr id="19" name="cua-g0-6-b"/>
          <p:cNvSpPr/>
          <p:nvPr/>
        </p:nvSpPr>
        <p:spPr>
          <a:xfrm>
            <a:off x="5276276" y="2332736"/>
            <a:ext cx="253746" cy="483616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0" name="cua-g0-6-v"/>
          <p:cNvSpPr txBox="1"/>
          <p:nvPr/>
        </p:nvSpPr>
        <p:spPr>
          <a:xfrm>
            <a:off x="5100254" y="2104136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</a:t>
            </a:r>
            <a:endParaRPr lang="en-US" sz="900" dirty="0"/>
          </a:p>
        </p:txBody>
      </p:sp>
      <p:sp>
        <p:nvSpPr>
          <p:cNvPr id="21" name="cua-g0-7-b"/>
          <p:cNvSpPr/>
          <p:nvPr/>
        </p:nvSpPr>
        <p:spPr>
          <a:xfrm>
            <a:off x="5699186" y="2194560"/>
            <a:ext cx="253746" cy="62179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2" name="cua-g0-7-v"/>
          <p:cNvSpPr txBox="1"/>
          <p:nvPr/>
        </p:nvSpPr>
        <p:spPr>
          <a:xfrm>
            <a:off x="5523164" y="1965960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36</a:t>
            </a:r>
            <a:endParaRPr lang="en-US" sz="900" dirty="0"/>
          </a:p>
        </p:txBody>
      </p:sp>
      <p:sp>
        <p:nvSpPr>
          <p:cNvPr id="23" name="cua-g0-8-b"/>
          <p:cNvSpPr/>
          <p:nvPr/>
        </p:nvSpPr>
        <p:spPr>
          <a:xfrm>
            <a:off x="6122096" y="2436368"/>
            <a:ext cx="253746" cy="379984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4" name="cua-g0-8-v"/>
          <p:cNvSpPr txBox="1"/>
          <p:nvPr/>
        </p:nvSpPr>
        <p:spPr>
          <a:xfrm>
            <a:off x="5946074" y="2207768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</a:t>
            </a:r>
            <a:endParaRPr lang="en-US" sz="900" dirty="0"/>
          </a:p>
        </p:txBody>
      </p:sp>
      <p:sp>
        <p:nvSpPr>
          <p:cNvPr id="25" name="cua-g0-9-b"/>
          <p:cNvSpPr/>
          <p:nvPr/>
        </p:nvSpPr>
        <p:spPr>
          <a:xfrm>
            <a:off x="6545006" y="2470912"/>
            <a:ext cx="253746" cy="34544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6" name="cua-g0-9-v"/>
          <p:cNvSpPr txBox="1"/>
          <p:nvPr/>
        </p:nvSpPr>
        <p:spPr>
          <a:xfrm>
            <a:off x="6368984" y="224231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</a:t>
            </a:r>
            <a:endParaRPr lang="en-US" sz="900" dirty="0"/>
          </a:p>
        </p:txBody>
      </p:sp>
      <p:sp>
        <p:nvSpPr>
          <p:cNvPr id="27" name="cua-g0-10-b"/>
          <p:cNvSpPr/>
          <p:nvPr/>
        </p:nvSpPr>
        <p:spPr>
          <a:xfrm>
            <a:off x="6967916" y="2505456"/>
            <a:ext cx="253746" cy="310896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8" name="cua-g0-10-v"/>
          <p:cNvSpPr txBox="1"/>
          <p:nvPr/>
        </p:nvSpPr>
        <p:spPr>
          <a:xfrm>
            <a:off x="6791894" y="2276856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</a:t>
            </a:r>
            <a:endParaRPr lang="en-US" sz="900" dirty="0"/>
          </a:p>
        </p:txBody>
      </p:sp>
      <p:sp>
        <p:nvSpPr>
          <p:cNvPr id="29" name="cua-g0-11-b"/>
          <p:cNvSpPr/>
          <p:nvPr/>
        </p:nvSpPr>
        <p:spPr>
          <a:xfrm>
            <a:off x="7390826" y="2332736"/>
            <a:ext cx="253746" cy="483616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0" name="cua-g0-11-v"/>
          <p:cNvSpPr txBox="1"/>
          <p:nvPr/>
        </p:nvSpPr>
        <p:spPr>
          <a:xfrm>
            <a:off x="7214804" y="2104136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</a:t>
            </a:r>
            <a:endParaRPr lang="en-US" sz="900" dirty="0"/>
          </a:p>
        </p:txBody>
      </p:sp>
      <p:sp>
        <p:nvSpPr>
          <p:cNvPr id="31" name="cua-g0-base"/>
          <p:cNvSpPr/>
          <p:nvPr/>
        </p:nvSpPr>
        <p:spPr>
          <a:xfrm>
            <a:off x="2654234" y="2816352"/>
            <a:ext cx="507492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54234" y="306324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Festivos municipales de los 66 municipios</a:t>
            </a:r>
            <a:endParaRPr lang="en-US" sz="1050" dirty="0"/>
          </a:p>
        </p:txBody>
      </p:sp>
      <p:sp>
        <p:nvSpPr>
          <p:cNvPr id="33" name="cua-g1-0-b"/>
          <p:cNvSpPr/>
          <p:nvPr/>
        </p:nvSpPr>
        <p:spPr>
          <a:xfrm>
            <a:off x="2738816" y="4116106"/>
            <a:ext cx="253746" cy="44414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34" name="cua-g1-0-v"/>
          <p:cNvSpPr txBox="1"/>
          <p:nvPr/>
        </p:nvSpPr>
        <p:spPr>
          <a:xfrm>
            <a:off x="2562794" y="3887506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cua-g1-1-b"/>
          <p:cNvSpPr/>
          <p:nvPr/>
        </p:nvSpPr>
        <p:spPr>
          <a:xfrm>
            <a:off x="3161726" y="4116106"/>
            <a:ext cx="253746" cy="44414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36" name="cua-g1-1-v"/>
          <p:cNvSpPr txBox="1"/>
          <p:nvPr/>
        </p:nvSpPr>
        <p:spPr>
          <a:xfrm>
            <a:off x="2985704" y="3887506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cua-g1-2-b"/>
          <p:cNvSpPr/>
          <p:nvPr/>
        </p:nvSpPr>
        <p:spPr>
          <a:xfrm>
            <a:off x="3584636" y="4071693"/>
            <a:ext cx="253746" cy="88827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38" name="cua-g1-2-v"/>
          <p:cNvSpPr txBox="1"/>
          <p:nvPr/>
        </p:nvSpPr>
        <p:spPr>
          <a:xfrm>
            <a:off x="3408614" y="3843093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cua-g1-3-b"/>
          <p:cNvSpPr/>
          <p:nvPr/>
        </p:nvSpPr>
        <p:spPr>
          <a:xfrm>
            <a:off x="4007546" y="3849624"/>
            <a:ext cx="253746" cy="310896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40" name="cua-g1-3-v"/>
          <p:cNvSpPr txBox="1"/>
          <p:nvPr/>
        </p:nvSpPr>
        <p:spPr>
          <a:xfrm>
            <a:off x="3831524" y="3621024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900" dirty="0"/>
          </a:p>
        </p:txBody>
      </p:sp>
      <p:sp>
        <p:nvSpPr>
          <p:cNvPr id="41" name="cua-g1-4-b"/>
          <p:cNvSpPr/>
          <p:nvPr/>
        </p:nvSpPr>
        <p:spPr>
          <a:xfrm>
            <a:off x="4430456" y="3849624"/>
            <a:ext cx="253746" cy="310896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42" name="cua-g1-4-v"/>
          <p:cNvSpPr txBox="1"/>
          <p:nvPr/>
        </p:nvSpPr>
        <p:spPr>
          <a:xfrm>
            <a:off x="4254434" y="3621024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900" dirty="0"/>
          </a:p>
        </p:txBody>
      </p:sp>
      <p:sp>
        <p:nvSpPr>
          <p:cNvPr id="43" name="cua-g1-5-b"/>
          <p:cNvSpPr/>
          <p:nvPr/>
        </p:nvSpPr>
        <p:spPr>
          <a:xfrm>
            <a:off x="4853366" y="3538728"/>
            <a:ext cx="253746" cy="621792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44" name="cua-g1-5-v"/>
          <p:cNvSpPr txBox="1"/>
          <p:nvPr/>
        </p:nvSpPr>
        <p:spPr>
          <a:xfrm>
            <a:off x="4677344" y="3310128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900" dirty="0"/>
          </a:p>
        </p:txBody>
      </p:sp>
      <p:sp>
        <p:nvSpPr>
          <p:cNvPr id="45" name="cua-g1-6-b"/>
          <p:cNvSpPr/>
          <p:nvPr/>
        </p:nvSpPr>
        <p:spPr>
          <a:xfrm>
            <a:off x="5276276" y="3760797"/>
            <a:ext cx="253746" cy="399723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46" name="cua-g1-6-v"/>
          <p:cNvSpPr txBox="1"/>
          <p:nvPr/>
        </p:nvSpPr>
        <p:spPr>
          <a:xfrm>
            <a:off x="5100254" y="3532197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900" dirty="0"/>
          </a:p>
        </p:txBody>
      </p:sp>
      <p:sp>
        <p:nvSpPr>
          <p:cNvPr id="47" name="cua-g1-7-b"/>
          <p:cNvSpPr/>
          <p:nvPr/>
        </p:nvSpPr>
        <p:spPr>
          <a:xfrm>
            <a:off x="5699186" y="3849624"/>
            <a:ext cx="253746" cy="310896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48" name="cua-g1-7-v"/>
          <p:cNvSpPr txBox="1"/>
          <p:nvPr/>
        </p:nvSpPr>
        <p:spPr>
          <a:xfrm>
            <a:off x="5523164" y="3621024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900" dirty="0"/>
          </a:p>
        </p:txBody>
      </p:sp>
      <p:sp>
        <p:nvSpPr>
          <p:cNvPr id="49" name="cua-g1-8-b"/>
          <p:cNvSpPr/>
          <p:nvPr/>
        </p:nvSpPr>
        <p:spPr>
          <a:xfrm>
            <a:off x="6122096" y="3583142"/>
            <a:ext cx="253746" cy="577378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50" name="cua-g1-8-v"/>
          <p:cNvSpPr txBox="1"/>
          <p:nvPr/>
        </p:nvSpPr>
        <p:spPr>
          <a:xfrm>
            <a:off x="5946074" y="335454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900" dirty="0"/>
          </a:p>
        </p:txBody>
      </p:sp>
      <p:sp>
        <p:nvSpPr>
          <p:cNvPr id="51" name="cua-g1-9-b"/>
          <p:cNvSpPr/>
          <p:nvPr/>
        </p:nvSpPr>
        <p:spPr>
          <a:xfrm>
            <a:off x="6545006" y="4027279"/>
            <a:ext cx="253746" cy="133241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52" name="cua-g1-9-v"/>
          <p:cNvSpPr txBox="1"/>
          <p:nvPr/>
        </p:nvSpPr>
        <p:spPr>
          <a:xfrm>
            <a:off x="6368984" y="3798679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53" name="cua-g1-10-b"/>
          <p:cNvSpPr/>
          <p:nvPr/>
        </p:nvSpPr>
        <p:spPr>
          <a:xfrm>
            <a:off x="6967916" y="4071693"/>
            <a:ext cx="253746" cy="88827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54" name="cua-g1-10-v"/>
          <p:cNvSpPr txBox="1"/>
          <p:nvPr/>
        </p:nvSpPr>
        <p:spPr>
          <a:xfrm>
            <a:off x="6791894" y="3843093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55" name="cua-g1-base"/>
          <p:cNvSpPr/>
          <p:nvPr/>
        </p:nvSpPr>
        <p:spPr>
          <a:xfrm>
            <a:off x="2654234" y="4160520"/>
            <a:ext cx="507492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654234" y="440740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Fiestas de los pueblos de Oliveira do Hospital</a:t>
            </a:r>
            <a:endParaRPr lang="en-US" sz="1050" dirty="0"/>
          </a:p>
        </p:txBody>
      </p:sp>
      <p:sp>
        <p:nvSpPr>
          <p:cNvPr id="57" name="cua-g2-0-b"/>
          <p:cNvSpPr/>
          <p:nvPr/>
        </p:nvSpPr>
        <p:spPr>
          <a:xfrm>
            <a:off x="2738816" y="5442509"/>
            <a:ext cx="253746" cy="62179"/>
          </a:xfrm>
          <a:prstGeom prst="rect">
            <a:avLst/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58" name="cua-g2-0-v"/>
          <p:cNvSpPr txBox="1"/>
          <p:nvPr/>
        </p:nvSpPr>
        <p:spPr>
          <a:xfrm>
            <a:off x="2562794" y="5213909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59" name="cua-g2-0-c"/>
          <p:cNvSpPr txBox="1"/>
          <p:nvPr/>
        </p:nvSpPr>
        <p:spPr>
          <a:xfrm>
            <a:off x="256279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ene</a:t>
            </a:r>
            <a:endParaRPr lang="en-US" sz="1000" dirty="0"/>
          </a:p>
        </p:txBody>
      </p:sp>
      <p:sp>
        <p:nvSpPr>
          <p:cNvPr id="60" name="cua-g2-1-c"/>
          <p:cNvSpPr txBox="1"/>
          <p:nvPr/>
        </p:nvSpPr>
        <p:spPr>
          <a:xfrm>
            <a:off x="298570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feb</a:t>
            </a:r>
            <a:endParaRPr lang="en-US" sz="1000" dirty="0"/>
          </a:p>
        </p:txBody>
      </p:sp>
      <p:sp>
        <p:nvSpPr>
          <p:cNvPr id="61" name="cua-g2-2-c"/>
          <p:cNvSpPr txBox="1"/>
          <p:nvPr/>
        </p:nvSpPr>
        <p:spPr>
          <a:xfrm>
            <a:off x="340861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</a:t>
            </a:r>
            <a:endParaRPr lang="en-US" sz="1000" dirty="0"/>
          </a:p>
        </p:txBody>
      </p:sp>
      <p:sp>
        <p:nvSpPr>
          <p:cNvPr id="62" name="cua-g2-3-c"/>
          <p:cNvSpPr txBox="1"/>
          <p:nvPr/>
        </p:nvSpPr>
        <p:spPr>
          <a:xfrm>
            <a:off x="383152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abr</a:t>
            </a:r>
            <a:endParaRPr lang="en-US" sz="1000" dirty="0"/>
          </a:p>
        </p:txBody>
      </p:sp>
      <p:sp>
        <p:nvSpPr>
          <p:cNvPr id="63" name="cua-g2-4-b"/>
          <p:cNvSpPr/>
          <p:nvPr/>
        </p:nvSpPr>
        <p:spPr>
          <a:xfrm>
            <a:off x="4430456" y="5318150"/>
            <a:ext cx="253746" cy="186538"/>
          </a:xfrm>
          <a:prstGeom prst="rect">
            <a:avLst/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64" name="cua-g2-4-v"/>
          <p:cNvSpPr txBox="1"/>
          <p:nvPr/>
        </p:nvSpPr>
        <p:spPr>
          <a:xfrm>
            <a:off x="4254434" y="5089550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65" name="cua-g2-4-c"/>
          <p:cNvSpPr txBox="1"/>
          <p:nvPr/>
        </p:nvSpPr>
        <p:spPr>
          <a:xfrm>
            <a:off x="425443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</a:t>
            </a:r>
            <a:endParaRPr lang="en-US" sz="1000" dirty="0"/>
          </a:p>
        </p:txBody>
      </p:sp>
      <p:sp>
        <p:nvSpPr>
          <p:cNvPr id="66" name="cua-g2-5-b"/>
          <p:cNvSpPr/>
          <p:nvPr/>
        </p:nvSpPr>
        <p:spPr>
          <a:xfrm>
            <a:off x="4853366" y="5193792"/>
            <a:ext cx="253746" cy="310896"/>
          </a:xfrm>
          <a:prstGeom prst="rect">
            <a:avLst/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67" name="cua-g2-5-v"/>
          <p:cNvSpPr txBox="1"/>
          <p:nvPr/>
        </p:nvSpPr>
        <p:spPr>
          <a:xfrm>
            <a:off x="4677344" y="496519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900" dirty="0"/>
          </a:p>
        </p:txBody>
      </p:sp>
      <p:sp>
        <p:nvSpPr>
          <p:cNvPr id="68" name="cua-g2-5-c"/>
          <p:cNvSpPr txBox="1"/>
          <p:nvPr/>
        </p:nvSpPr>
        <p:spPr>
          <a:xfrm>
            <a:off x="467734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jun</a:t>
            </a:r>
            <a:endParaRPr lang="en-US" sz="1000" dirty="0"/>
          </a:p>
        </p:txBody>
      </p:sp>
      <p:sp>
        <p:nvSpPr>
          <p:cNvPr id="69" name="cua-g2-6-b"/>
          <p:cNvSpPr/>
          <p:nvPr/>
        </p:nvSpPr>
        <p:spPr>
          <a:xfrm>
            <a:off x="5276276" y="5069434"/>
            <a:ext cx="253746" cy="435254"/>
          </a:xfrm>
          <a:prstGeom prst="rect">
            <a:avLst/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70" name="cua-g2-6-v"/>
          <p:cNvSpPr txBox="1"/>
          <p:nvPr/>
        </p:nvSpPr>
        <p:spPr>
          <a:xfrm>
            <a:off x="5100254" y="4840834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900" dirty="0"/>
          </a:p>
        </p:txBody>
      </p:sp>
      <p:sp>
        <p:nvSpPr>
          <p:cNvPr id="71" name="cua-g2-6-c"/>
          <p:cNvSpPr txBox="1"/>
          <p:nvPr/>
        </p:nvSpPr>
        <p:spPr>
          <a:xfrm>
            <a:off x="510025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</a:t>
            </a:r>
            <a:endParaRPr lang="en-US" sz="1000" dirty="0"/>
          </a:p>
        </p:txBody>
      </p:sp>
      <p:sp>
        <p:nvSpPr>
          <p:cNvPr id="72" name="cua-g2-7-b"/>
          <p:cNvSpPr/>
          <p:nvPr/>
        </p:nvSpPr>
        <p:spPr>
          <a:xfrm>
            <a:off x="5699186" y="4882896"/>
            <a:ext cx="253746" cy="621792"/>
          </a:xfrm>
          <a:prstGeom prst="rect">
            <a:avLst/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73" name="cua-g2-7-v"/>
          <p:cNvSpPr txBox="1"/>
          <p:nvPr/>
        </p:nvSpPr>
        <p:spPr>
          <a:xfrm>
            <a:off x="5523164" y="4654296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900" dirty="0"/>
          </a:p>
        </p:txBody>
      </p:sp>
      <p:sp>
        <p:nvSpPr>
          <p:cNvPr id="74" name="cua-g2-7-c"/>
          <p:cNvSpPr txBox="1"/>
          <p:nvPr/>
        </p:nvSpPr>
        <p:spPr>
          <a:xfrm>
            <a:off x="552316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ago</a:t>
            </a:r>
            <a:endParaRPr lang="en-US" sz="1000" dirty="0"/>
          </a:p>
        </p:txBody>
      </p:sp>
      <p:sp>
        <p:nvSpPr>
          <p:cNvPr id="75" name="cua-g2-8-b"/>
          <p:cNvSpPr/>
          <p:nvPr/>
        </p:nvSpPr>
        <p:spPr>
          <a:xfrm>
            <a:off x="6122096" y="5318150"/>
            <a:ext cx="253746" cy="186538"/>
          </a:xfrm>
          <a:prstGeom prst="rect">
            <a:avLst/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76" name="cua-g2-8-v"/>
          <p:cNvSpPr txBox="1"/>
          <p:nvPr/>
        </p:nvSpPr>
        <p:spPr>
          <a:xfrm>
            <a:off x="5946074" y="5089550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77" name="cua-g2-8-c"/>
          <p:cNvSpPr txBox="1"/>
          <p:nvPr/>
        </p:nvSpPr>
        <p:spPr>
          <a:xfrm>
            <a:off x="594607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</a:t>
            </a:r>
            <a:endParaRPr lang="en-US" sz="1000" dirty="0"/>
          </a:p>
        </p:txBody>
      </p:sp>
      <p:sp>
        <p:nvSpPr>
          <p:cNvPr id="78" name="cua-g2-9-c"/>
          <p:cNvSpPr txBox="1"/>
          <p:nvPr/>
        </p:nvSpPr>
        <p:spPr>
          <a:xfrm>
            <a:off x="636898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oct</a:t>
            </a:r>
            <a:endParaRPr lang="en-US" sz="1000" dirty="0"/>
          </a:p>
        </p:txBody>
      </p:sp>
      <p:sp>
        <p:nvSpPr>
          <p:cNvPr id="79" name="cua-g2-10-c"/>
          <p:cNvSpPr txBox="1"/>
          <p:nvPr/>
        </p:nvSpPr>
        <p:spPr>
          <a:xfrm>
            <a:off x="679189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</a:t>
            </a:r>
            <a:endParaRPr lang="en-US" sz="1000" dirty="0"/>
          </a:p>
        </p:txBody>
      </p:sp>
      <p:sp>
        <p:nvSpPr>
          <p:cNvPr id="80" name="cua-g2-11-b"/>
          <p:cNvSpPr/>
          <p:nvPr/>
        </p:nvSpPr>
        <p:spPr>
          <a:xfrm>
            <a:off x="7390826" y="5442509"/>
            <a:ext cx="253746" cy="62179"/>
          </a:xfrm>
          <a:prstGeom prst="rect">
            <a:avLst/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81" name="cua-g2-11-v"/>
          <p:cNvSpPr txBox="1"/>
          <p:nvPr/>
        </p:nvSpPr>
        <p:spPr>
          <a:xfrm>
            <a:off x="7214804" y="5213909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82" name="cua-g2-11-c"/>
          <p:cNvSpPr txBox="1"/>
          <p:nvPr/>
        </p:nvSpPr>
        <p:spPr>
          <a:xfrm>
            <a:off x="721480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dic</a:t>
            </a:r>
            <a:endParaRPr lang="en-US" sz="1000" dirty="0"/>
          </a:p>
        </p:txBody>
      </p:sp>
      <p:sp>
        <p:nvSpPr>
          <p:cNvPr id="83" name="cua-g2-base"/>
          <p:cNvSpPr/>
          <p:nvPr/>
        </p:nvSpPr>
        <p:spPr>
          <a:xfrm>
            <a:off x="2654234" y="5504688"/>
            <a:ext cx="507492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2654234" y="59893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Fuentes: Portal BASE, Wikipedia y recogida propia de las fiestas de los pueblos.</a:t>
            </a:r>
            <a:endParaRPr lang="en-US" sz="900" dirty="0"/>
          </a:p>
        </p:txBody>
      </p:sp>
      <p:sp>
        <p:nvSpPr>
          <p:cNvPr id="85" name="cua-c0-l"/>
          <p:cNvSpPr/>
          <p:nvPr/>
        </p:nvSpPr>
        <p:spPr>
          <a:xfrm>
            <a:off x="7863840" y="1719072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86" name="cua-c0-n"/>
          <p:cNvSpPr txBox="1"/>
          <p:nvPr/>
        </p:nvSpPr>
        <p:spPr>
          <a:xfrm>
            <a:off x="7863840" y="1828800"/>
            <a:ext cx="40294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 de 66</a:t>
            </a:r>
            <a:endParaRPr lang="en-US" sz="3000" dirty="0"/>
          </a:p>
        </p:txBody>
      </p:sp>
      <p:sp>
        <p:nvSpPr>
          <p:cNvPr id="87" name="cua-c0-t"/>
          <p:cNvSpPr txBox="1"/>
          <p:nvPr/>
        </p:nvSpPr>
        <p:spPr>
          <a:xfrm>
            <a:off x="7863840" y="2286000"/>
            <a:ext cx="40294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festivos municipales caen en junio o septiembre.</a:t>
            </a:r>
            <a:endParaRPr lang="en-US" sz="1200" dirty="0"/>
          </a:p>
        </p:txBody>
      </p:sp>
      <p:sp>
        <p:nvSpPr>
          <p:cNvPr id="88" name="cua-c0-e"/>
          <p:cNvSpPr txBox="1"/>
          <p:nvPr/>
        </p:nvSpPr>
        <p:spPr>
          <a:xfrm>
            <a:off x="7863840" y="27614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89" name="cua-c1-l"/>
          <p:cNvSpPr/>
          <p:nvPr/>
        </p:nvSpPr>
        <p:spPr>
          <a:xfrm>
            <a:off x="7863840" y="3017520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90" name="cua-c1-n"/>
          <p:cNvSpPr txBox="1"/>
          <p:nvPr/>
        </p:nvSpPr>
        <p:spPr>
          <a:xfrm>
            <a:off x="7863840" y="3127248"/>
            <a:ext cx="40294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 de 30</a:t>
            </a:r>
            <a:endParaRPr lang="en-US" sz="3000" dirty="0"/>
          </a:p>
        </p:txBody>
      </p:sp>
      <p:sp>
        <p:nvSpPr>
          <p:cNvPr id="91" name="cua-c1-t"/>
          <p:cNvSpPr txBox="1"/>
          <p:nvPr/>
        </p:nvSpPr>
        <p:spPr>
          <a:xfrm>
            <a:off x="7863840" y="3584448"/>
            <a:ext cx="40294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fiestas de los pueblos de Oliveira do Hospital son de junio a agosto.</a:t>
            </a:r>
            <a:endParaRPr lang="en-US" sz="1200" dirty="0"/>
          </a:p>
        </p:txBody>
      </p:sp>
      <p:sp>
        <p:nvSpPr>
          <p:cNvPr id="92" name="cua-c1-e"/>
          <p:cNvSpPr txBox="1"/>
          <p:nvPr/>
        </p:nvSpPr>
        <p:spPr>
          <a:xfrm>
            <a:off x="7863840" y="40599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93" name="cua-c2-l"/>
          <p:cNvSpPr/>
          <p:nvPr/>
        </p:nvSpPr>
        <p:spPr>
          <a:xfrm>
            <a:off x="7863840" y="4315968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94" name="cua-c2-n"/>
          <p:cNvSpPr txBox="1"/>
          <p:nvPr/>
        </p:nvSpPr>
        <p:spPr>
          <a:xfrm>
            <a:off x="7863840" y="4425696"/>
            <a:ext cx="40294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16 %</a:t>
            </a:r>
            <a:endParaRPr lang="en-US" sz="3000" dirty="0"/>
          </a:p>
        </p:txBody>
      </p:sp>
      <p:sp>
        <p:nvSpPr>
          <p:cNvPr id="95" name="cua-c2-t"/>
          <p:cNvSpPr txBox="1"/>
          <p:nvPr/>
        </p:nvSpPr>
        <p:spPr>
          <a:xfrm>
            <a:off x="7863840" y="4882896"/>
            <a:ext cx="40294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los contratos se firma en los 60 días previos al festivo; al azar saldría el 18 %.</a:t>
            </a:r>
            <a:endParaRPr lang="en-US" sz="1200" dirty="0"/>
          </a:p>
        </p:txBody>
      </p:sp>
      <p:sp>
        <p:nvSpPr>
          <p:cNvPr id="96" name="cua-c2-e"/>
          <p:cNvSpPr txBox="1"/>
          <p:nvPr/>
        </p:nvSpPr>
        <p:spPr>
          <a:xfrm>
            <a:off x="7863840" y="5358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97" name="cua-d-l"/>
          <p:cNvSpPr/>
          <p:nvPr/>
        </p:nvSpPr>
        <p:spPr>
          <a:xfrm>
            <a:off x="7863840" y="5632704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98" name="cua-d-t"/>
          <p:cNvSpPr txBox="1"/>
          <p:nvPr/>
        </p:nvSpPr>
        <p:spPr>
          <a:xfrm>
            <a:off x="7863840" y="5742432"/>
            <a:ext cx="4029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Llamar de 8 a 4 semanas antes de cada fiesta.</a:t>
            </a:r>
            <a:endParaRPr lang="en-US" sz="1300" dirty="0"/>
          </a:p>
        </p:txBody>
      </p:sp>
      <p:sp>
        <p:nvSpPr>
          <p:cNvPr id="99" name="cua-d-e"/>
          <p:cNvSpPr txBox="1"/>
          <p:nvPr/>
        </p:nvSpPr>
        <p:spPr>
          <a:xfrm>
            <a:off x="7863840" y="6071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80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4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4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250"/>
                            </p:stCondLst>
                            <p:childTnLst>
                              <p:par>
                                <p:cTn id="1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4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4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4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4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4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4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4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4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4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4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4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4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4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4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4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4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4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4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4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4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4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4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4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4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4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4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4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4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1700"/>
                            </p:stCondLst>
                            <p:childTnLst>
                              <p:par>
                                <p:cTn id="2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6"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2000"/>
                            </p:stCondLst>
                            <p:childTnLst>
                              <p:par>
                                <p:cTn id="2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3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2300"/>
                            </p:stCondLst>
                            <p:childTnLst>
                              <p:par>
                                <p:cTn id="2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4" dur="3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7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2600"/>
                            </p:stCondLst>
                            <p:childTnLst>
                              <p:par>
                                <p:cTn id="2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2900"/>
                            </p:stCondLst>
                            <p:childTnLst>
                              <p:par>
                                <p:cTn id="2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0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2" dur="3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5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3200"/>
                            </p:stCondLst>
                            <p:childTnLst>
                              <p:par>
                                <p:cTn id="2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3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3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3500"/>
                            </p:stCondLst>
                            <p:childTnLst>
                              <p:par>
                                <p:cTn id="3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3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3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7" grpId="0" animBg="1"/>
      <p:bldP spid="58" grpId="0" animBg="1"/>
      <p:bldP spid="63" grpId="0" animBg="1"/>
      <p:bldP spid="64" grpId="0" animBg="1"/>
      <p:bldP spid="66" grpId="0" animBg="1"/>
      <p:bldP spid="67" grpId="0" animBg="1"/>
      <p:bldP spid="69" grpId="0" animBg="1"/>
      <p:bldP spid="70" grpId="0" animBg="1"/>
      <p:bldP spid="72" grpId="0" animBg="1"/>
      <p:bldP spid="73" grpId="0" animBg="1"/>
      <p:bldP spid="75" grpId="0" animBg="1"/>
      <p:bldP spid="76" grpId="0" animBg="1"/>
      <p:bldP spid="80" grpId="0" animBg="1"/>
      <p:bldP spid="81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quién · H3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Resultados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que más interesan son los que menos se ven.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654234" y="17373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Organizaciones registradas por segmento y % con email público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654234" y="2103120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Colegios</a:t>
            </a:r>
            <a:endParaRPr lang="en-US" sz="1150" dirty="0"/>
          </a:p>
        </p:txBody>
      </p:sp>
      <p:sp>
        <p:nvSpPr>
          <p:cNvPr id="8" name="qui-g-0-b"/>
          <p:cNvSpPr/>
          <p:nvPr/>
        </p:nvSpPr>
        <p:spPr>
          <a:xfrm>
            <a:off x="4345874" y="2139696"/>
            <a:ext cx="1828800" cy="25603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9" name="qui-g-0-e"/>
          <p:cNvSpPr/>
          <p:nvPr/>
        </p:nvSpPr>
        <p:spPr>
          <a:xfrm>
            <a:off x="4345874" y="2139696"/>
            <a:ext cx="1463040" cy="256032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0" name="qui-g-0-v"/>
          <p:cNvSpPr txBox="1"/>
          <p:nvPr/>
        </p:nvSpPr>
        <p:spPr>
          <a:xfrm>
            <a:off x="6247826" y="21031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809 · 80 %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654234" y="263347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Cámaras y juntas</a:t>
            </a:r>
            <a:endParaRPr lang="en-US" sz="1150" dirty="0"/>
          </a:p>
        </p:txBody>
      </p:sp>
      <p:sp>
        <p:nvSpPr>
          <p:cNvPr id="12" name="qui-g-1-b"/>
          <p:cNvSpPr/>
          <p:nvPr/>
        </p:nvSpPr>
        <p:spPr>
          <a:xfrm>
            <a:off x="4345874" y="2670048"/>
            <a:ext cx="687213" cy="25603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3" name="qui-g-1-e"/>
          <p:cNvSpPr/>
          <p:nvPr/>
        </p:nvSpPr>
        <p:spPr>
          <a:xfrm>
            <a:off x="4345874" y="2670048"/>
            <a:ext cx="41233" cy="256032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4" name="qui-g-1-v"/>
          <p:cNvSpPr txBox="1"/>
          <p:nvPr/>
        </p:nvSpPr>
        <p:spPr>
          <a:xfrm>
            <a:off x="5106238" y="26334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304 · 6 %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654234" y="3163824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Pabellones y piscinas</a:t>
            </a:r>
            <a:endParaRPr lang="en-US" sz="1150" dirty="0"/>
          </a:p>
        </p:txBody>
      </p:sp>
      <p:sp>
        <p:nvSpPr>
          <p:cNvPr id="16" name="qui-g-2-b"/>
          <p:cNvSpPr/>
          <p:nvPr/>
        </p:nvSpPr>
        <p:spPr>
          <a:xfrm>
            <a:off x="4345874" y="3200400"/>
            <a:ext cx="427247" cy="25603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7" name="qui-g-2-e"/>
          <p:cNvSpPr/>
          <p:nvPr/>
        </p:nvSpPr>
        <p:spPr>
          <a:xfrm>
            <a:off x="4345874" y="3200400"/>
            <a:ext cx="8545" cy="256032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8" name="qui-g-2-v"/>
          <p:cNvSpPr txBox="1"/>
          <p:nvPr/>
        </p:nvSpPr>
        <p:spPr>
          <a:xfrm>
            <a:off x="4846273" y="31638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189 · 2 %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654234" y="3694176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Bomberos</a:t>
            </a:r>
            <a:endParaRPr lang="en-US" sz="1150" dirty="0"/>
          </a:p>
        </p:txBody>
      </p:sp>
      <p:sp>
        <p:nvSpPr>
          <p:cNvPr id="20" name="qui-g-3-b"/>
          <p:cNvSpPr/>
          <p:nvPr/>
        </p:nvSpPr>
        <p:spPr>
          <a:xfrm>
            <a:off x="4345874" y="3730752"/>
            <a:ext cx="244141" cy="25603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1" name="qui-g-3-e"/>
          <p:cNvSpPr/>
          <p:nvPr/>
        </p:nvSpPr>
        <p:spPr>
          <a:xfrm>
            <a:off x="4345874" y="3730752"/>
            <a:ext cx="43945" cy="256032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2" name="qui-g-3-v"/>
          <p:cNvSpPr txBox="1"/>
          <p:nvPr/>
        </p:nvSpPr>
        <p:spPr>
          <a:xfrm>
            <a:off x="4663167" y="36941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108 · 18 %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654234" y="4224528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Asociaciones</a:t>
            </a:r>
            <a:endParaRPr lang="en-US" sz="1150" dirty="0"/>
          </a:p>
        </p:txBody>
      </p:sp>
      <p:sp>
        <p:nvSpPr>
          <p:cNvPr id="24" name="qui-g-4-b"/>
          <p:cNvSpPr/>
          <p:nvPr/>
        </p:nvSpPr>
        <p:spPr>
          <a:xfrm>
            <a:off x="4345874" y="4261104"/>
            <a:ext cx="183106" cy="25603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5" name="qui-g-4-e"/>
          <p:cNvSpPr/>
          <p:nvPr/>
        </p:nvSpPr>
        <p:spPr>
          <a:xfrm>
            <a:off x="4345874" y="4261104"/>
            <a:ext cx="10986" cy="256032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6" name="qui-g-4-v"/>
          <p:cNvSpPr txBox="1"/>
          <p:nvPr/>
        </p:nvSpPr>
        <p:spPr>
          <a:xfrm>
            <a:off x="4602132" y="42245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81 · 6 %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654234" y="4754880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Clubes</a:t>
            </a:r>
            <a:endParaRPr lang="en-US" sz="1150" dirty="0"/>
          </a:p>
        </p:txBody>
      </p:sp>
      <p:sp>
        <p:nvSpPr>
          <p:cNvPr id="28" name="qui-g-5-b"/>
          <p:cNvSpPr/>
          <p:nvPr/>
        </p:nvSpPr>
        <p:spPr>
          <a:xfrm>
            <a:off x="4345874" y="4791456"/>
            <a:ext cx="137895" cy="25603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9" name="qui-g-5-e"/>
          <p:cNvSpPr/>
          <p:nvPr/>
        </p:nvSpPr>
        <p:spPr>
          <a:xfrm>
            <a:off x="4345874" y="4791456"/>
            <a:ext cx="11032" cy="256032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30" name="qui-g-5-v"/>
          <p:cNvSpPr txBox="1"/>
          <p:nvPr/>
        </p:nvSpPr>
        <p:spPr>
          <a:xfrm>
            <a:off x="4556920" y="47548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61 · 8 %</a:t>
            </a:r>
            <a:endParaRPr lang="en-US" sz="1050" dirty="0"/>
          </a:p>
        </p:txBody>
      </p:sp>
      <p:sp>
        <p:nvSpPr>
          <p:cNvPr id="31" name="qui-ley-0-b"/>
          <p:cNvSpPr/>
          <p:nvPr/>
        </p:nvSpPr>
        <p:spPr>
          <a:xfrm>
            <a:off x="2654234" y="5486400"/>
            <a:ext cx="118872" cy="118872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32" name="qui-ley-0-t"/>
          <p:cNvSpPr txBox="1"/>
          <p:nvPr/>
        </p:nvSpPr>
        <p:spPr>
          <a:xfrm>
            <a:off x="2837114" y="5440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email público</a:t>
            </a:r>
            <a:endParaRPr lang="en-US" sz="950" dirty="0"/>
          </a:p>
        </p:txBody>
      </p:sp>
      <p:sp>
        <p:nvSpPr>
          <p:cNvPr id="33" name="qui-ley-1-b"/>
          <p:cNvSpPr/>
          <p:nvPr/>
        </p:nvSpPr>
        <p:spPr>
          <a:xfrm>
            <a:off x="3984686" y="5486400"/>
            <a:ext cx="118872" cy="11887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4" name="qui-ley-1-t"/>
          <p:cNvSpPr txBox="1"/>
          <p:nvPr/>
        </p:nvSpPr>
        <p:spPr>
          <a:xfrm>
            <a:off x="4167566" y="5440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 email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2654234" y="576072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Fuente: OpenStreetMap.</a:t>
            </a:r>
            <a:endParaRPr lang="en-US" sz="900" dirty="0"/>
          </a:p>
        </p:txBody>
      </p:sp>
      <p:sp>
        <p:nvSpPr>
          <p:cNvPr id="36" name="qui-dato"/>
          <p:cNvSpPr txBox="1"/>
          <p:nvPr/>
        </p:nvSpPr>
        <p:spPr>
          <a:xfrm>
            <a:off x="2654234" y="6035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37" name="qui-c0-n"/>
          <p:cNvSpPr txBox="1"/>
          <p:nvPr/>
        </p:nvSpPr>
        <p:spPr>
          <a:xfrm>
            <a:off x="7863840" y="1691640"/>
            <a:ext cx="40294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400" b="1" spc="-256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de 5</a:t>
            </a:r>
            <a:endParaRPr lang="en-US" sz="6400" dirty="0"/>
          </a:p>
        </p:txBody>
      </p:sp>
      <p:sp>
        <p:nvSpPr>
          <p:cNvPr id="38" name="qui-c0-t"/>
          <p:cNvSpPr txBox="1"/>
          <p:nvPr/>
        </p:nvSpPr>
        <p:spPr>
          <a:xfrm>
            <a:off x="7863840" y="2606040"/>
            <a:ext cx="40294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clientes actuales de beira. no aparecen en los datos públicos.</a:t>
            </a:r>
            <a:endParaRPr lang="en-US" sz="1300" dirty="0"/>
          </a:p>
        </p:txBody>
      </p:sp>
      <p:sp>
        <p:nvSpPr>
          <p:cNvPr id="39" name="qui-c0-e"/>
          <p:cNvSpPr txBox="1"/>
          <p:nvPr/>
        </p:nvSpPr>
        <p:spPr>
          <a:xfrm>
            <a:off x="7863840" y="3108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40" name="qui-c1-l"/>
          <p:cNvSpPr/>
          <p:nvPr/>
        </p:nvSpPr>
        <p:spPr>
          <a:xfrm>
            <a:off x="7863840" y="3611880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41" name="qui-c1-n"/>
          <p:cNvSpPr txBox="1"/>
          <p:nvPr/>
        </p:nvSpPr>
        <p:spPr>
          <a:xfrm>
            <a:off x="7863840" y="3721608"/>
            <a:ext cx="40294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44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7 %</a:t>
            </a:r>
            <a:endParaRPr lang="en-US" sz="3600" dirty="0"/>
          </a:p>
        </p:txBody>
      </p:sp>
      <p:sp>
        <p:nvSpPr>
          <p:cNvPr id="42" name="qui-c1-t"/>
          <p:cNvSpPr txBox="1"/>
          <p:nvPr/>
        </p:nvSpPr>
        <p:spPr>
          <a:xfrm>
            <a:off x="7863840" y="4288536"/>
            <a:ext cx="40294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las organizaciones tiene email si no se cuentan los colegios.</a:t>
            </a:r>
            <a:endParaRPr lang="en-US" sz="1200" dirty="0"/>
          </a:p>
        </p:txBody>
      </p:sp>
      <p:sp>
        <p:nvSpPr>
          <p:cNvPr id="43" name="qui-c1-e"/>
          <p:cNvSpPr txBox="1"/>
          <p:nvPr/>
        </p:nvSpPr>
        <p:spPr>
          <a:xfrm>
            <a:off x="7863840" y="4754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44" name="qui-d-l"/>
          <p:cNvSpPr/>
          <p:nvPr/>
        </p:nvSpPr>
        <p:spPr>
          <a:xfrm>
            <a:off x="7863840" y="5166360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45" name="qui-d-t"/>
          <p:cNvSpPr txBox="1"/>
          <p:nvPr/>
        </p:nvSpPr>
        <p:spPr>
          <a:xfrm>
            <a:off x="7863840" y="5276088"/>
            <a:ext cx="40294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piloto tiene que encontrar a los clubes en el terreno y guardar lo que aprenda.</a:t>
            </a:r>
            <a:endParaRPr lang="en-US" sz="1300" dirty="0"/>
          </a:p>
        </p:txBody>
      </p:sp>
      <p:sp>
        <p:nvSpPr>
          <p:cNvPr id="46" name="qui-d-e"/>
          <p:cNvSpPr txBox="1"/>
          <p:nvPr/>
        </p:nvSpPr>
        <p:spPr>
          <a:xfrm>
            <a:off x="7863840" y="58247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9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7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1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4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4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4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4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4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19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390"/>
                            </p:stCondLst>
                            <p:childTnLst>
                              <p:par>
                                <p:cTn id="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84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9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39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69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quién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Resultados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mercado más grande casi no tiene email.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654234" y="17373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Negocios de la oferta Trabajo en OpenStreetMap, municipios del piloto</a:t>
            </a:r>
            <a:endParaRPr lang="en-US" sz="1100" dirty="0"/>
          </a:p>
        </p:txBody>
      </p:sp>
      <p:sp>
        <p:nvSpPr>
          <p:cNvPr id="7" name="tra-g-0-et"/>
          <p:cNvSpPr txBox="1"/>
          <p:nvPr/>
        </p:nvSpPr>
        <p:spPr>
          <a:xfrm>
            <a:off x="2654234" y="210312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Seia</a:t>
            </a:r>
            <a:endParaRPr lang="en-US" sz="1050" dirty="0"/>
          </a:p>
        </p:txBody>
      </p:sp>
      <p:sp>
        <p:nvSpPr>
          <p:cNvPr id="8" name="tra-g-0-b0"/>
          <p:cNvSpPr/>
          <p:nvPr/>
        </p:nvSpPr>
        <p:spPr>
          <a:xfrm>
            <a:off x="4254434" y="2194560"/>
            <a:ext cx="1599692" cy="27432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9" name="tra-g-0-b1"/>
          <p:cNvSpPr/>
          <p:nvPr/>
        </p:nvSpPr>
        <p:spPr>
          <a:xfrm>
            <a:off x="5854126" y="2194560"/>
            <a:ext cx="1123188" cy="27432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0" name="tra-g-0-b2"/>
          <p:cNvSpPr/>
          <p:nvPr/>
        </p:nvSpPr>
        <p:spPr>
          <a:xfrm>
            <a:off x="6977314" y="2194560"/>
            <a:ext cx="238252" cy="274320"/>
          </a:xfrm>
          <a:prstGeom prst="rect">
            <a:avLst/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11" name="tra-g-0-b3"/>
          <p:cNvSpPr/>
          <p:nvPr/>
        </p:nvSpPr>
        <p:spPr>
          <a:xfrm>
            <a:off x="7215566" y="2194560"/>
            <a:ext cx="34036" cy="27432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tra-g-0-v"/>
          <p:cNvSpPr txBox="1"/>
          <p:nvPr/>
        </p:nvSpPr>
        <p:spPr>
          <a:xfrm>
            <a:off x="7322754" y="2103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88</a:t>
            </a:r>
            <a:endParaRPr lang="en-US" sz="1050" dirty="0"/>
          </a:p>
        </p:txBody>
      </p:sp>
      <p:sp>
        <p:nvSpPr>
          <p:cNvPr id="13" name="tra-g-1-et"/>
          <p:cNvSpPr txBox="1"/>
          <p:nvPr/>
        </p:nvSpPr>
        <p:spPr>
          <a:xfrm>
            <a:off x="2654234" y="256032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Oliveira do Hospital</a:t>
            </a:r>
            <a:endParaRPr lang="en-US" sz="1050" dirty="0"/>
          </a:p>
        </p:txBody>
      </p:sp>
      <p:sp>
        <p:nvSpPr>
          <p:cNvPr id="14" name="tra-g-1-b0"/>
          <p:cNvSpPr/>
          <p:nvPr/>
        </p:nvSpPr>
        <p:spPr>
          <a:xfrm>
            <a:off x="4254434" y="2651760"/>
            <a:ext cx="1157224" cy="27432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5" name="tra-g-1-b1"/>
          <p:cNvSpPr/>
          <p:nvPr/>
        </p:nvSpPr>
        <p:spPr>
          <a:xfrm>
            <a:off x="5411658" y="2651760"/>
            <a:ext cx="1055116" cy="27432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6" name="tra-g-1-b2"/>
          <p:cNvSpPr/>
          <p:nvPr/>
        </p:nvSpPr>
        <p:spPr>
          <a:xfrm>
            <a:off x="6466774" y="2651760"/>
            <a:ext cx="408432" cy="274320"/>
          </a:xfrm>
          <a:prstGeom prst="rect">
            <a:avLst/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17" name="tra-g-1-b3"/>
          <p:cNvSpPr/>
          <p:nvPr/>
        </p:nvSpPr>
        <p:spPr>
          <a:xfrm>
            <a:off x="6875206" y="2651760"/>
            <a:ext cx="204216" cy="27432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8" name="tra-g-1-v"/>
          <p:cNvSpPr txBox="1"/>
          <p:nvPr/>
        </p:nvSpPr>
        <p:spPr>
          <a:xfrm>
            <a:off x="7152574" y="25603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</a:t>
            </a:r>
            <a:endParaRPr lang="en-US" sz="1050" dirty="0"/>
          </a:p>
        </p:txBody>
      </p:sp>
      <p:sp>
        <p:nvSpPr>
          <p:cNvPr id="19" name="tra-g-2-et"/>
          <p:cNvSpPr txBox="1"/>
          <p:nvPr/>
        </p:nvSpPr>
        <p:spPr>
          <a:xfrm>
            <a:off x="2654234" y="301752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Arganil</a:t>
            </a:r>
            <a:endParaRPr lang="en-US" sz="1050" dirty="0"/>
          </a:p>
        </p:txBody>
      </p:sp>
      <p:sp>
        <p:nvSpPr>
          <p:cNvPr id="20" name="tra-g-2-b0"/>
          <p:cNvSpPr/>
          <p:nvPr/>
        </p:nvSpPr>
        <p:spPr>
          <a:xfrm>
            <a:off x="4254434" y="3108960"/>
            <a:ext cx="748792" cy="27432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1" name="tra-g-2-b1"/>
          <p:cNvSpPr/>
          <p:nvPr/>
        </p:nvSpPr>
        <p:spPr>
          <a:xfrm>
            <a:off x="5003226" y="3108960"/>
            <a:ext cx="1055116" cy="27432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2" name="tra-g-2-b2"/>
          <p:cNvSpPr/>
          <p:nvPr/>
        </p:nvSpPr>
        <p:spPr>
          <a:xfrm>
            <a:off x="6058342" y="3108960"/>
            <a:ext cx="136144" cy="274320"/>
          </a:xfrm>
          <a:prstGeom prst="rect">
            <a:avLst/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23" name="tra-g-2-b3"/>
          <p:cNvSpPr/>
          <p:nvPr/>
        </p:nvSpPr>
        <p:spPr>
          <a:xfrm>
            <a:off x="6194486" y="3108960"/>
            <a:ext cx="170180" cy="27432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4" name="tra-g-2-v"/>
          <p:cNvSpPr txBox="1"/>
          <p:nvPr/>
        </p:nvSpPr>
        <p:spPr>
          <a:xfrm>
            <a:off x="6437818" y="30175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62</a:t>
            </a:r>
            <a:endParaRPr lang="en-US" sz="1050" dirty="0"/>
          </a:p>
        </p:txBody>
      </p:sp>
      <p:sp>
        <p:nvSpPr>
          <p:cNvPr id="25" name="tra-g-3-et"/>
          <p:cNvSpPr txBox="1"/>
          <p:nvPr/>
        </p:nvSpPr>
        <p:spPr>
          <a:xfrm>
            <a:off x="2654234" y="347472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Tábua</a:t>
            </a:r>
            <a:endParaRPr lang="en-US" sz="1050" dirty="0"/>
          </a:p>
        </p:txBody>
      </p:sp>
      <p:sp>
        <p:nvSpPr>
          <p:cNvPr id="26" name="tra-g-3-b0"/>
          <p:cNvSpPr/>
          <p:nvPr/>
        </p:nvSpPr>
        <p:spPr>
          <a:xfrm>
            <a:off x="4254434" y="3566160"/>
            <a:ext cx="442468" cy="27432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7" name="tra-g-3-b1"/>
          <p:cNvSpPr/>
          <p:nvPr/>
        </p:nvSpPr>
        <p:spPr>
          <a:xfrm>
            <a:off x="4696902" y="3566160"/>
            <a:ext cx="374396" cy="27432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8" name="tra-g-3-b2"/>
          <p:cNvSpPr/>
          <p:nvPr/>
        </p:nvSpPr>
        <p:spPr>
          <a:xfrm>
            <a:off x="5071298" y="3566160"/>
            <a:ext cx="68072" cy="274320"/>
          </a:xfrm>
          <a:prstGeom prst="rect">
            <a:avLst/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29" name="tra-g-3-b3"/>
          <p:cNvSpPr/>
          <p:nvPr/>
        </p:nvSpPr>
        <p:spPr>
          <a:xfrm>
            <a:off x="5139370" y="3566160"/>
            <a:ext cx="68072" cy="27432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0" name="tra-g-3-v"/>
          <p:cNvSpPr txBox="1"/>
          <p:nvPr/>
        </p:nvSpPr>
        <p:spPr>
          <a:xfrm>
            <a:off x="5280594" y="34747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</a:t>
            </a:r>
            <a:endParaRPr lang="en-US" sz="1050" dirty="0"/>
          </a:p>
        </p:txBody>
      </p:sp>
      <p:sp>
        <p:nvSpPr>
          <p:cNvPr id="31" name="tra-g-4-et"/>
          <p:cNvSpPr txBox="1"/>
          <p:nvPr/>
        </p:nvSpPr>
        <p:spPr>
          <a:xfrm>
            <a:off x="2654234" y="393192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Carregal do Sal</a:t>
            </a:r>
            <a:endParaRPr lang="en-US" sz="1050" dirty="0"/>
          </a:p>
        </p:txBody>
      </p:sp>
      <p:sp>
        <p:nvSpPr>
          <p:cNvPr id="32" name="tra-g-4-b0"/>
          <p:cNvSpPr/>
          <p:nvPr/>
        </p:nvSpPr>
        <p:spPr>
          <a:xfrm>
            <a:off x="4254434" y="4023360"/>
            <a:ext cx="204216" cy="27432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33" name="tra-g-4-b1"/>
          <p:cNvSpPr/>
          <p:nvPr/>
        </p:nvSpPr>
        <p:spPr>
          <a:xfrm>
            <a:off x="4458650" y="4023360"/>
            <a:ext cx="340360" cy="27432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4" name="tra-g-4-b3"/>
          <p:cNvSpPr/>
          <p:nvPr/>
        </p:nvSpPr>
        <p:spPr>
          <a:xfrm>
            <a:off x="4799010" y="4023360"/>
            <a:ext cx="204216" cy="27432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5" name="tra-g-4-v"/>
          <p:cNvSpPr txBox="1"/>
          <p:nvPr/>
        </p:nvSpPr>
        <p:spPr>
          <a:xfrm>
            <a:off x="5076378" y="39319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</a:t>
            </a:r>
            <a:endParaRPr lang="en-US" sz="1050" dirty="0"/>
          </a:p>
        </p:txBody>
      </p:sp>
      <p:sp>
        <p:nvSpPr>
          <p:cNvPr id="36" name="tra-g-5-et"/>
          <p:cNvSpPr txBox="1"/>
          <p:nvPr/>
        </p:nvSpPr>
        <p:spPr>
          <a:xfrm>
            <a:off x="2654234" y="438912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Nelas</a:t>
            </a:r>
            <a:endParaRPr lang="en-US" sz="1050" dirty="0"/>
          </a:p>
        </p:txBody>
      </p:sp>
      <p:sp>
        <p:nvSpPr>
          <p:cNvPr id="37" name="tra-g-5-b0"/>
          <p:cNvSpPr/>
          <p:nvPr/>
        </p:nvSpPr>
        <p:spPr>
          <a:xfrm>
            <a:off x="4254434" y="4480560"/>
            <a:ext cx="306324" cy="27432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38" name="tra-g-5-b1"/>
          <p:cNvSpPr/>
          <p:nvPr/>
        </p:nvSpPr>
        <p:spPr>
          <a:xfrm>
            <a:off x="4560758" y="4480560"/>
            <a:ext cx="204216" cy="27432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9" name="tra-g-5-b2"/>
          <p:cNvSpPr/>
          <p:nvPr/>
        </p:nvSpPr>
        <p:spPr>
          <a:xfrm>
            <a:off x="4764974" y="4480560"/>
            <a:ext cx="136144" cy="274320"/>
          </a:xfrm>
          <a:prstGeom prst="rect">
            <a:avLst/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40" name="tra-g-5-b3"/>
          <p:cNvSpPr/>
          <p:nvPr/>
        </p:nvSpPr>
        <p:spPr>
          <a:xfrm>
            <a:off x="4901118" y="4480560"/>
            <a:ext cx="34036" cy="27432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1" name="tra-g-5-v"/>
          <p:cNvSpPr txBox="1"/>
          <p:nvPr/>
        </p:nvSpPr>
        <p:spPr>
          <a:xfrm>
            <a:off x="5008306" y="4389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</a:t>
            </a:r>
            <a:endParaRPr lang="en-US" sz="1050" dirty="0"/>
          </a:p>
        </p:txBody>
      </p:sp>
      <p:sp>
        <p:nvSpPr>
          <p:cNvPr id="42" name="tra-ley-0-b"/>
          <p:cNvSpPr/>
          <p:nvPr/>
        </p:nvSpPr>
        <p:spPr>
          <a:xfrm>
            <a:off x="2654234" y="5029200"/>
            <a:ext cx="118872" cy="118872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43" name="tra-ley-0-t"/>
          <p:cNvSpPr txBox="1"/>
          <p:nvPr/>
        </p:nvSpPr>
        <p:spPr>
          <a:xfrm>
            <a:off x="2837114" y="4983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restaurantes</a:t>
            </a:r>
            <a:endParaRPr lang="en-US" sz="950" dirty="0"/>
          </a:p>
        </p:txBody>
      </p:sp>
      <p:sp>
        <p:nvSpPr>
          <p:cNvPr id="44" name="tra-ley-1-b"/>
          <p:cNvSpPr/>
          <p:nvPr/>
        </p:nvSpPr>
        <p:spPr>
          <a:xfrm>
            <a:off x="3687506" y="5029200"/>
            <a:ext cx="118872" cy="11887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5" name="tra-ley-1-t"/>
          <p:cNvSpPr txBox="1"/>
          <p:nvPr/>
        </p:nvSpPr>
        <p:spPr>
          <a:xfrm>
            <a:off x="3870386" y="4983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cafés</a:t>
            </a:r>
            <a:endParaRPr lang="en-US" sz="950" dirty="0"/>
          </a:p>
        </p:txBody>
      </p:sp>
      <p:sp>
        <p:nvSpPr>
          <p:cNvPr id="46" name="tra-ley-2-b"/>
          <p:cNvSpPr/>
          <p:nvPr/>
        </p:nvSpPr>
        <p:spPr>
          <a:xfrm>
            <a:off x="4304726" y="5029200"/>
            <a:ext cx="118872" cy="118872"/>
          </a:xfrm>
          <a:prstGeom prst="rect">
            <a:avLst/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47" name="tra-ley-2-t"/>
          <p:cNvSpPr txBox="1"/>
          <p:nvPr/>
        </p:nvSpPr>
        <p:spPr>
          <a:xfrm>
            <a:off x="4487606" y="4983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hoteles</a:t>
            </a:r>
            <a:endParaRPr lang="en-US" sz="950" dirty="0"/>
          </a:p>
        </p:txBody>
      </p:sp>
      <p:sp>
        <p:nvSpPr>
          <p:cNvPr id="48" name="tra-ley-3-b"/>
          <p:cNvSpPr/>
          <p:nvPr/>
        </p:nvSpPr>
        <p:spPr>
          <a:xfrm>
            <a:off x="5040818" y="5029200"/>
            <a:ext cx="118872" cy="11887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9" name="tra-ley-3-t"/>
          <p:cNvSpPr txBox="1"/>
          <p:nvPr/>
        </p:nvSpPr>
        <p:spPr>
          <a:xfrm>
            <a:off x="5223698" y="4983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instituciones sociales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2654234" y="576072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Fuente: OpenStreetMap. 300 negocios en los 6 municipios del piloto.</a:t>
            </a:r>
            <a:endParaRPr lang="en-US" sz="900" dirty="0"/>
          </a:p>
        </p:txBody>
      </p:sp>
      <p:sp>
        <p:nvSpPr>
          <p:cNvPr id="51" name="tra-dato"/>
          <p:cNvSpPr txBox="1"/>
          <p:nvPr/>
        </p:nvSpPr>
        <p:spPr>
          <a:xfrm>
            <a:off x="2654234" y="6035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52" name="tra-c0-l"/>
          <p:cNvSpPr/>
          <p:nvPr/>
        </p:nvSpPr>
        <p:spPr>
          <a:xfrm>
            <a:off x="7863840" y="1719072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53" name="tra-c0-n"/>
          <p:cNvSpPr txBox="1"/>
          <p:nvPr/>
        </p:nvSpPr>
        <p:spPr>
          <a:xfrm>
            <a:off x="7863840" y="1828800"/>
            <a:ext cx="40294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3.000</a:t>
            </a:r>
            <a:endParaRPr lang="en-US" sz="3000" dirty="0"/>
          </a:p>
        </p:txBody>
      </p:sp>
      <p:sp>
        <p:nvSpPr>
          <p:cNvPr id="54" name="tra-c0-t"/>
          <p:cNvSpPr txBox="1"/>
          <p:nvPr/>
        </p:nvSpPr>
        <p:spPr>
          <a:xfrm>
            <a:off x="7863840" y="2286000"/>
            <a:ext cx="40294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cafés, restaurantes, hoteles e instituciones sociales en el mapa: casi el doble que las 1.600 organizaciones.</a:t>
            </a:r>
            <a:endParaRPr lang="en-US" sz="1200" dirty="0"/>
          </a:p>
        </p:txBody>
      </p:sp>
      <p:sp>
        <p:nvSpPr>
          <p:cNvPr id="55" name="tra-c0-e"/>
          <p:cNvSpPr txBox="1"/>
          <p:nvPr/>
        </p:nvSpPr>
        <p:spPr>
          <a:xfrm>
            <a:off x="7863840" y="27614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56" name="tra-c2-l"/>
          <p:cNvSpPr/>
          <p:nvPr/>
        </p:nvSpPr>
        <p:spPr>
          <a:xfrm>
            <a:off x="7863840" y="4315968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57" name="tra-c2-n"/>
          <p:cNvSpPr txBox="1"/>
          <p:nvPr/>
        </p:nvSpPr>
        <p:spPr>
          <a:xfrm>
            <a:off x="7863840" y="4425696"/>
            <a:ext cx="40294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4.000</a:t>
            </a:r>
            <a:endParaRPr lang="en-US" sz="3000" dirty="0"/>
          </a:p>
        </p:txBody>
      </p:sp>
      <p:sp>
        <p:nvSpPr>
          <p:cNvPr id="58" name="tra-c2-t"/>
          <p:cNvSpPr txBox="1"/>
          <p:nvPr/>
        </p:nvSpPr>
        <p:spPr>
          <a:xfrm>
            <a:off x="7863840" y="4882896"/>
            <a:ext cx="40294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sociedades de alojamiento y restauración en la región, según el INE (2022).</a:t>
            </a:r>
            <a:endParaRPr lang="en-US" sz="1200" dirty="0"/>
          </a:p>
        </p:txBody>
      </p:sp>
      <p:sp>
        <p:nvSpPr>
          <p:cNvPr id="59" name="tra-c2-e"/>
          <p:cNvSpPr txBox="1"/>
          <p:nvPr/>
        </p:nvSpPr>
        <p:spPr>
          <a:xfrm>
            <a:off x="7863840" y="5358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60" name="tra-w-l"/>
          <p:cNvSpPr/>
          <p:nvPr/>
        </p:nvSpPr>
        <p:spPr>
          <a:xfrm>
            <a:off x="7863840" y="3017520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61" name="tra-w-g0"/>
          <p:cNvSpPr/>
          <p:nvPr/>
        </p:nvSpPr>
        <p:spPr>
          <a:xfrm>
            <a:off x="7863840" y="315468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62" name="tra-w-g1"/>
          <p:cNvSpPr/>
          <p:nvPr/>
        </p:nvSpPr>
        <p:spPr>
          <a:xfrm>
            <a:off x="7969910" y="315468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63" name="tra-w-g2"/>
          <p:cNvSpPr/>
          <p:nvPr/>
        </p:nvSpPr>
        <p:spPr>
          <a:xfrm>
            <a:off x="8075981" y="315468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64" name="tra-w-g3"/>
          <p:cNvSpPr/>
          <p:nvPr/>
        </p:nvSpPr>
        <p:spPr>
          <a:xfrm>
            <a:off x="8182051" y="315468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65" name="tra-w-g4"/>
          <p:cNvSpPr/>
          <p:nvPr/>
        </p:nvSpPr>
        <p:spPr>
          <a:xfrm>
            <a:off x="8288122" y="315468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66" name="tra-w-g5"/>
          <p:cNvSpPr/>
          <p:nvPr/>
        </p:nvSpPr>
        <p:spPr>
          <a:xfrm>
            <a:off x="8394192" y="315468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67" name="tra-w-g6"/>
          <p:cNvSpPr/>
          <p:nvPr/>
        </p:nvSpPr>
        <p:spPr>
          <a:xfrm>
            <a:off x="8500262" y="315468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68" name="tra-w-g7"/>
          <p:cNvSpPr/>
          <p:nvPr/>
        </p:nvSpPr>
        <p:spPr>
          <a:xfrm>
            <a:off x="8606333" y="315468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69" name="tra-w-g8"/>
          <p:cNvSpPr/>
          <p:nvPr/>
        </p:nvSpPr>
        <p:spPr>
          <a:xfrm>
            <a:off x="8712403" y="315468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70" name="tra-w-g9"/>
          <p:cNvSpPr/>
          <p:nvPr/>
        </p:nvSpPr>
        <p:spPr>
          <a:xfrm>
            <a:off x="8818474" y="315468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71" name="tra-w-g10"/>
          <p:cNvSpPr/>
          <p:nvPr/>
        </p:nvSpPr>
        <p:spPr>
          <a:xfrm>
            <a:off x="7863840" y="326075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72" name="tra-w-g11"/>
          <p:cNvSpPr/>
          <p:nvPr/>
        </p:nvSpPr>
        <p:spPr>
          <a:xfrm>
            <a:off x="7969910" y="326075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73" name="tra-w-g12"/>
          <p:cNvSpPr/>
          <p:nvPr/>
        </p:nvSpPr>
        <p:spPr>
          <a:xfrm>
            <a:off x="8075981" y="326075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74" name="tra-w-g13"/>
          <p:cNvSpPr/>
          <p:nvPr/>
        </p:nvSpPr>
        <p:spPr>
          <a:xfrm>
            <a:off x="8182051" y="326075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75" name="tra-w-g14"/>
          <p:cNvSpPr/>
          <p:nvPr/>
        </p:nvSpPr>
        <p:spPr>
          <a:xfrm>
            <a:off x="8288122" y="326075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76" name="tra-w-g15"/>
          <p:cNvSpPr/>
          <p:nvPr/>
        </p:nvSpPr>
        <p:spPr>
          <a:xfrm>
            <a:off x="8394192" y="326075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77" name="tra-w-g16"/>
          <p:cNvSpPr/>
          <p:nvPr/>
        </p:nvSpPr>
        <p:spPr>
          <a:xfrm>
            <a:off x="8500262" y="326075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78" name="tra-w-g17"/>
          <p:cNvSpPr/>
          <p:nvPr/>
        </p:nvSpPr>
        <p:spPr>
          <a:xfrm>
            <a:off x="8606333" y="326075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79" name="tra-w-g18"/>
          <p:cNvSpPr/>
          <p:nvPr/>
        </p:nvSpPr>
        <p:spPr>
          <a:xfrm>
            <a:off x="8712403" y="326075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80" name="tra-w-g19"/>
          <p:cNvSpPr/>
          <p:nvPr/>
        </p:nvSpPr>
        <p:spPr>
          <a:xfrm>
            <a:off x="8818474" y="3260750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81" name="tra-w-g20"/>
          <p:cNvSpPr/>
          <p:nvPr/>
        </p:nvSpPr>
        <p:spPr>
          <a:xfrm>
            <a:off x="7863840" y="336682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82" name="tra-w-g21"/>
          <p:cNvSpPr/>
          <p:nvPr/>
        </p:nvSpPr>
        <p:spPr>
          <a:xfrm>
            <a:off x="7969910" y="336682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83" name="tra-w-g22"/>
          <p:cNvSpPr/>
          <p:nvPr/>
        </p:nvSpPr>
        <p:spPr>
          <a:xfrm>
            <a:off x="8075981" y="336682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84" name="tra-w-g23"/>
          <p:cNvSpPr/>
          <p:nvPr/>
        </p:nvSpPr>
        <p:spPr>
          <a:xfrm>
            <a:off x="8182051" y="336682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85" name="tra-w-g24"/>
          <p:cNvSpPr/>
          <p:nvPr/>
        </p:nvSpPr>
        <p:spPr>
          <a:xfrm>
            <a:off x="8288122" y="336682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86" name="tra-w-g25"/>
          <p:cNvSpPr/>
          <p:nvPr/>
        </p:nvSpPr>
        <p:spPr>
          <a:xfrm>
            <a:off x="8394192" y="336682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87" name="tra-w-g26"/>
          <p:cNvSpPr/>
          <p:nvPr/>
        </p:nvSpPr>
        <p:spPr>
          <a:xfrm>
            <a:off x="8500262" y="336682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88" name="tra-w-g27"/>
          <p:cNvSpPr/>
          <p:nvPr/>
        </p:nvSpPr>
        <p:spPr>
          <a:xfrm>
            <a:off x="8606333" y="336682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89" name="tra-w-g28"/>
          <p:cNvSpPr/>
          <p:nvPr/>
        </p:nvSpPr>
        <p:spPr>
          <a:xfrm>
            <a:off x="8712403" y="336682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90" name="tra-w-g29"/>
          <p:cNvSpPr/>
          <p:nvPr/>
        </p:nvSpPr>
        <p:spPr>
          <a:xfrm>
            <a:off x="8818474" y="336682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91" name="tra-w-g30"/>
          <p:cNvSpPr/>
          <p:nvPr/>
        </p:nvSpPr>
        <p:spPr>
          <a:xfrm>
            <a:off x="7863840" y="347289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92" name="tra-w-g31"/>
          <p:cNvSpPr/>
          <p:nvPr/>
        </p:nvSpPr>
        <p:spPr>
          <a:xfrm>
            <a:off x="7969910" y="347289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93" name="tra-w-g32"/>
          <p:cNvSpPr/>
          <p:nvPr/>
        </p:nvSpPr>
        <p:spPr>
          <a:xfrm>
            <a:off x="8075981" y="347289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94" name="tra-w-g33"/>
          <p:cNvSpPr/>
          <p:nvPr/>
        </p:nvSpPr>
        <p:spPr>
          <a:xfrm>
            <a:off x="8182051" y="347289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95" name="tra-w-g34"/>
          <p:cNvSpPr/>
          <p:nvPr/>
        </p:nvSpPr>
        <p:spPr>
          <a:xfrm>
            <a:off x="8288122" y="347289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96" name="tra-w-g35"/>
          <p:cNvSpPr/>
          <p:nvPr/>
        </p:nvSpPr>
        <p:spPr>
          <a:xfrm>
            <a:off x="8394192" y="347289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97" name="tra-w-g36"/>
          <p:cNvSpPr/>
          <p:nvPr/>
        </p:nvSpPr>
        <p:spPr>
          <a:xfrm>
            <a:off x="8500262" y="347289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98" name="tra-w-g37"/>
          <p:cNvSpPr/>
          <p:nvPr/>
        </p:nvSpPr>
        <p:spPr>
          <a:xfrm>
            <a:off x="8606333" y="347289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99" name="tra-w-g38"/>
          <p:cNvSpPr/>
          <p:nvPr/>
        </p:nvSpPr>
        <p:spPr>
          <a:xfrm>
            <a:off x="8712403" y="347289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00" name="tra-w-g39"/>
          <p:cNvSpPr/>
          <p:nvPr/>
        </p:nvSpPr>
        <p:spPr>
          <a:xfrm>
            <a:off x="8818474" y="3472891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01" name="tra-w-g40"/>
          <p:cNvSpPr/>
          <p:nvPr/>
        </p:nvSpPr>
        <p:spPr>
          <a:xfrm>
            <a:off x="7863840" y="357896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02" name="tra-w-g41"/>
          <p:cNvSpPr/>
          <p:nvPr/>
        </p:nvSpPr>
        <p:spPr>
          <a:xfrm>
            <a:off x="7969910" y="357896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03" name="tra-w-g42"/>
          <p:cNvSpPr/>
          <p:nvPr/>
        </p:nvSpPr>
        <p:spPr>
          <a:xfrm>
            <a:off x="8075981" y="357896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04" name="tra-w-g43"/>
          <p:cNvSpPr/>
          <p:nvPr/>
        </p:nvSpPr>
        <p:spPr>
          <a:xfrm>
            <a:off x="8182051" y="357896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05" name="tra-w-g44"/>
          <p:cNvSpPr/>
          <p:nvPr/>
        </p:nvSpPr>
        <p:spPr>
          <a:xfrm>
            <a:off x="8288122" y="357896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06" name="tra-w-g45"/>
          <p:cNvSpPr/>
          <p:nvPr/>
        </p:nvSpPr>
        <p:spPr>
          <a:xfrm>
            <a:off x="8394192" y="357896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07" name="tra-w-g46"/>
          <p:cNvSpPr/>
          <p:nvPr/>
        </p:nvSpPr>
        <p:spPr>
          <a:xfrm>
            <a:off x="8500262" y="357896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08" name="tra-w-g47"/>
          <p:cNvSpPr/>
          <p:nvPr/>
        </p:nvSpPr>
        <p:spPr>
          <a:xfrm>
            <a:off x="8606333" y="357896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09" name="tra-w-g48"/>
          <p:cNvSpPr/>
          <p:nvPr/>
        </p:nvSpPr>
        <p:spPr>
          <a:xfrm>
            <a:off x="8712403" y="357896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10" name="tra-w-g49"/>
          <p:cNvSpPr/>
          <p:nvPr/>
        </p:nvSpPr>
        <p:spPr>
          <a:xfrm>
            <a:off x="8818474" y="357896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11" name="tra-w-g50"/>
          <p:cNvSpPr/>
          <p:nvPr/>
        </p:nvSpPr>
        <p:spPr>
          <a:xfrm>
            <a:off x="7863840" y="368503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12" name="tra-w-g51"/>
          <p:cNvSpPr/>
          <p:nvPr/>
        </p:nvSpPr>
        <p:spPr>
          <a:xfrm>
            <a:off x="7969910" y="368503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13" name="tra-w-g52"/>
          <p:cNvSpPr/>
          <p:nvPr/>
        </p:nvSpPr>
        <p:spPr>
          <a:xfrm>
            <a:off x="8075981" y="368503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14" name="tra-w-g53"/>
          <p:cNvSpPr/>
          <p:nvPr/>
        </p:nvSpPr>
        <p:spPr>
          <a:xfrm>
            <a:off x="8182051" y="368503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15" name="tra-w-g54"/>
          <p:cNvSpPr/>
          <p:nvPr/>
        </p:nvSpPr>
        <p:spPr>
          <a:xfrm>
            <a:off x="8288122" y="368503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16" name="tra-w-g55"/>
          <p:cNvSpPr/>
          <p:nvPr/>
        </p:nvSpPr>
        <p:spPr>
          <a:xfrm>
            <a:off x="8394192" y="368503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17" name="tra-w-g56"/>
          <p:cNvSpPr/>
          <p:nvPr/>
        </p:nvSpPr>
        <p:spPr>
          <a:xfrm>
            <a:off x="8500262" y="368503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18" name="tra-w-g57"/>
          <p:cNvSpPr/>
          <p:nvPr/>
        </p:nvSpPr>
        <p:spPr>
          <a:xfrm>
            <a:off x="8606333" y="368503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19" name="tra-w-g58"/>
          <p:cNvSpPr/>
          <p:nvPr/>
        </p:nvSpPr>
        <p:spPr>
          <a:xfrm>
            <a:off x="8712403" y="368503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20" name="tra-w-g59"/>
          <p:cNvSpPr/>
          <p:nvPr/>
        </p:nvSpPr>
        <p:spPr>
          <a:xfrm>
            <a:off x="8818474" y="368503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21" name="tra-w-g60"/>
          <p:cNvSpPr/>
          <p:nvPr/>
        </p:nvSpPr>
        <p:spPr>
          <a:xfrm>
            <a:off x="7863840" y="379110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22" name="tra-w-g61"/>
          <p:cNvSpPr/>
          <p:nvPr/>
        </p:nvSpPr>
        <p:spPr>
          <a:xfrm>
            <a:off x="7969910" y="379110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23" name="tra-w-g62"/>
          <p:cNvSpPr/>
          <p:nvPr/>
        </p:nvSpPr>
        <p:spPr>
          <a:xfrm>
            <a:off x="8075981" y="379110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24" name="tra-w-g63"/>
          <p:cNvSpPr/>
          <p:nvPr/>
        </p:nvSpPr>
        <p:spPr>
          <a:xfrm>
            <a:off x="8182051" y="379110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25" name="tra-w-g64"/>
          <p:cNvSpPr/>
          <p:nvPr/>
        </p:nvSpPr>
        <p:spPr>
          <a:xfrm>
            <a:off x="8288122" y="379110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26" name="tra-w-g65"/>
          <p:cNvSpPr/>
          <p:nvPr/>
        </p:nvSpPr>
        <p:spPr>
          <a:xfrm>
            <a:off x="8394192" y="379110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27" name="tra-w-g66"/>
          <p:cNvSpPr/>
          <p:nvPr/>
        </p:nvSpPr>
        <p:spPr>
          <a:xfrm>
            <a:off x="8500262" y="379110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28" name="tra-w-g67"/>
          <p:cNvSpPr/>
          <p:nvPr/>
        </p:nvSpPr>
        <p:spPr>
          <a:xfrm>
            <a:off x="8606333" y="379110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29" name="tra-w-g68"/>
          <p:cNvSpPr/>
          <p:nvPr/>
        </p:nvSpPr>
        <p:spPr>
          <a:xfrm>
            <a:off x="8712403" y="379110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30" name="tra-w-g69"/>
          <p:cNvSpPr/>
          <p:nvPr/>
        </p:nvSpPr>
        <p:spPr>
          <a:xfrm>
            <a:off x="8818474" y="3791102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31" name="tra-w-g70"/>
          <p:cNvSpPr/>
          <p:nvPr/>
        </p:nvSpPr>
        <p:spPr>
          <a:xfrm>
            <a:off x="7863840" y="389717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32" name="tra-w-g71"/>
          <p:cNvSpPr/>
          <p:nvPr/>
        </p:nvSpPr>
        <p:spPr>
          <a:xfrm>
            <a:off x="7969910" y="389717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33" name="tra-w-g72"/>
          <p:cNvSpPr/>
          <p:nvPr/>
        </p:nvSpPr>
        <p:spPr>
          <a:xfrm>
            <a:off x="8075981" y="389717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34" name="tra-w-g73"/>
          <p:cNvSpPr/>
          <p:nvPr/>
        </p:nvSpPr>
        <p:spPr>
          <a:xfrm>
            <a:off x="8182051" y="389717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35" name="tra-w-g74"/>
          <p:cNvSpPr/>
          <p:nvPr/>
        </p:nvSpPr>
        <p:spPr>
          <a:xfrm>
            <a:off x="8288122" y="389717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36" name="tra-w-g75"/>
          <p:cNvSpPr/>
          <p:nvPr/>
        </p:nvSpPr>
        <p:spPr>
          <a:xfrm>
            <a:off x="8394192" y="389717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37" name="tra-w-g76"/>
          <p:cNvSpPr/>
          <p:nvPr/>
        </p:nvSpPr>
        <p:spPr>
          <a:xfrm>
            <a:off x="8500262" y="389717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38" name="tra-w-g77"/>
          <p:cNvSpPr/>
          <p:nvPr/>
        </p:nvSpPr>
        <p:spPr>
          <a:xfrm>
            <a:off x="8606333" y="389717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39" name="tra-w-g78"/>
          <p:cNvSpPr/>
          <p:nvPr/>
        </p:nvSpPr>
        <p:spPr>
          <a:xfrm>
            <a:off x="8712403" y="389717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40" name="tra-w-g79"/>
          <p:cNvSpPr/>
          <p:nvPr/>
        </p:nvSpPr>
        <p:spPr>
          <a:xfrm>
            <a:off x="8818474" y="389717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41" name="tra-w-g80"/>
          <p:cNvSpPr/>
          <p:nvPr/>
        </p:nvSpPr>
        <p:spPr>
          <a:xfrm>
            <a:off x="7863840" y="400324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42" name="tra-w-g81"/>
          <p:cNvSpPr/>
          <p:nvPr/>
        </p:nvSpPr>
        <p:spPr>
          <a:xfrm>
            <a:off x="7969910" y="400324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43" name="tra-w-g82"/>
          <p:cNvSpPr/>
          <p:nvPr/>
        </p:nvSpPr>
        <p:spPr>
          <a:xfrm>
            <a:off x="8075981" y="400324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44" name="tra-w-g83"/>
          <p:cNvSpPr/>
          <p:nvPr/>
        </p:nvSpPr>
        <p:spPr>
          <a:xfrm>
            <a:off x="8182051" y="400324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45" name="tra-w-g84"/>
          <p:cNvSpPr/>
          <p:nvPr/>
        </p:nvSpPr>
        <p:spPr>
          <a:xfrm>
            <a:off x="8288122" y="400324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46" name="tra-w-g85"/>
          <p:cNvSpPr/>
          <p:nvPr/>
        </p:nvSpPr>
        <p:spPr>
          <a:xfrm>
            <a:off x="8394192" y="400324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47" name="tra-w-g86"/>
          <p:cNvSpPr/>
          <p:nvPr/>
        </p:nvSpPr>
        <p:spPr>
          <a:xfrm>
            <a:off x="8500262" y="400324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48" name="tra-w-g87"/>
          <p:cNvSpPr/>
          <p:nvPr/>
        </p:nvSpPr>
        <p:spPr>
          <a:xfrm>
            <a:off x="8606333" y="400324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49" name="tra-w-g88"/>
          <p:cNvSpPr/>
          <p:nvPr/>
        </p:nvSpPr>
        <p:spPr>
          <a:xfrm>
            <a:off x="8712403" y="400324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50" name="tra-w-g89"/>
          <p:cNvSpPr/>
          <p:nvPr/>
        </p:nvSpPr>
        <p:spPr>
          <a:xfrm>
            <a:off x="8818474" y="4003243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51" name="tra-w-on0"/>
          <p:cNvSpPr/>
          <p:nvPr/>
        </p:nvSpPr>
        <p:spPr>
          <a:xfrm>
            <a:off x="7863840" y="4109314"/>
            <a:ext cx="76810" cy="7681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52" name="tra-w-on1"/>
          <p:cNvSpPr/>
          <p:nvPr/>
        </p:nvSpPr>
        <p:spPr>
          <a:xfrm>
            <a:off x="7969910" y="4109314"/>
            <a:ext cx="76810" cy="7681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53" name="tra-w-on2"/>
          <p:cNvSpPr/>
          <p:nvPr/>
        </p:nvSpPr>
        <p:spPr>
          <a:xfrm>
            <a:off x="8075981" y="4109314"/>
            <a:ext cx="76810" cy="7681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54" name="tra-w-on3"/>
          <p:cNvSpPr/>
          <p:nvPr/>
        </p:nvSpPr>
        <p:spPr>
          <a:xfrm>
            <a:off x="8182051" y="4109314"/>
            <a:ext cx="76810" cy="7681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55" name="tra-w-g94"/>
          <p:cNvSpPr/>
          <p:nvPr/>
        </p:nvSpPr>
        <p:spPr>
          <a:xfrm>
            <a:off x="8288122" y="4109314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56" name="tra-w-g95"/>
          <p:cNvSpPr/>
          <p:nvPr/>
        </p:nvSpPr>
        <p:spPr>
          <a:xfrm>
            <a:off x="8394192" y="4109314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57" name="tra-w-g96"/>
          <p:cNvSpPr/>
          <p:nvPr/>
        </p:nvSpPr>
        <p:spPr>
          <a:xfrm>
            <a:off x="8500262" y="4109314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58" name="tra-w-g97"/>
          <p:cNvSpPr/>
          <p:nvPr/>
        </p:nvSpPr>
        <p:spPr>
          <a:xfrm>
            <a:off x="8606333" y="4109314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59" name="tra-w-g98"/>
          <p:cNvSpPr/>
          <p:nvPr/>
        </p:nvSpPr>
        <p:spPr>
          <a:xfrm>
            <a:off x="8712403" y="4109314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60" name="tra-w-g99"/>
          <p:cNvSpPr/>
          <p:nvPr/>
        </p:nvSpPr>
        <p:spPr>
          <a:xfrm>
            <a:off x="8818474" y="4109314"/>
            <a:ext cx="76810" cy="76810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61" name="tra-w-n"/>
          <p:cNvSpPr txBox="1"/>
          <p:nvPr/>
        </p:nvSpPr>
        <p:spPr>
          <a:xfrm>
            <a:off x="9153144" y="3127248"/>
            <a:ext cx="274010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4 %</a:t>
            </a:r>
            <a:endParaRPr lang="en-US" sz="3000" dirty="0"/>
          </a:p>
        </p:txBody>
      </p:sp>
      <p:sp>
        <p:nvSpPr>
          <p:cNvPr id="162" name="tra-w-t"/>
          <p:cNvSpPr txBox="1"/>
          <p:nvPr/>
        </p:nvSpPr>
        <p:spPr>
          <a:xfrm>
            <a:off x="9153144" y="3584448"/>
            <a:ext cx="27401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tiene email público. Los cafés, el 1 %; los hoteles, el 16 %.</a:t>
            </a:r>
            <a:endParaRPr lang="en-US" sz="1200" dirty="0"/>
          </a:p>
        </p:txBody>
      </p:sp>
      <p:sp>
        <p:nvSpPr>
          <p:cNvPr id="163" name="tra-w-e"/>
          <p:cNvSpPr txBox="1"/>
          <p:nvPr/>
        </p:nvSpPr>
        <p:spPr>
          <a:xfrm>
            <a:off x="9153144" y="40599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164" name="tra-d-l"/>
          <p:cNvSpPr/>
          <p:nvPr/>
        </p:nvSpPr>
        <p:spPr>
          <a:xfrm>
            <a:off x="7863840" y="5632704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65" name="tra-d-t"/>
          <p:cNvSpPr txBox="1"/>
          <p:nvPr/>
        </p:nvSpPr>
        <p:spPr>
          <a:xfrm>
            <a:off x="7863840" y="5742432"/>
            <a:ext cx="4029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Trabajo: a pie, y primero los hoteles.</a:t>
            </a:r>
            <a:endParaRPr lang="en-US" sz="1300" dirty="0"/>
          </a:p>
        </p:txBody>
      </p:sp>
      <p:sp>
        <p:nvSpPr>
          <p:cNvPr id="166" name="tra-d-e"/>
          <p:cNvSpPr txBox="1"/>
          <p:nvPr/>
        </p:nvSpPr>
        <p:spPr>
          <a:xfrm>
            <a:off x="7863840" y="6071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3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1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9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7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5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43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630"/>
                            </p:stCondLst>
                            <p:childTnLst>
                              <p:par>
                                <p:cTn id="1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93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23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3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3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3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3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3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3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3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3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3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3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3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3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3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3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3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3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3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3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3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3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3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3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0" dur="3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6" dur="3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2" dur="3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8" dur="3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3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3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0" dur="3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6" dur="3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3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" dur="3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8" dur="3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3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4" dur="3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0" dur="3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4" fill="hold">
                            <p:stCondLst>
                              <p:cond delay="2530"/>
                            </p:stCondLst>
                            <p:childTnLst>
                              <p:par>
                                <p:cTn id="4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7" dur="4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8" dur="4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9" dur="4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4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4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4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7" dur="4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8" dur="4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9" dur="4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2" dur="4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4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4" dur="4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fill="hold">
                            <p:stCondLst>
                              <p:cond delay="2930"/>
                            </p:stCondLst>
                            <p:childTnLst>
                              <p:par>
                                <p:cTn id="4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8" dur="2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25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25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5" fill="hold">
                            <p:stCondLst>
                              <p:cond delay="3180"/>
                            </p:stCondLst>
                            <p:childTnLst>
                              <p:par>
                                <p:cTn id="4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8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9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0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3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6" fill="hold">
                            <p:stCondLst>
                              <p:cond delay="3480"/>
                            </p:stCondLst>
                            <p:childTnLst>
                              <p:par>
                                <p:cTn id="4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" fill="hold">
                            <p:stCondLst>
                              <p:cond delay="3780"/>
                            </p:stCondLst>
                            <p:childTnLst>
                              <p:par>
                                <p:cTn id="5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6" dur="3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9" dur="3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2" dur="3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2" grpId="0" animBg="1"/>
      <p:bldP spid="53" grpId="0" animBg="1"/>
      <p:bldP spid="54" grpId="0" animBg="1"/>
      <p:bldP spid="55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51" grpId="0" animBg="1"/>
      <p:bldP spid="152" grpId="0" animBg="1"/>
      <p:bldP spid="153" grpId="0" animBg="1"/>
      <p:bldP spid="154" grpId="0" animBg="1"/>
      <p:bldP spid="161" grpId="0" animBg="1"/>
      <p:bldP spid="162" grpId="0" animBg="1"/>
      <p:bldP spid="163" grpId="0" animBg="1"/>
      <p:bldP spid="56" grpId="0" animBg="1"/>
      <p:bldP spid="57" grpId="0" animBg="1"/>
      <p:bldP spid="58" grpId="0" animBg="1"/>
      <p:bldP spid="59" grpId="0" animBg="1"/>
      <p:bldP spid="164" grpId="0" animBg="1"/>
      <p:bldP spid="165" grpId="0" animBg="1"/>
      <p:bldP spid="16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quién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Resultados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clubes existen. El mapa no los ve.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654234" y="17373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Futbolistas federados por distrito (INE, 2024)</a:t>
            </a:r>
            <a:endParaRPr lang="en-US" sz="1100" dirty="0"/>
          </a:p>
        </p:txBody>
      </p:sp>
      <p:sp>
        <p:nvSpPr>
          <p:cNvPr id="7" name="aso-g-0-et"/>
          <p:cNvSpPr txBox="1"/>
          <p:nvPr/>
        </p:nvSpPr>
        <p:spPr>
          <a:xfrm>
            <a:off x="2654234" y="2057400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Coimbra</a:t>
            </a:r>
            <a:endParaRPr lang="en-US" sz="1050" dirty="0"/>
          </a:p>
        </p:txBody>
      </p:sp>
      <p:sp>
        <p:nvSpPr>
          <p:cNvPr id="8" name="aso-g-0-b"/>
          <p:cNvSpPr/>
          <p:nvPr/>
        </p:nvSpPr>
        <p:spPr>
          <a:xfrm>
            <a:off x="4254434" y="2121408"/>
            <a:ext cx="2834640" cy="20116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9" name="aso-g-0-v"/>
          <p:cNvSpPr txBox="1"/>
          <p:nvPr/>
        </p:nvSpPr>
        <p:spPr>
          <a:xfrm>
            <a:off x="7162226" y="20574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9.200</a:t>
            </a:r>
            <a:endParaRPr lang="en-US" sz="1050" dirty="0"/>
          </a:p>
        </p:txBody>
      </p:sp>
      <p:sp>
        <p:nvSpPr>
          <p:cNvPr id="10" name="aso-g-1-et"/>
          <p:cNvSpPr txBox="1"/>
          <p:nvPr/>
        </p:nvSpPr>
        <p:spPr>
          <a:xfrm>
            <a:off x="2654234" y="2386584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Viseu</a:t>
            </a:r>
            <a:endParaRPr lang="en-US" sz="1050" dirty="0"/>
          </a:p>
        </p:txBody>
      </p:sp>
      <p:sp>
        <p:nvSpPr>
          <p:cNvPr id="11" name="aso-g-1-b"/>
          <p:cNvSpPr/>
          <p:nvPr/>
        </p:nvSpPr>
        <p:spPr>
          <a:xfrm>
            <a:off x="4254434" y="2450592"/>
            <a:ext cx="2655338" cy="20116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2" name="aso-g-1-v"/>
          <p:cNvSpPr txBox="1"/>
          <p:nvPr/>
        </p:nvSpPr>
        <p:spPr>
          <a:xfrm>
            <a:off x="6982923" y="2386584"/>
            <a:ext cx="7462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8.600</a:t>
            </a:r>
            <a:endParaRPr lang="en-US" sz="1050" dirty="0"/>
          </a:p>
        </p:txBody>
      </p:sp>
      <p:sp>
        <p:nvSpPr>
          <p:cNvPr id="13" name="aso-g-2-et"/>
          <p:cNvSpPr txBox="1"/>
          <p:nvPr/>
        </p:nvSpPr>
        <p:spPr>
          <a:xfrm>
            <a:off x="2654234" y="2715768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Castelo Branco</a:t>
            </a:r>
            <a:endParaRPr lang="en-US" sz="1050" dirty="0"/>
          </a:p>
        </p:txBody>
      </p:sp>
      <p:sp>
        <p:nvSpPr>
          <p:cNvPr id="14" name="aso-g-2-b"/>
          <p:cNvSpPr/>
          <p:nvPr/>
        </p:nvSpPr>
        <p:spPr>
          <a:xfrm>
            <a:off x="4254434" y="2779776"/>
            <a:ext cx="1178712" cy="20116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5" name="aso-g-2-v"/>
          <p:cNvSpPr txBox="1"/>
          <p:nvPr/>
        </p:nvSpPr>
        <p:spPr>
          <a:xfrm>
            <a:off x="5506298" y="2715768"/>
            <a:ext cx="222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3.800</a:t>
            </a:r>
            <a:endParaRPr lang="en-US" sz="1050" dirty="0"/>
          </a:p>
        </p:txBody>
      </p:sp>
      <p:sp>
        <p:nvSpPr>
          <p:cNvPr id="16" name="aso-g-3-et"/>
          <p:cNvSpPr txBox="1"/>
          <p:nvPr/>
        </p:nvSpPr>
        <p:spPr>
          <a:xfrm>
            <a:off x="2654234" y="3044952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Guarda</a:t>
            </a:r>
            <a:endParaRPr lang="en-US" sz="1050" dirty="0"/>
          </a:p>
        </p:txBody>
      </p:sp>
      <p:sp>
        <p:nvSpPr>
          <p:cNvPr id="17" name="aso-g-3-b"/>
          <p:cNvSpPr/>
          <p:nvPr/>
        </p:nvSpPr>
        <p:spPr>
          <a:xfrm>
            <a:off x="4254434" y="3108960"/>
            <a:ext cx="992324" cy="20116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8" name="aso-g-3-v"/>
          <p:cNvSpPr txBox="1"/>
          <p:nvPr/>
        </p:nvSpPr>
        <p:spPr>
          <a:xfrm>
            <a:off x="5319910" y="3044952"/>
            <a:ext cx="240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3.200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654234" y="36576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Asociaciones en OpenStreetMap, municipios del piloto</a:t>
            </a:r>
            <a:endParaRPr lang="en-US" sz="1100" dirty="0"/>
          </a:p>
        </p:txBody>
      </p:sp>
      <p:sp>
        <p:nvSpPr>
          <p:cNvPr id="20" name="aso-h-0-et"/>
          <p:cNvSpPr txBox="1"/>
          <p:nvPr/>
        </p:nvSpPr>
        <p:spPr>
          <a:xfrm>
            <a:off x="2654234" y="397764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Arganil</a:t>
            </a:r>
            <a:endParaRPr lang="en-US" sz="1050" dirty="0"/>
          </a:p>
        </p:txBody>
      </p:sp>
      <p:sp>
        <p:nvSpPr>
          <p:cNvPr id="21" name="aso-h-0-b"/>
          <p:cNvSpPr/>
          <p:nvPr/>
        </p:nvSpPr>
        <p:spPr>
          <a:xfrm>
            <a:off x="4254434" y="4032504"/>
            <a:ext cx="3108960" cy="164592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2" name="aso-h-0-v"/>
          <p:cNvSpPr txBox="1"/>
          <p:nvPr/>
        </p:nvSpPr>
        <p:spPr>
          <a:xfrm>
            <a:off x="7436546" y="39776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1050" dirty="0"/>
          </a:p>
        </p:txBody>
      </p:sp>
      <p:sp>
        <p:nvSpPr>
          <p:cNvPr id="23" name="aso-h-1-et"/>
          <p:cNvSpPr txBox="1"/>
          <p:nvPr/>
        </p:nvSpPr>
        <p:spPr>
          <a:xfrm>
            <a:off x="2654234" y="425196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Oliveira do Hospital</a:t>
            </a:r>
            <a:endParaRPr lang="en-US" sz="1050" dirty="0"/>
          </a:p>
        </p:txBody>
      </p:sp>
      <p:sp>
        <p:nvSpPr>
          <p:cNvPr id="24" name="aso-h-1-b"/>
          <p:cNvSpPr/>
          <p:nvPr/>
        </p:nvSpPr>
        <p:spPr>
          <a:xfrm>
            <a:off x="4254434" y="4306824"/>
            <a:ext cx="345440" cy="16459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5" name="aso-h-1-v"/>
          <p:cNvSpPr txBox="1"/>
          <p:nvPr/>
        </p:nvSpPr>
        <p:spPr>
          <a:xfrm>
            <a:off x="4673026" y="4251960"/>
            <a:ext cx="305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050" dirty="0"/>
          </a:p>
        </p:txBody>
      </p:sp>
      <p:sp>
        <p:nvSpPr>
          <p:cNvPr id="26" name="aso-h-2-et"/>
          <p:cNvSpPr txBox="1"/>
          <p:nvPr/>
        </p:nvSpPr>
        <p:spPr>
          <a:xfrm>
            <a:off x="2654234" y="452628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Carregal do Sal</a:t>
            </a:r>
            <a:endParaRPr lang="en-US" sz="1050" dirty="0"/>
          </a:p>
        </p:txBody>
      </p:sp>
      <p:sp>
        <p:nvSpPr>
          <p:cNvPr id="27" name="aso-h-2-b"/>
          <p:cNvSpPr/>
          <p:nvPr/>
        </p:nvSpPr>
        <p:spPr>
          <a:xfrm>
            <a:off x="4254434" y="4581144"/>
            <a:ext cx="345440" cy="16459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8" name="aso-h-2-v"/>
          <p:cNvSpPr txBox="1"/>
          <p:nvPr/>
        </p:nvSpPr>
        <p:spPr>
          <a:xfrm>
            <a:off x="4673026" y="4526280"/>
            <a:ext cx="305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aso-h-3-et"/>
          <p:cNvSpPr txBox="1"/>
          <p:nvPr/>
        </p:nvSpPr>
        <p:spPr>
          <a:xfrm>
            <a:off x="2654234" y="480060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Nelas</a:t>
            </a:r>
            <a:endParaRPr lang="en-US" sz="1050" dirty="0"/>
          </a:p>
        </p:txBody>
      </p:sp>
      <p:sp>
        <p:nvSpPr>
          <p:cNvPr id="30" name="aso-h-3-b"/>
          <p:cNvSpPr/>
          <p:nvPr/>
        </p:nvSpPr>
        <p:spPr>
          <a:xfrm>
            <a:off x="4254434" y="4855464"/>
            <a:ext cx="345440" cy="16459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1" name="aso-h-3-v"/>
          <p:cNvSpPr txBox="1"/>
          <p:nvPr/>
        </p:nvSpPr>
        <p:spPr>
          <a:xfrm>
            <a:off x="4673026" y="4800600"/>
            <a:ext cx="305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aso-h-4-et"/>
          <p:cNvSpPr txBox="1"/>
          <p:nvPr/>
        </p:nvSpPr>
        <p:spPr>
          <a:xfrm>
            <a:off x="2654234" y="507492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Tábua</a:t>
            </a:r>
            <a:endParaRPr lang="en-US" sz="1050" dirty="0"/>
          </a:p>
        </p:txBody>
      </p:sp>
      <p:sp>
        <p:nvSpPr>
          <p:cNvPr id="33" name="aso-h-4-b"/>
          <p:cNvSpPr/>
          <p:nvPr/>
        </p:nvSpPr>
        <p:spPr>
          <a:xfrm>
            <a:off x="4254434" y="5129784"/>
            <a:ext cx="345440" cy="16459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4" name="aso-h-4-v"/>
          <p:cNvSpPr txBox="1"/>
          <p:nvPr/>
        </p:nvSpPr>
        <p:spPr>
          <a:xfrm>
            <a:off x="4673026" y="5074920"/>
            <a:ext cx="305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050" dirty="0"/>
          </a:p>
        </p:txBody>
      </p:sp>
      <p:sp>
        <p:nvSpPr>
          <p:cNvPr id="35" name="aso-h-5-et"/>
          <p:cNvSpPr txBox="1"/>
          <p:nvPr/>
        </p:nvSpPr>
        <p:spPr>
          <a:xfrm>
            <a:off x="2654234" y="534924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Seia</a:t>
            </a:r>
            <a:endParaRPr lang="en-US" sz="1050" dirty="0"/>
          </a:p>
        </p:txBody>
      </p:sp>
      <p:sp>
        <p:nvSpPr>
          <p:cNvPr id="36" name="aso-h-5-b"/>
          <p:cNvSpPr/>
          <p:nvPr/>
        </p:nvSpPr>
        <p:spPr>
          <a:xfrm>
            <a:off x="4254434" y="5404104"/>
            <a:ext cx="27432" cy="16459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7" name="aso-h-5-v"/>
          <p:cNvSpPr txBox="1"/>
          <p:nvPr/>
        </p:nvSpPr>
        <p:spPr>
          <a:xfrm>
            <a:off x="4355018" y="5349240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2654234" y="576072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Fuentes: INE y OpenStreetMap. 9 de las 13 asociaciones del piloto están en Arganil.</a:t>
            </a:r>
            <a:endParaRPr lang="en-US" sz="900" dirty="0"/>
          </a:p>
        </p:txBody>
      </p:sp>
      <p:sp>
        <p:nvSpPr>
          <p:cNvPr id="39" name="aso-dato"/>
          <p:cNvSpPr txBox="1"/>
          <p:nvPr/>
        </p:nvSpPr>
        <p:spPr>
          <a:xfrm>
            <a:off x="2654234" y="6035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40" name="aso-c0-l"/>
          <p:cNvSpPr/>
          <p:nvPr/>
        </p:nvSpPr>
        <p:spPr>
          <a:xfrm>
            <a:off x="7863840" y="1719072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41" name="aso-c0-n"/>
          <p:cNvSpPr txBox="1"/>
          <p:nvPr/>
        </p:nvSpPr>
        <p:spPr>
          <a:xfrm>
            <a:off x="7863840" y="1828800"/>
            <a:ext cx="40294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25.000</a:t>
            </a:r>
            <a:endParaRPr lang="en-US" sz="3000" dirty="0"/>
          </a:p>
        </p:txBody>
      </p:sp>
      <p:sp>
        <p:nvSpPr>
          <p:cNvPr id="42" name="aso-c0-t"/>
          <p:cNvSpPr txBox="1"/>
          <p:nvPr/>
        </p:nvSpPr>
        <p:spPr>
          <a:xfrm>
            <a:off x="7863840" y="2286000"/>
            <a:ext cx="40294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futbolistas federados en los cuatro distritos: 22 por cada 1.000 habitantes.</a:t>
            </a:r>
            <a:endParaRPr lang="en-US" sz="1200" dirty="0"/>
          </a:p>
        </p:txBody>
      </p:sp>
      <p:sp>
        <p:nvSpPr>
          <p:cNvPr id="43" name="aso-c0-e"/>
          <p:cNvSpPr txBox="1"/>
          <p:nvPr/>
        </p:nvSpPr>
        <p:spPr>
          <a:xfrm>
            <a:off x="7863840" y="27614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44" name="aso-c1-l"/>
          <p:cNvSpPr/>
          <p:nvPr/>
        </p:nvSpPr>
        <p:spPr>
          <a:xfrm>
            <a:off x="7863840" y="3017520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45" name="aso-c1-n"/>
          <p:cNvSpPr txBox="1"/>
          <p:nvPr/>
        </p:nvSpPr>
        <p:spPr>
          <a:xfrm>
            <a:off x="7863840" y="3127248"/>
            <a:ext cx="40294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400</a:t>
            </a:r>
            <a:endParaRPr lang="en-US" sz="3000" dirty="0"/>
          </a:p>
        </p:txBody>
      </p:sp>
      <p:sp>
        <p:nvSpPr>
          <p:cNvPr id="46" name="aso-c1-t"/>
          <p:cNvSpPr txBox="1"/>
          <p:nvPr/>
        </p:nvSpPr>
        <p:spPr>
          <a:xfrm>
            <a:off x="7863840" y="3584448"/>
            <a:ext cx="40294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futbolistas por club con los 61 clubes del mapa (24.867 ÷ 61 = 408). Un club de pueblo tiene muchos menos.</a:t>
            </a:r>
            <a:endParaRPr lang="en-US" sz="1200" dirty="0"/>
          </a:p>
        </p:txBody>
      </p:sp>
      <p:sp>
        <p:nvSpPr>
          <p:cNvPr id="47" name="aso-c1-e"/>
          <p:cNvSpPr txBox="1"/>
          <p:nvPr/>
        </p:nvSpPr>
        <p:spPr>
          <a:xfrm>
            <a:off x="7863840" y="40599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48" name="aso-p-l"/>
          <p:cNvSpPr/>
          <p:nvPr/>
        </p:nvSpPr>
        <p:spPr>
          <a:xfrm>
            <a:off x="7863840" y="4315968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49" name="aso-p-0"/>
          <p:cNvSpPr/>
          <p:nvPr/>
        </p:nvSpPr>
        <p:spPr>
          <a:xfrm>
            <a:off x="7882128" y="4507992"/>
            <a:ext cx="274320" cy="274320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50" name="aso-p-1"/>
          <p:cNvSpPr/>
          <p:nvPr/>
        </p:nvSpPr>
        <p:spPr>
          <a:xfrm>
            <a:off x="8266176" y="4507992"/>
            <a:ext cx="274320" cy="274320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51" name="aso-p-2"/>
          <p:cNvSpPr/>
          <p:nvPr/>
        </p:nvSpPr>
        <p:spPr>
          <a:xfrm>
            <a:off x="8650224" y="4507992"/>
            <a:ext cx="274320" cy="274320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52" name="aso-p-3"/>
          <p:cNvSpPr/>
          <p:nvPr/>
        </p:nvSpPr>
        <p:spPr>
          <a:xfrm>
            <a:off x="9034272" y="4507992"/>
            <a:ext cx="274320" cy="274320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53" name="aso-p-4"/>
          <p:cNvSpPr/>
          <p:nvPr/>
        </p:nvSpPr>
        <p:spPr>
          <a:xfrm>
            <a:off x="9418320" y="4507992"/>
            <a:ext cx="274320" cy="274320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54" name="aso-p-5"/>
          <p:cNvSpPr/>
          <p:nvPr/>
        </p:nvSpPr>
        <p:spPr>
          <a:xfrm>
            <a:off x="9802368" y="4507992"/>
            <a:ext cx="274320" cy="274320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55" name="aso-p-6"/>
          <p:cNvSpPr/>
          <p:nvPr/>
        </p:nvSpPr>
        <p:spPr>
          <a:xfrm>
            <a:off x="10186416" y="4507992"/>
            <a:ext cx="274320" cy="274320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56" name="aso-p-7"/>
          <p:cNvSpPr/>
          <p:nvPr/>
        </p:nvSpPr>
        <p:spPr>
          <a:xfrm>
            <a:off x="10570464" y="4507992"/>
            <a:ext cx="274320" cy="274320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57" name="aso-p-8"/>
          <p:cNvSpPr/>
          <p:nvPr/>
        </p:nvSpPr>
        <p:spPr>
          <a:xfrm>
            <a:off x="10954512" y="4507992"/>
            <a:ext cx="274320" cy="274320"/>
          </a:xfrm>
          <a:prstGeom prst="ellipse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58" name="aso-p-9"/>
          <p:cNvSpPr/>
          <p:nvPr/>
        </p:nvSpPr>
        <p:spPr>
          <a:xfrm>
            <a:off x="11338560" y="4507992"/>
            <a:ext cx="274320" cy="274320"/>
          </a:xfrm>
          <a:prstGeom prst="ellipse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59" name="aso-p-t"/>
          <p:cNvSpPr txBox="1"/>
          <p:nvPr/>
        </p:nvSpPr>
        <p:spPr>
          <a:xfrm>
            <a:off x="7863840" y="4901184"/>
            <a:ext cx="40294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-12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de 10 </a:t>
            </a:r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asociaciones y clubes del mapa no tienen ningún contacto público.</a:t>
            </a:r>
            <a:endParaRPr lang="en-US" sz="1200" dirty="0"/>
          </a:p>
        </p:txBody>
      </p:sp>
      <p:sp>
        <p:nvSpPr>
          <p:cNvPr id="60" name="aso-p-e"/>
          <p:cNvSpPr txBox="1"/>
          <p:nvPr/>
        </p:nvSpPr>
        <p:spPr>
          <a:xfrm>
            <a:off x="7863840" y="5358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61" name="aso-d-l"/>
          <p:cNvSpPr/>
          <p:nvPr/>
        </p:nvSpPr>
        <p:spPr>
          <a:xfrm>
            <a:off x="7863840" y="5632704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62" name="aso-d-t"/>
          <p:cNvSpPr txBox="1"/>
          <p:nvPr/>
        </p:nvSpPr>
        <p:spPr>
          <a:xfrm>
            <a:off x="7863840" y="5742432"/>
            <a:ext cx="4029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Buscarlos en el terreno: juntas y fiestas.</a:t>
            </a:r>
            <a:endParaRPr lang="en-US" sz="1300" dirty="0"/>
          </a:p>
        </p:txBody>
      </p:sp>
      <p:sp>
        <p:nvSpPr>
          <p:cNvPr id="63" name="aso-d-e"/>
          <p:cNvSpPr txBox="1"/>
          <p:nvPr/>
        </p:nvSpPr>
        <p:spPr>
          <a:xfrm>
            <a:off x="7863840" y="6071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100"/>
                            </p:stCondLst>
                            <p:childTnLst>
                              <p:par>
                                <p:cTn id="9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4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7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850"/>
                            </p:stCondLst>
                            <p:childTnLst>
                              <p:par>
                                <p:cTn id="1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9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9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9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940"/>
                            </p:stCondLst>
                            <p:childTnLst>
                              <p:par>
                                <p:cTn id="1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9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9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9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030"/>
                            </p:stCondLst>
                            <p:childTnLst>
                              <p:par>
                                <p:cTn id="1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9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9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9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120"/>
                            </p:stCondLst>
                            <p:childTnLst>
                              <p:par>
                                <p:cTn id="1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9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9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9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210"/>
                            </p:stCondLst>
                            <p:childTnLst>
                              <p:par>
                                <p:cTn id="1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9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9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9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3300"/>
                            </p:stCondLst>
                            <p:childTnLst>
                              <p:par>
                                <p:cTn id="1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9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9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9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3390"/>
                            </p:stCondLst>
                            <p:childTnLst>
                              <p:par>
                                <p:cTn id="1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9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9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9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480"/>
                            </p:stCondLst>
                            <p:childTnLst>
                              <p:par>
                                <p:cTn id="1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9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9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9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3570"/>
                            </p:stCondLst>
                            <p:childTnLst>
                              <p:par>
                                <p:cTn id="1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9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9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9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660"/>
                            </p:stCondLst>
                            <p:childTnLst>
                              <p:par>
                                <p:cTn id="1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9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9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9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3750"/>
                            </p:stCondLst>
                            <p:childTnLst>
                              <p:par>
                                <p:cTn id="1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4000"/>
                            </p:stCondLst>
                            <p:childTnLst>
                              <p:par>
                                <p:cTn id="1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6" grpId="0" animBg="1"/>
      <p:bldP spid="37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quién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Resultados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clubes se buscan fuera del mapa.</a:t>
            </a:r>
            <a:endParaRPr lang="en-US" sz="3000" dirty="0"/>
          </a:p>
        </p:txBody>
      </p:sp>
      <p:sp>
        <p:nvSpPr>
          <p:cNvPr id="6" name="via-0-l"/>
          <p:cNvSpPr/>
          <p:nvPr/>
        </p:nvSpPr>
        <p:spPr>
          <a:xfrm>
            <a:off x="304792" y="1737360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7" name="via-0-n"/>
          <p:cNvSpPr txBox="1"/>
          <p:nvPr/>
        </p:nvSpPr>
        <p:spPr>
          <a:xfrm>
            <a:off x="304792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b="1" spc="-112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78</a:t>
            </a:r>
            <a:endParaRPr lang="en-US" sz="2800" dirty="0"/>
          </a:p>
        </p:txBody>
      </p:sp>
      <p:sp>
        <p:nvSpPr>
          <p:cNvPr id="8" name="via-0-t"/>
          <p:cNvSpPr txBox="1"/>
          <p:nvPr/>
        </p:nvSpPr>
        <p:spPr>
          <a:xfrm>
            <a:off x="2654234" y="1847088"/>
            <a:ext cx="92390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juntas de freguesia en el piloto</a:t>
            </a:r>
            <a:endParaRPr lang="en-US" sz="1400" dirty="0"/>
          </a:p>
        </p:txBody>
      </p:sp>
      <p:sp>
        <p:nvSpPr>
          <p:cNvPr id="9" name="via-0-d"/>
          <p:cNvSpPr txBox="1"/>
          <p:nvPr/>
        </p:nvSpPr>
        <p:spPr>
          <a:xfrm>
            <a:off x="2654234" y="2139696"/>
            <a:ext cx="80502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puerta de entrada: conocen y apoyan a los clubes y asociaciones de su freguesia.</a:t>
            </a:r>
            <a:endParaRPr lang="en-US" sz="1250" dirty="0"/>
          </a:p>
        </p:txBody>
      </p:sp>
      <p:sp>
        <p:nvSpPr>
          <p:cNvPr id="10" name="via-0-e"/>
          <p:cNvSpPr txBox="1"/>
          <p:nvPr/>
        </p:nvSpPr>
        <p:spPr>
          <a:xfrm>
            <a:off x="10933133" y="18653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11" name="via-1-l"/>
          <p:cNvSpPr/>
          <p:nvPr/>
        </p:nvSpPr>
        <p:spPr>
          <a:xfrm>
            <a:off x="304792" y="2505456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2" name="via-1-n"/>
          <p:cNvSpPr txBox="1"/>
          <p:nvPr/>
        </p:nvSpPr>
        <p:spPr>
          <a:xfrm>
            <a:off x="304792" y="25968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b="1" spc="-112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189</a:t>
            </a:r>
            <a:endParaRPr lang="en-US" sz="2800" dirty="0"/>
          </a:p>
        </p:txBody>
      </p:sp>
      <p:sp>
        <p:nvSpPr>
          <p:cNvPr id="13" name="via-1-t"/>
          <p:cNvSpPr txBox="1"/>
          <p:nvPr/>
        </p:nvSpPr>
        <p:spPr>
          <a:xfrm>
            <a:off x="2654234" y="2615184"/>
            <a:ext cx="92390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pabellones y piscinas en el mapa</a:t>
            </a:r>
            <a:endParaRPr lang="en-US" sz="1400" dirty="0"/>
          </a:p>
        </p:txBody>
      </p:sp>
      <p:sp>
        <p:nvSpPr>
          <p:cNvPr id="14" name="via-1-d"/>
          <p:cNvSpPr txBox="1"/>
          <p:nvPr/>
        </p:nvSpPr>
        <p:spPr>
          <a:xfrm>
            <a:off x="2654234" y="2907792"/>
            <a:ext cx="80502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Donde entrenan los clubes: visitarlos en pretemporada, de junio a octubre.</a:t>
            </a:r>
            <a:endParaRPr lang="en-US" sz="1250" dirty="0"/>
          </a:p>
        </p:txBody>
      </p:sp>
      <p:sp>
        <p:nvSpPr>
          <p:cNvPr id="15" name="via-1-e"/>
          <p:cNvSpPr txBox="1"/>
          <p:nvPr/>
        </p:nvSpPr>
        <p:spPr>
          <a:xfrm>
            <a:off x="10933133" y="2633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16" name="via-2-l"/>
          <p:cNvSpPr/>
          <p:nvPr/>
        </p:nvSpPr>
        <p:spPr>
          <a:xfrm>
            <a:off x="304792" y="3273552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7" name="via-2-n"/>
          <p:cNvSpPr txBox="1"/>
          <p:nvPr/>
        </p:nvSpPr>
        <p:spPr>
          <a:xfrm>
            <a:off x="304792" y="33649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b="1" spc="-112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lista</a:t>
            </a:r>
            <a:endParaRPr lang="en-US" sz="2800" dirty="0"/>
          </a:p>
        </p:txBody>
      </p:sp>
      <p:sp>
        <p:nvSpPr>
          <p:cNvPr id="18" name="via-2-t"/>
          <p:cNvSpPr txBox="1"/>
          <p:nvPr/>
        </p:nvSpPr>
        <p:spPr>
          <a:xfrm>
            <a:off x="2654234" y="3383280"/>
            <a:ext cx="92390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subvenciones por cámara, cada año</a:t>
            </a:r>
            <a:endParaRPr lang="en-US" sz="1400" dirty="0"/>
          </a:p>
        </p:txBody>
      </p:sp>
      <p:sp>
        <p:nvSpPr>
          <p:cNvPr id="19" name="via-2-d"/>
          <p:cNvSpPr txBox="1"/>
          <p:nvPr/>
        </p:nvSpPr>
        <p:spPr>
          <a:xfrm>
            <a:off x="2654234" y="3675888"/>
            <a:ext cx="80502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ley portuguesa 64/2013 obliga a publicar a quién se apoya, con su NIF: los clubes que el mapa no tiene.</a:t>
            </a:r>
            <a:endParaRPr lang="en-US" sz="1250" dirty="0"/>
          </a:p>
        </p:txBody>
      </p:sp>
      <p:sp>
        <p:nvSpPr>
          <p:cNvPr id="20" name="via-2-e"/>
          <p:cNvSpPr txBox="1"/>
          <p:nvPr/>
        </p:nvSpPr>
        <p:spPr>
          <a:xfrm>
            <a:off x="10933133" y="34015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21" name="via-3-l"/>
          <p:cNvSpPr/>
          <p:nvPr/>
        </p:nvSpPr>
        <p:spPr>
          <a:xfrm>
            <a:off x="304792" y="4041648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2" name="via-3-n"/>
          <p:cNvSpPr txBox="1"/>
          <p:nvPr/>
        </p:nvSpPr>
        <p:spPr>
          <a:xfrm>
            <a:off x="304792" y="41330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b="1" spc="-112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</a:t>
            </a:r>
            <a:endParaRPr lang="en-US" sz="2800" dirty="0"/>
          </a:p>
        </p:txBody>
      </p:sp>
      <p:sp>
        <p:nvSpPr>
          <p:cNvPr id="23" name="via-3-t"/>
          <p:cNvSpPr txBox="1"/>
          <p:nvPr/>
        </p:nvSpPr>
        <p:spPr>
          <a:xfrm>
            <a:off x="2654234" y="4151376"/>
            <a:ext cx="92390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fiestas de los pueblos de Oliveira do Hospital</a:t>
            </a:r>
            <a:endParaRPr lang="en-US" sz="1400" dirty="0"/>
          </a:p>
        </p:txBody>
      </p:sp>
      <p:sp>
        <p:nvSpPr>
          <p:cNvPr id="24" name="via-3-d"/>
          <p:cNvSpPr txBox="1"/>
          <p:nvPr/>
        </p:nvSpPr>
        <p:spPr>
          <a:xfrm>
            <a:off x="2654234" y="4443984"/>
            <a:ext cx="80502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Detrás de cada fiesta hay una comisión o una asociación: el primer contacto de la oferta Eventos.</a:t>
            </a:r>
            <a:endParaRPr lang="en-US" sz="1250" dirty="0"/>
          </a:p>
        </p:txBody>
      </p:sp>
      <p:sp>
        <p:nvSpPr>
          <p:cNvPr id="25" name="via-3-e"/>
          <p:cNvSpPr txBox="1"/>
          <p:nvPr/>
        </p:nvSpPr>
        <p:spPr>
          <a:xfrm>
            <a:off x="10933133" y="41696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26" name="via-4-l"/>
          <p:cNvSpPr/>
          <p:nvPr/>
        </p:nvSpPr>
        <p:spPr>
          <a:xfrm>
            <a:off x="304792" y="4809744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7" name="via-4-n"/>
          <p:cNvSpPr txBox="1"/>
          <p:nvPr/>
        </p:nvSpPr>
        <p:spPr>
          <a:xfrm>
            <a:off x="304792" y="49011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b="1" spc="-112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de 5</a:t>
            </a:r>
            <a:endParaRPr lang="en-US" sz="2800" dirty="0"/>
          </a:p>
        </p:txBody>
      </p:sp>
      <p:sp>
        <p:nvSpPr>
          <p:cNvPr id="28" name="via-4-t"/>
          <p:cNvSpPr txBox="1"/>
          <p:nvPr/>
        </p:nvSpPr>
        <p:spPr>
          <a:xfrm>
            <a:off x="2654234" y="4919472"/>
            <a:ext cx="92390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clientes actuales fuera de los datos</a:t>
            </a:r>
            <a:endParaRPr lang="en-US" sz="1400" dirty="0"/>
          </a:p>
        </p:txBody>
      </p:sp>
      <p:sp>
        <p:nvSpPr>
          <p:cNvPr id="29" name="via-4-d"/>
          <p:cNvSpPr txBox="1"/>
          <p:nvPr/>
        </p:nvSpPr>
        <p:spPr>
          <a:xfrm>
            <a:off x="2654234" y="5212080"/>
            <a:ext cx="80502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Llegaron por otra vía: pedir a cada uno que recomiende otro club.</a:t>
            </a:r>
            <a:endParaRPr lang="en-US" sz="1250" dirty="0"/>
          </a:p>
        </p:txBody>
      </p:sp>
      <p:sp>
        <p:nvSpPr>
          <p:cNvPr id="30" name="via-4-e"/>
          <p:cNvSpPr txBox="1"/>
          <p:nvPr/>
        </p:nvSpPr>
        <p:spPr>
          <a:xfrm>
            <a:off x="10933133" y="49377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31" name="via-c-l"/>
          <p:cNvSpPr/>
          <p:nvPr/>
        </p:nvSpPr>
        <p:spPr>
          <a:xfrm>
            <a:off x="304792" y="5650992"/>
            <a:ext cx="11588460" cy="0"/>
          </a:xfrm>
          <a:prstGeom prst="line">
            <a:avLst/>
          </a:prstGeom>
          <a:noFill/>
          <a:ln w="9525">
            <a:solidFill>
              <a:srgbClr val="0D0D0D"/>
            </a:solidFill>
            <a:prstDash val="solid"/>
          </a:ln>
        </p:spPr>
      </p:sp>
      <p:sp>
        <p:nvSpPr>
          <p:cNvPr id="32" name="via-c-t"/>
          <p:cNvSpPr txBox="1"/>
          <p:nvPr/>
        </p:nvSpPr>
        <p:spPr>
          <a:xfrm>
            <a:off x="304792" y="5760720"/>
            <a:ext cx="11588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spc="-14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Cómo lo aprovecha beira.: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club que encuentre el piloto entra en Airtable. Así se crean los datos que hoy no existen.</a:t>
            </a:r>
            <a:endParaRPr lang="en-US" sz="14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2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7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29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4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76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1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23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48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700"/>
                            </p:stCondLst>
                            <p:childTnLst>
                              <p:par>
                                <p:cTn id="1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compran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Resultados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Merchandising y ropa de trabajo, por invitación.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654234" y="17373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Gasto de cámaras y juntas por producto, 2020-2025</a:t>
            </a:r>
            <a:endParaRPr lang="en-US" sz="1100" dirty="0"/>
          </a:p>
        </p:txBody>
      </p:sp>
      <p:sp>
        <p:nvSpPr>
          <p:cNvPr id="7" name="que-g-0-et"/>
          <p:cNvSpPr txBox="1"/>
          <p:nvPr/>
        </p:nvSpPr>
        <p:spPr>
          <a:xfrm>
            <a:off x="2654234" y="205740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Merchandising</a:t>
            </a:r>
            <a:endParaRPr lang="en-US" sz="1100" dirty="0"/>
          </a:p>
        </p:txBody>
      </p:sp>
      <p:sp>
        <p:nvSpPr>
          <p:cNvPr id="8" name="que-g-0-b"/>
          <p:cNvSpPr/>
          <p:nvPr/>
        </p:nvSpPr>
        <p:spPr>
          <a:xfrm>
            <a:off x="4025834" y="2153412"/>
            <a:ext cx="2834640" cy="24688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9" name="que-g-0-v"/>
          <p:cNvSpPr txBox="1"/>
          <p:nvPr/>
        </p:nvSpPr>
        <p:spPr>
          <a:xfrm>
            <a:off x="6933626" y="2057400"/>
            <a:ext cx="795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2,6 M€</a:t>
            </a:r>
            <a:endParaRPr lang="en-US" sz="1100" dirty="0"/>
          </a:p>
        </p:txBody>
      </p:sp>
      <p:sp>
        <p:nvSpPr>
          <p:cNvPr id="10" name="que-g-1-et"/>
          <p:cNvSpPr txBox="1"/>
          <p:nvPr/>
        </p:nvSpPr>
        <p:spPr>
          <a:xfrm>
            <a:off x="2654234" y="249631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Ropa de trabajo</a:t>
            </a:r>
            <a:endParaRPr lang="en-US" sz="1100" dirty="0"/>
          </a:p>
        </p:txBody>
      </p:sp>
      <p:sp>
        <p:nvSpPr>
          <p:cNvPr id="11" name="que-g-1-b"/>
          <p:cNvSpPr/>
          <p:nvPr/>
        </p:nvSpPr>
        <p:spPr>
          <a:xfrm>
            <a:off x="4025834" y="2592324"/>
            <a:ext cx="1668207" cy="24688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2" name="que-g-1-v"/>
          <p:cNvSpPr txBox="1"/>
          <p:nvPr/>
        </p:nvSpPr>
        <p:spPr>
          <a:xfrm>
            <a:off x="5767193" y="2496312"/>
            <a:ext cx="19619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1,5 M€</a:t>
            </a:r>
            <a:endParaRPr lang="en-US" sz="1100" dirty="0"/>
          </a:p>
        </p:txBody>
      </p:sp>
      <p:sp>
        <p:nvSpPr>
          <p:cNvPr id="13" name="que-g-2-et"/>
          <p:cNvSpPr txBox="1"/>
          <p:nvPr/>
        </p:nvSpPr>
        <p:spPr>
          <a:xfrm>
            <a:off x="2654234" y="293522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Otra ropa</a:t>
            </a:r>
            <a:endParaRPr lang="en-US" sz="1100" dirty="0"/>
          </a:p>
        </p:txBody>
      </p:sp>
      <p:sp>
        <p:nvSpPr>
          <p:cNvPr id="14" name="que-g-2-b"/>
          <p:cNvSpPr/>
          <p:nvPr/>
        </p:nvSpPr>
        <p:spPr>
          <a:xfrm>
            <a:off x="4025834" y="3031236"/>
            <a:ext cx="448208" cy="24688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5" name="que-g-2-v"/>
          <p:cNvSpPr txBox="1"/>
          <p:nvPr/>
        </p:nvSpPr>
        <p:spPr>
          <a:xfrm>
            <a:off x="4547193" y="2935224"/>
            <a:ext cx="318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410 mil €</a:t>
            </a:r>
            <a:endParaRPr lang="en-US" sz="1100" dirty="0"/>
          </a:p>
        </p:txBody>
      </p:sp>
      <p:sp>
        <p:nvSpPr>
          <p:cNvPr id="16" name="que-g-3-et"/>
          <p:cNvSpPr txBox="1"/>
          <p:nvPr/>
        </p:nvSpPr>
        <p:spPr>
          <a:xfrm>
            <a:off x="2654234" y="3374136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Camisetas</a:t>
            </a:r>
            <a:endParaRPr lang="en-US" sz="1100" dirty="0"/>
          </a:p>
        </p:txBody>
      </p:sp>
      <p:sp>
        <p:nvSpPr>
          <p:cNvPr id="17" name="que-g-3-b"/>
          <p:cNvSpPr/>
          <p:nvPr/>
        </p:nvSpPr>
        <p:spPr>
          <a:xfrm>
            <a:off x="4025834" y="3470148"/>
            <a:ext cx="186935" cy="246888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8" name="que-g-3-v"/>
          <p:cNvSpPr txBox="1"/>
          <p:nvPr/>
        </p:nvSpPr>
        <p:spPr>
          <a:xfrm>
            <a:off x="4285921" y="3374136"/>
            <a:ext cx="34432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170 mil €</a:t>
            </a:r>
            <a:endParaRPr lang="en-US" sz="1100" dirty="0"/>
          </a:p>
        </p:txBody>
      </p:sp>
      <p:sp>
        <p:nvSpPr>
          <p:cNvPr id="19" name="que-g-4-et"/>
          <p:cNvSpPr txBox="1"/>
          <p:nvPr/>
        </p:nvSpPr>
        <p:spPr>
          <a:xfrm>
            <a:off x="2654234" y="381304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Ropa deportiva</a:t>
            </a:r>
            <a:endParaRPr lang="en-US" sz="1100" dirty="0"/>
          </a:p>
        </p:txBody>
      </p:sp>
      <p:sp>
        <p:nvSpPr>
          <p:cNvPr id="20" name="que-g-4-b"/>
          <p:cNvSpPr/>
          <p:nvPr/>
        </p:nvSpPr>
        <p:spPr>
          <a:xfrm>
            <a:off x="4025834" y="3909060"/>
            <a:ext cx="162885" cy="246888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1" name="que-g-4-v"/>
          <p:cNvSpPr txBox="1"/>
          <p:nvPr/>
        </p:nvSpPr>
        <p:spPr>
          <a:xfrm>
            <a:off x="4261871" y="3813048"/>
            <a:ext cx="34672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150 mil €</a:t>
            </a:r>
            <a:endParaRPr lang="en-US" sz="1100" dirty="0"/>
          </a:p>
        </p:txBody>
      </p:sp>
      <p:sp>
        <p:nvSpPr>
          <p:cNvPr id="22" name="que-g-5-et"/>
          <p:cNvSpPr txBox="1"/>
          <p:nvPr/>
        </p:nvSpPr>
        <p:spPr>
          <a:xfrm>
            <a:off x="2654234" y="425196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Polos</a:t>
            </a:r>
            <a:endParaRPr lang="en-US" sz="1100" dirty="0"/>
          </a:p>
        </p:txBody>
      </p:sp>
      <p:sp>
        <p:nvSpPr>
          <p:cNvPr id="23" name="que-g-5-b"/>
          <p:cNvSpPr/>
          <p:nvPr/>
        </p:nvSpPr>
        <p:spPr>
          <a:xfrm>
            <a:off x="4025834" y="4347972"/>
            <a:ext cx="33889" cy="246888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4" name="que-g-5-v"/>
          <p:cNvSpPr txBox="1"/>
          <p:nvPr/>
        </p:nvSpPr>
        <p:spPr>
          <a:xfrm>
            <a:off x="4132875" y="4251960"/>
            <a:ext cx="35962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 mil €</a:t>
            </a:r>
            <a:endParaRPr lang="en-US" sz="1100" dirty="0"/>
          </a:p>
        </p:txBody>
      </p:sp>
      <p:sp>
        <p:nvSpPr>
          <p:cNvPr id="25" name="que-g-6-et"/>
          <p:cNvSpPr txBox="1"/>
          <p:nvPr/>
        </p:nvSpPr>
        <p:spPr>
          <a:xfrm>
            <a:off x="2654234" y="469087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Sudaderas</a:t>
            </a:r>
            <a:endParaRPr lang="en-US" sz="1100" dirty="0"/>
          </a:p>
        </p:txBody>
      </p:sp>
      <p:sp>
        <p:nvSpPr>
          <p:cNvPr id="26" name="que-g-6-b"/>
          <p:cNvSpPr/>
          <p:nvPr/>
        </p:nvSpPr>
        <p:spPr>
          <a:xfrm>
            <a:off x="4025834" y="4786884"/>
            <a:ext cx="27432" cy="246888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7" name="que-g-6-v"/>
          <p:cNvSpPr txBox="1"/>
          <p:nvPr/>
        </p:nvSpPr>
        <p:spPr>
          <a:xfrm>
            <a:off x="4126418" y="4690872"/>
            <a:ext cx="3602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 mil €</a:t>
            </a:r>
            <a:endParaRPr lang="en-US" sz="1100" dirty="0"/>
          </a:p>
        </p:txBody>
      </p:sp>
      <p:sp>
        <p:nvSpPr>
          <p:cNvPr id="28" name="que-g-7-et"/>
          <p:cNvSpPr txBox="1"/>
          <p:nvPr/>
        </p:nvSpPr>
        <p:spPr>
          <a:xfrm>
            <a:off x="2654234" y="512978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Gorras</a:t>
            </a:r>
            <a:endParaRPr lang="en-US" sz="1100" dirty="0"/>
          </a:p>
        </p:txBody>
      </p:sp>
      <p:sp>
        <p:nvSpPr>
          <p:cNvPr id="29" name="que-g-7-b"/>
          <p:cNvSpPr/>
          <p:nvPr/>
        </p:nvSpPr>
        <p:spPr>
          <a:xfrm>
            <a:off x="4025834" y="5225796"/>
            <a:ext cx="27432" cy="246888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30" name="que-g-7-v"/>
          <p:cNvSpPr txBox="1"/>
          <p:nvPr/>
        </p:nvSpPr>
        <p:spPr>
          <a:xfrm>
            <a:off x="4126418" y="5129784"/>
            <a:ext cx="3602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 mil €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654234" y="566928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terracota, prendas de equipo: 28 contratos y 390 mil € en seis años.</a:t>
            </a:r>
            <a:endParaRPr lang="en-US" sz="950" dirty="0"/>
          </a:p>
        </p:txBody>
      </p:sp>
      <p:sp>
        <p:nvSpPr>
          <p:cNvPr id="32" name="que-dato"/>
          <p:cNvSpPr txBox="1"/>
          <p:nvPr/>
        </p:nvSpPr>
        <p:spPr>
          <a:xfrm>
            <a:off x="2654234" y="59618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863840" y="1737360"/>
            <a:ext cx="4029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Cómo se adjudican los contratos</a:t>
            </a:r>
            <a:endParaRPr lang="en-US" sz="1100" dirty="0"/>
          </a:p>
        </p:txBody>
      </p:sp>
      <p:sp>
        <p:nvSpPr>
          <p:cNvPr id="34" name="que-p-0-b"/>
          <p:cNvSpPr/>
          <p:nvPr/>
        </p:nvSpPr>
        <p:spPr>
          <a:xfrm>
            <a:off x="7863840" y="2057400"/>
            <a:ext cx="1853530" cy="173736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35" name="que-p-0-v"/>
          <p:cNvSpPr txBox="1"/>
          <p:nvPr/>
        </p:nvSpPr>
        <p:spPr>
          <a:xfrm>
            <a:off x="7863840" y="3502152"/>
            <a:ext cx="18535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46 %</a:t>
            </a:r>
            <a:endParaRPr lang="en-US" sz="1000" dirty="0"/>
          </a:p>
        </p:txBody>
      </p:sp>
      <p:sp>
        <p:nvSpPr>
          <p:cNvPr id="36" name="que-p-1-b"/>
          <p:cNvSpPr/>
          <p:nvPr/>
        </p:nvSpPr>
        <p:spPr>
          <a:xfrm>
            <a:off x="9717370" y="2057400"/>
            <a:ext cx="1704442" cy="173736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7" name="que-p-1-v"/>
          <p:cNvSpPr txBox="1"/>
          <p:nvPr/>
        </p:nvSpPr>
        <p:spPr>
          <a:xfrm>
            <a:off x="9717370" y="3502152"/>
            <a:ext cx="17044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42 %</a:t>
            </a:r>
            <a:endParaRPr lang="en-US" sz="1000" dirty="0"/>
          </a:p>
        </p:txBody>
      </p:sp>
      <p:sp>
        <p:nvSpPr>
          <p:cNvPr id="38" name="que-p-2-b"/>
          <p:cNvSpPr/>
          <p:nvPr/>
        </p:nvSpPr>
        <p:spPr>
          <a:xfrm>
            <a:off x="11421811" y="2057400"/>
            <a:ext cx="471441" cy="1737360"/>
          </a:xfrm>
          <a:prstGeom prst="rect">
            <a:avLst/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39" name="que-p-2-v"/>
          <p:cNvSpPr txBox="1"/>
          <p:nvPr/>
        </p:nvSpPr>
        <p:spPr>
          <a:xfrm>
            <a:off x="11421811" y="3502152"/>
            <a:ext cx="4714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12 %</a:t>
            </a:r>
            <a:endParaRPr lang="en-US" sz="1000" dirty="0"/>
          </a:p>
        </p:txBody>
      </p:sp>
      <p:sp>
        <p:nvSpPr>
          <p:cNvPr id="40" name="que-ley-0-b"/>
          <p:cNvSpPr/>
          <p:nvPr/>
        </p:nvSpPr>
        <p:spPr>
          <a:xfrm>
            <a:off x="7863840" y="3977640"/>
            <a:ext cx="118872" cy="118872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41" name="que-ley-0-t"/>
          <p:cNvSpPr txBox="1"/>
          <p:nvPr/>
        </p:nvSpPr>
        <p:spPr>
          <a:xfrm>
            <a:off x="8046720" y="3931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Consulta previa</a:t>
            </a:r>
            <a:endParaRPr lang="en-US" sz="950" dirty="0"/>
          </a:p>
        </p:txBody>
      </p:sp>
      <p:sp>
        <p:nvSpPr>
          <p:cNvPr id="42" name="que-ley-1-b"/>
          <p:cNvSpPr/>
          <p:nvPr/>
        </p:nvSpPr>
        <p:spPr>
          <a:xfrm>
            <a:off x="9075420" y="3977640"/>
            <a:ext cx="118872" cy="11887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3" name="que-ley-1-t"/>
          <p:cNvSpPr txBox="1"/>
          <p:nvPr/>
        </p:nvSpPr>
        <p:spPr>
          <a:xfrm>
            <a:off x="9258300" y="3931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Ajuste directo</a:t>
            </a:r>
            <a:endParaRPr lang="en-US" sz="950" dirty="0"/>
          </a:p>
        </p:txBody>
      </p:sp>
      <p:sp>
        <p:nvSpPr>
          <p:cNvPr id="44" name="que-ley-2-b"/>
          <p:cNvSpPr/>
          <p:nvPr/>
        </p:nvSpPr>
        <p:spPr>
          <a:xfrm>
            <a:off x="10227564" y="3977640"/>
            <a:ext cx="118872" cy="118872"/>
          </a:xfrm>
          <a:prstGeom prst="rect">
            <a:avLst/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45" name="que-ley-2-t"/>
          <p:cNvSpPr txBox="1"/>
          <p:nvPr/>
        </p:nvSpPr>
        <p:spPr>
          <a:xfrm>
            <a:off x="10410444" y="3931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Concurso</a:t>
            </a:r>
            <a:endParaRPr lang="en-US" sz="950" dirty="0"/>
          </a:p>
        </p:txBody>
      </p:sp>
      <p:sp>
        <p:nvSpPr>
          <p:cNvPr id="46" name="que-c-l"/>
          <p:cNvSpPr/>
          <p:nvPr/>
        </p:nvSpPr>
        <p:spPr>
          <a:xfrm>
            <a:off x="7863840" y="4389120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47" name="que-c-n"/>
          <p:cNvSpPr txBox="1"/>
          <p:nvPr/>
        </p:nvSpPr>
        <p:spPr>
          <a:xfrm>
            <a:off x="7863840" y="4498848"/>
            <a:ext cx="40294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44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88 %</a:t>
            </a:r>
            <a:endParaRPr lang="en-US" sz="3600" dirty="0"/>
          </a:p>
        </p:txBody>
      </p:sp>
      <p:sp>
        <p:nvSpPr>
          <p:cNvPr id="48" name="que-c-t"/>
          <p:cNvSpPr txBox="1"/>
          <p:nvPr/>
        </p:nvSpPr>
        <p:spPr>
          <a:xfrm>
            <a:off x="7863840" y="5065776"/>
            <a:ext cx="40294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los contratos son por invitación: consulta previa o ajuste directo.</a:t>
            </a:r>
            <a:endParaRPr lang="en-US" sz="1200" dirty="0"/>
          </a:p>
        </p:txBody>
      </p:sp>
      <p:sp>
        <p:nvSpPr>
          <p:cNvPr id="49" name="que-c-e"/>
          <p:cNvSpPr txBox="1"/>
          <p:nvPr/>
        </p:nvSpPr>
        <p:spPr>
          <a:xfrm>
            <a:off x="7863840" y="5532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50" name="que-d-t"/>
          <p:cNvSpPr txBox="1"/>
          <p:nvPr/>
        </p:nvSpPr>
        <p:spPr>
          <a:xfrm>
            <a:off x="7863840" y="5833872"/>
            <a:ext cx="4029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Estar en la lista de quien invita.</a:t>
            </a:r>
            <a:endParaRPr lang="en-US" sz="1300" dirty="0"/>
          </a:p>
        </p:txBody>
      </p:sp>
      <p:sp>
        <p:nvSpPr>
          <p:cNvPr id="51" name="que-d-e"/>
          <p:cNvSpPr txBox="1"/>
          <p:nvPr/>
        </p:nvSpPr>
        <p:spPr>
          <a:xfrm>
            <a:off x="7863840" y="6181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6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1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1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7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1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1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8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9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1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1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1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1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1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1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1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12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1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1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3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48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73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98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180"/>
                            </p:stCondLst>
                            <p:childTnLst>
                              <p:par>
                                <p:cTn id="1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48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78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Cómo compran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Resultados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Tiempo de sobra para entregar. Poco para presentarse.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654234" y="17373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Días que dan cámaras y juntas para entregar (240 contratos con plazo)</a:t>
            </a:r>
            <a:endParaRPr lang="en-US" sz="1100" dirty="0"/>
          </a:p>
        </p:txBody>
      </p:sp>
      <p:sp>
        <p:nvSpPr>
          <p:cNvPr id="7" name="pla-g-0-b"/>
          <p:cNvSpPr/>
          <p:nvPr/>
        </p:nvSpPr>
        <p:spPr>
          <a:xfrm>
            <a:off x="2774763" y="2891790"/>
            <a:ext cx="393306" cy="168021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8" name="pla-g-0-v"/>
          <p:cNvSpPr txBox="1"/>
          <p:nvPr/>
        </p:nvSpPr>
        <p:spPr>
          <a:xfrm>
            <a:off x="2562794" y="2663190"/>
            <a:ext cx="8172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42</a:t>
            </a:r>
            <a:endParaRPr lang="en-US" sz="1000" dirty="0"/>
          </a:p>
        </p:txBody>
      </p:sp>
      <p:sp>
        <p:nvSpPr>
          <p:cNvPr id="9" name="pla-g-0-c"/>
          <p:cNvSpPr txBox="1"/>
          <p:nvPr/>
        </p:nvSpPr>
        <p:spPr>
          <a:xfrm>
            <a:off x="2562794" y="4626864"/>
            <a:ext cx="8172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0-14</a:t>
            </a:r>
            <a:endParaRPr lang="en-US" sz="950" dirty="0"/>
          </a:p>
        </p:txBody>
      </p:sp>
      <p:sp>
        <p:nvSpPr>
          <p:cNvPr id="10" name="pla-g-1-b"/>
          <p:cNvSpPr/>
          <p:nvPr/>
        </p:nvSpPr>
        <p:spPr>
          <a:xfrm>
            <a:off x="3409128" y="2811780"/>
            <a:ext cx="393306" cy="176022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1" name="pla-g-1-v"/>
          <p:cNvSpPr txBox="1"/>
          <p:nvPr/>
        </p:nvSpPr>
        <p:spPr>
          <a:xfrm>
            <a:off x="3197159" y="2583180"/>
            <a:ext cx="8172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44</a:t>
            </a:r>
            <a:endParaRPr lang="en-US" sz="1000" dirty="0"/>
          </a:p>
        </p:txBody>
      </p:sp>
      <p:sp>
        <p:nvSpPr>
          <p:cNvPr id="12" name="pla-g-1-c"/>
          <p:cNvSpPr txBox="1"/>
          <p:nvPr/>
        </p:nvSpPr>
        <p:spPr>
          <a:xfrm>
            <a:off x="3197159" y="4626864"/>
            <a:ext cx="8172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15-29</a:t>
            </a:r>
            <a:endParaRPr lang="en-US" sz="950" dirty="0"/>
          </a:p>
        </p:txBody>
      </p:sp>
      <p:sp>
        <p:nvSpPr>
          <p:cNvPr id="13" name="pla-g-2-b"/>
          <p:cNvSpPr/>
          <p:nvPr/>
        </p:nvSpPr>
        <p:spPr>
          <a:xfrm>
            <a:off x="4043493" y="3211830"/>
            <a:ext cx="393306" cy="136017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4" name="pla-g-2-v"/>
          <p:cNvSpPr txBox="1"/>
          <p:nvPr/>
        </p:nvSpPr>
        <p:spPr>
          <a:xfrm>
            <a:off x="3831524" y="2983230"/>
            <a:ext cx="8172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34</a:t>
            </a:r>
            <a:endParaRPr lang="en-US" sz="1000" dirty="0"/>
          </a:p>
        </p:txBody>
      </p:sp>
      <p:sp>
        <p:nvSpPr>
          <p:cNvPr id="15" name="pla-g-2-c"/>
          <p:cNvSpPr txBox="1"/>
          <p:nvPr/>
        </p:nvSpPr>
        <p:spPr>
          <a:xfrm>
            <a:off x="3831524" y="4626864"/>
            <a:ext cx="8172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30-44</a:t>
            </a:r>
            <a:endParaRPr lang="en-US" sz="950" dirty="0"/>
          </a:p>
        </p:txBody>
      </p:sp>
      <p:sp>
        <p:nvSpPr>
          <p:cNvPr id="16" name="pla-g-3-b"/>
          <p:cNvSpPr/>
          <p:nvPr/>
        </p:nvSpPr>
        <p:spPr>
          <a:xfrm>
            <a:off x="4677858" y="4251960"/>
            <a:ext cx="393306" cy="32004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7" name="pla-g-3-v"/>
          <p:cNvSpPr txBox="1"/>
          <p:nvPr/>
        </p:nvSpPr>
        <p:spPr>
          <a:xfrm>
            <a:off x="4465889" y="4023360"/>
            <a:ext cx="8172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000" dirty="0"/>
          </a:p>
        </p:txBody>
      </p:sp>
      <p:sp>
        <p:nvSpPr>
          <p:cNvPr id="18" name="pla-g-3-c"/>
          <p:cNvSpPr txBox="1"/>
          <p:nvPr/>
        </p:nvSpPr>
        <p:spPr>
          <a:xfrm>
            <a:off x="4465889" y="4626864"/>
            <a:ext cx="8172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45-59</a:t>
            </a:r>
            <a:endParaRPr lang="en-US" sz="950" dirty="0"/>
          </a:p>
        </p:txBody>
      </p:sp>
      <p:sp>
        <p:nvSpPr>
          <p:cNvPr id="19" name="pla-g-4-b"/>
          <p:cNvSpPr/>
          <p:nvPr/>
        </p:nvSpPr>
        <p:spPr>
          <a:xfrm>
            <a:off x="5312223" y="2971800"/>
            <a:ext cx="393306" cy="160020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0" name="pla-g-4-v"/>
          <p:cNvSpPr txBox="1"/>
          <p:nvPr/>
        </p:nvSpPr>
        <p:spPr>
          <a:xfrm>
            <a:off x="5100254" y="2743200"/>
            <a:ext cx="8172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</a:t>
            </a:r>
            <a:endParaRPr lang="en-US" sz="1000" dirty="0"/>
          </a:p>
        </p:txBody>
      </p:sp>
      <p:sp>
        <p:nvSpPr>
          <p:cNvPr id="21" name="pla-g-4-c"/>
          <p:cNvSpPr txBox="1"/>
          <p:nvPr/>
        </p:nvSpPr>
        <p:spPr>
          <a:xfrm>
            <a:off x="5100254" y="4626864"/>
            <a:ext cx="8172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60-89</a:t>
            </a:r>
            <a:endParaRPr lang="en-US" sz="950" dirty="0"/>
          </a:p>
        </p:txBody>
      </p:sp>
      <p:sp>
        <p:nvSpPr>
          <p:cNvPr id="22" name="pla-g-5-b"/>
          <p:cNvSpPr/>
          <p:nvPr/>
        </p:nvSpPr>
        <p:spPr>
          <a:xfrm>
            <a:off x="5946588" y="4131945"/>
            <a:ext cx="393306" cy="440055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3" name="pla-g-5-v"/>
          <p:cNvSpPr txBox="1"/>
          <p:nvPr/>
        </p:nvSpPr>
        <p:spPr>
          <a:xfrm>
            <a:off x="5734619" y="3903345"/>
            <a:ext cx="8172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pla-g-5-c"/>
          <p:cNvSpPr txBox="1"/>
          <p:nvPr/>
        </p:nvSpPr>
        <p:spPr>
          <a:xfrm>
            <a:off x="5734619" y="4626864"/>
            <a:ext cx="8172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90-119</a:t>
            </a:r>
            <a:endParaRPr lang="en-US" sz="950" dirty="0"/>
          </a:p>
        </p:txBody>
      </p:sp>
      <p:sp>
        <p:nvSpPr>
          <p:cNvPr id="25" name="pla-g-6-b"/>
          <p:cNvSpPr/>
          <p:nvPr/>
        </p:nvSpPr>
        <p:spPr>
          <a:xfrm>
            <a:off x="6580953" y="4371975"/>
            <a:ext cx="393306" cy="200025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6" name="pla-g-6-v"/>
          <p:cNvSpPr txBox="1"/>
          <p:nvPr/>
        </p:nvSpPr>
        <p:spPr>
          <a:xfrm>
            <a:off x="6368984" y="4143375"/>
            <a:ext cx="8172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pla-g-6-c"/>
          <p:cNvSpPr txBox="1"/>
          <p:nvPr/>
        </p:nvSpPr>
        <p:spPr>
          <a:xfrm>
            <a:off x="6368984" y="4626864"/>
            <a:ext cx="8172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120-179</a:t>
            </a:r>
            <a:endParaRPr lang="en-US" sz="950" dirty="0"/>
          </a:p>
        </p:txBody>
      </p:sp>
      <p:sp>
        <p:nvSpPr>
          <p:cNvPr id="28" name="pla-g-7-b"/>
          <p:cNvSpPr/>
          <p:nvPr/>
        </p:nvSpPr>
        <p:spPr>
          <a:xfrm>
            <a:off x="7215318" y="2331720"/>
            <a:ext cx="393306" cy="224028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9" name="pla-g-7-v"/>
          <p:cNvSpPr txBox="1"/>
          <p:nvPr/>
        </p:nvSpPr>
        <p:spPr>
          <a:xfrm>
            <a:off x="7003349" y="2103120"/>
            <a:ext cx="8172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56</a:t>
            </a:r>
            <a:endParaRPr lang="en-US" sz="1000" dirty="0"/>
          </a:p>
        </p:txBody>
      </p:sp>
      <p:sp>
        <p:nvSpPr>
          <p:cNvPr id="30" name="pla-g-7-c"/>
          <p:cNvSpPr txBox="1"/>
          <p:nvPr/>
        </p:nvSpPr>
        <p:spPr>
          <a:xfrm>
            <a:off x="7003349" y="4626864"/>
            <a:ext cx="8172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180+</a:t>
            </a:r>
            <a:endParaRPr lang="en-US" sz="950" dirty="0"/>
          </a:p>
        </p:txBody>
      </p:sp>
      <p:sp>
        <p:nvSpPr>
          <p:cNvPr id="31" name="pla-g-base"/>
          <p:cNvSpPr/>
          <p:nvPr/>
        </p:nvSpPr>
        <p:spPr>
          <a:xfrm>
            <a:off x="2654234" y="4572000"/>
            <a:ext cx="507492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32" name="pla-txt"/>
          <p:cNvSpPr txBox="1"/>
          <p:nvPr/>
        </p:nvSpPr>
        <p:spPr>
          <a:xfrm>
            <a:off x="2654234" y="50292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Mediana: 44 días. Solo el 18 % pide 14 días o menos: las dos semanas de producción caben.</a:t>
            </a:r>
            <a:endParaRPr lang="en-US" sz="1200" dirty="0"/>
          </a:p>
        </p:txBody>
      </p:sp>
      <p:sp>
        <p:nvSpPr>
          <p:cNvPr id="33" name="pla-e"/>
          <p:cNvSpPr txBox="1"/>
          <p:nvPr/>
        </p:nvSpPr>
        <p:spPr>
          <a:xfrm>
            <a:off x="2654234" y="55046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863840" y="1737360"/>
            <a:ext cx="40294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Días para presentar propuesta (mediana; 110 concursos anunciados, 14 de cámaras)</a:t>
            </a:r>
            <a:endParaRPr lang="en-US" sz="1100" dirty="0"/>
          </a:p>
        </p:txBody>
      </p:sp>
      <p:sp>
        <p:nvSpPr>
          <p:cNvPr id="35" name="anu-g-0-b"/>
          <p:cNvSpPr/>
          <p:nvPr/>
        </p:nvSpPr>
        <p:spPr>
          <a:xfrm>
            <a:off x="8014943" y="2535382"/>
            <a:ext cx="369363" cy="203661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6" name="anu-g-0-v"/>
          <p:cNvSpPr txBox="1"/>
          <p:nvPr/>
        </p:nvSpPr>
        <p:spPr>
          <a:xfrm>
            <a:off x="7772400" y="2306782"/>
            <a:ext cx="8544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</a:t>
            </a:r>
            <a:endParaRPr lang="en-US" sz="1100" dirty="0"/>
          </a:p>
        </p:txBody>
      </p:sp>
      <p:sp>
        <p:nvSpPr>
          <p:cNvPr id="37" name="anu-g-0-c"/>
          <p:cNvSpPr txBox="1"/>
          <p:nvPr/>
        </p:nvSpPr>
        <p:spPr>
          <a:xfrm>
            <a:off x="7772400" y="4626864"/>
            <a:ext cx="8544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2020</a:t>
            </a:r>
            <a:endParaRPr lang="en-US" sz="1000" dirty="0"/>
          </a:p>
        </p:txBody>
      </p:sp>
      <p:sp>
        <p:nvSpPr>
          <p:cNvPr id="38" name="anu-g-1-b"/>
          <p:cNvSpPr/>
          <p:nvPr/>
        </p:nvSpPr>
        <p:spPr>
          <a:xfrm>
            <a:off x="8686512" y="2535382"/>
            <a:ext cx="369363" cy="2036618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9" name="anu-g-1-v"/>
          <p:cNvSpPr txBox="1"/>
          <p:nvPr/>
        </p:nvSpPr>
        <p:spPr>
          <a:xfrm>
            <a:off x="8443969" y="2306782"/>
            <a:ext cx="8544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</a:t>
            </a:r>
            <a:endParaRPr lang="en-US" sz="1100" dirty="0"/>
          </a:p>
        </p:txBody>
      </p:sp>
      <p:sp>
        <p:nvSpPr>
          <p:cNvPr id="40" name="anu-g-1-c"/>
          <p:cNvSpPr txBox="1"/>
          <p:nvPr/>
        </p:nvSpPr>
        <p:spPr>
          <a:xfrm>
            <a:off x="8443969" y="4626864"/>
            <a:ext cx="8544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2021</a:t>
            </a:r>
            <a:endParaRPr lang="en-US" sz="1000" dirty="0"/>
          </a:p>
        </p:txBody>
      </p:sp>
      <p:sp>
        <p:nvSpPr>
          <p:cNvPr id="41" name="anu-g-2-b"/>
          <p:cNvSpPr/>
          <p:nvPr/>
        </p:nvSpPr>
        <p:spPr>
          <a:xfrm>
            <a:off x="9358081" y="2331720"/>
            <a:ext cx="369363" cy="224028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2" name="anu-g-2-v"/>
          <p:cNvSpPr txBox="1"/>
          <p:nvPr/>
        </p:nvSpPr>
        <p:spPr>
          <a:xfrm>
            <a:off x="9115538" y="2103120"/>
            <a:ext cx="8544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33</a:t>
            </a:r>
            <a:endParaRPr lang="en-US" sz="1100" dirty="0"/>
          </a:p>
        </p:txBody>
      </p:sp>
      <p:sp>
        <p:nvSpPr>
          <p:cNvPr id="43" name="anu-g-2-c"/>
          <p:cNvSpPr txBox="1"/>
          <p:nvPr/>
        </p:nvSpPr>
        <p:spPr>
          <a:xfrm>
            <a:off x="9115538" y="4626864"/>
            <a:ext cx="8544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2022</a:t>
            </a:r>
            <a:endParaRPr lang="en-US" sz="1000" dirty="0"/>
          </a:p>
        </p:txBody>
      </p:sp>
      <p:sp>
        <p:nvSpPr>
          <p:cNvPr id="44" name="anu-g-3-b"/>
          <p:cNvSpPr/>
          <p:nvPr/>
        </p:nvSpPr>
        <p:spPr>
          <a:xfrm>
            <a:off x="10029649" y="3757353"/>
            <a:ext cx="369363" cy="814647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45" name="anu-g-3-v"/>
          <p:cNvSpPr txBox="1"/>
          <p:nvPr/>
        </p:nvSpPr>
        <p:spPr>
          <a:xfrm>
            <a:off x="9787106" y="3528753"/>
            <a:ext cx="8544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1100" dirty="0"/>
          </a:p>
        </p:txBody>
      </p:sp>
      <p:sp>
        <p:nvSpPr>
          <p:cNvPr id="46" name="anu-g-3-c"/>
          <p:cNvSpPr txBox="1"/>
          <p:nvPr/>
        </p:nvSpPr>
        <p:spPr>
          <a:xfrm>
            <a:off x="9787106" y="4626864"/>
            <a:ext cx="8544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2023</a:t>
            </a:r>
            <a:endParaRPr lang="en-US" sz="1000" dirty="0"/>
          </a:p>
        </p:txBody>
      </p:sp>
      <p:sp>
        <p:nvSpPr>
          <p:cNvPr id="47" name="anu-g-4-b"/>
          <p:cNvSpPr/>
          <p:nvPr/>
        </p:nvSpPr>
        <p:spPr>
          <a:xfrm>
            <a:off x="10701218" y="3825240"/>
            <a:ext cx="369363" cy="74676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48" name="anu-g-4-v"/>
          <p:cNvSpPr txBox="1"/>
          <p:nvPr/>
        </p:nvSpPr>
        <p:spPr>
          <a:xfrm>
            <a:off x="10458675" y="3596640"/>
            <a:ext cx="8544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1100" dirty="0"/>
          </a:p>
        </p:txBody>
      </p:sp>
      <p:sp>
        <p:nvSpPr>
          <p:cNvPr id="49" name="anu-g-4-c"/>
          <p:cNvSpPr txBox="1"/>
          <p:nvPr/>
        </p:nvSpPr>
        <p:spPr>
          <a:xfrm>
            <a:off x="10458675" y="4626864"/>
            <a:ext cx="8544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2024</a:t>
            </a:r>
            <a:endParaRPr lang="en-US" sz="1000" dirty="0"/>
          </a:p>
        </p:txBody>
      </p:sp>
      <p:sp>
        <p:nvSpPr>
          <p:cNvPr id="50" name="anu-g-5-b"/>
          <p:cNvSpPr/>
          <p:nvPr/>
        </p:nvSpPr>
        <p:spPr>
          <a:xfrm>
            <a:off x="11372787" y="3825240"/>
            <a:ext cx="369363" cy="74676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51" name="anu-g-5-v"/>
          <p:cNvSpPr txBox="1"/>
          <p:nvPr/>
        </p:nvSpPr>
        <p:spPr>
          <a:xfrm>
            <a:off x="11130244" y="3596640"/>
            <a:ext cx="8544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1100" dirty="0"/>
          </a:p>
        </p:txBody>
      </p:sp>
      <p:sp>
        <p:nvSpPr>
          <p:cNvPr id="52" name="anu-g-5-c"/>
          <p:cNvSpPr txBox="1"/>
          <p:nvPr/>
        </p:nvSpPr>
        <p:spPr>
          <a:xfrm>
            <a:off x="11130244" y="4626864"/>
            <a:ext cx="8544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1000" dirty="0"/>
          </a:p>
        </p:txBody>
      </p:sp>
      <p:sp>
        <p:nvSpPr>
          <p:cNvPr id="53" name="anu-g-base"/>
          <p:cNvSpPr/>
          <p:nvPr/>
        </p:nvSpPr>
        <p:spPr>
          <a:xfrm>
            <a:off x="7863840" y="4572000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54" name="anu-txt"/>
          <p:cNvSpPr txBox="1"/>
          <p:nvPr/>
        </p:nvSpPr>
        <p:spPr>
          <a:xfrm>
            <a:off x="7863840" y="5029200"/>
            <a:ext cx="4029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30 días en 2020 a 11 en 2025.</a:t>
            </a:r>
            <a:endParaRPr lang="en-US" sz="1200" dirty="0"/>
          </a:p>
        </p:txBody>
      </p:sp>
      <p:sp>
        <p:nvSpPr>
          <p:cNvPr id="55" name="anu-e"/>
          <p:cNvSpPr txBox="1"/>
          <p:nvPr/>
        </p:nvSpPr>
        <p:spPr>
          <a:xfrm>
            <a:off x="7863840" y="5349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56" name="anu-d-l"/>
          <p:cNvSpPr/>
          <p:nvPr/>
        </p:nvSpPr>
        <p:spPr>
          <a:xfrm>
            <a:off x="7863840" y="5669280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57" name="anu-d-t"/>
          <p:cNvSpPr txBox="1"/>
          <p:nvPr/>
        </p:nvSpPr>
        <p:spPr>
          <a:xfrm>
            <a:off x="7863840" y="5760720"/>
            <a:ext cx="40294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Tener la propuesta lista antes de que se abra la compra.</a:t>
            </a:r>
            <a:endParaRPr lang="en-US" sz="1300" dirty="0"/>
          </a:p>
        </p:txBody>
      </p:sp>
      <p:sp>
        <p:nvSpPr>
          <p:cNvPr id="58" name="anu-d-e"/>
          <p:cNvSpPr txBox="1"/>
          <p:nvPr/>
        </p:nvSpPr>
        <p:spPr>
          <a:xfrm>
            <a:off x="7863840" y="62727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2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9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7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7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6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7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7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7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7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3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7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7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7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7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0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7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7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7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7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370"/>
                            </p:stCondLst>
                            <p:childTnLst>
                              <p:par>
                                <p:cTn id="6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7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7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7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7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40"/>
                            </p:stCondLst>
                            <p:childTnLst>
                              <p:par>
                                <p:cTn id="7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7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7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7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7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960"/>
                            </p:stCondLst>
                            <p:childTnLst>
                              <p:par>
                                <p:cTn id="8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7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7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7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7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130"/>
                            </p:stCondLst>
                            <p:childTnLst>
                              <p:par>
                                <p:cTn id="9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7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7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7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7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30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17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17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7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17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470"/>
                            </p:stCondLst>
                            <p:childTnLst>
                              <p:par>
                                <p:cTn id="1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7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17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17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17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640"/>
                            </p:stCondLst>
                            <p:childTnLst>
                              <p:par>
                                <p:cTn id="1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17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17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17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17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810"/>
                            </p:stCondLst>
                            <p:childTnLst>
                              <p:par>
                                <p:cTn id="1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17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17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7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7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98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23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  <p:bldP spid="41" grpId="0" animBg="1"/>
      <p:bldP spid="42" grpId="0" animBg="1"/>
      <p:bldP spid="44" grpId="0" animBg="1"/>
      <p:bldP spid="45" grpId="0" animBg="1"/>
      <p:bldP spid="47" grpId="0" animBg="1"/>
      <p:bldP spid="48" grpId="0" animBg="1"/>
      <p:bldP spid="50" grpId="0" animBg="1"/>
      <p:bldP spid="51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a60e9ee-cec4-5fc1-bdd0-d8a953451dda/scratchpad/deck/v12/assets/cartel_ter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8233" y="0"/>
            <a:ext cx="4843463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Proveedores · H2 y H5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04792" y="91440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b="1" spc="-216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Quien ya vende,</a:t>
            </a:r>
            <a:endParaRPr lang="en-US" sz="54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5400" b="1" spc="-216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repite.</a:t>
            </a:r>
            <a:endParaRPr lang="en-US" sz="5400" dirty="0"/>
          </a:p>
        </p:txBody>
      </p:sp>
      <p:sp>
        <p:nvSpPr>
          <p:cNvPr id="5" name="rep-cifra"/>
          <p:cNvSpPr txBox="1"/>
          <p:nvPr/>
        </p:nvSpPr>
        <p:spPr>
          <a:xfrm>
            <a:off x="259072" y="260604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600" b="1" spc="-464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 de 32</a:t>
            </a:r>
            <a:endParaRPr lang="en-US" sz="11600" dirty="0"/>
          </a:p>
        </p:txBody>
      </p:sp>
      <p:sp>
        <p:nvSpPr>
          <p:cNvPr id="6" name="rep-texto"/>
          <p:cNvSpPr txBox="1"/>
          <p:nvPr/>
        </p:nvSpPr>
        <p:spPr>
          <a:xfrm>
            <a:off x="304792" y="41148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spc="-18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cámaras y juntas que compran ropa varios años repiten proveedor. Al azar saldrían 6.</a:t>
            </a:r>
            <a:endParaRPr lang="en-US" sz="1800" dirty="0"/>
          </a:p>
        </p:txBody>
      </p:sp>
      <p:sp>
        <p:nvSpPr>
          <p:cNvPr id="7" name="rep-dato"/>
          <p:cNvSpPr txBox="1"/>
          <p:nvPr/>
        </p:nvSpPr>
        <p:spPr>
          <a:xfrm>
            <a:off x="304792" y="4892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8" name="rep-l"/>
          <p:cNvSpPr/>
          <p:nvPr/>
        </p:nvSpPr>
        <p:spPr>
          <a:xfrm>
            <a:off x="304792" y="5349240"/>
            <a:ext cx="6583680" cy="0"/>
          </a:xfrm>
          <a:prstGeom prst="line">
            <a:avLst/>
          </a:prstGeom>
          <a:noFill/>
          <a:ln w="9525">
            <a:solidFill>
              <a:srgbClr val="EDE5DC"/>
            </a:solidFill>
            <a:prstDash val="solid"/>
          </a:ln>
        </p:spPr>
      </p:sp>
      <p:sp>
        <p:nvSpPr>
          <p:cNvPr id="9" name="rep-h2"/>
          <p:cNvSpPr txBox="1"/>
          <p:nvPr/>
        </p:nvSpPr>
        <p:spPr>
          <a:xfrm>
            <a:off x="304792" y="54864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spc="-14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 nadie se lo lleva todo: 150 proveedores, y los 10 mayores suman un tercio del gasto.</a:t>
            </a:r>
            <a:endParaRPr lang="en-US" sz="1400" dirty="0"/>
          </a:p>
        </p:txBody>
      </p:sp>
      <p:sp>
        <p:nvSpPr>
          <p:cNvPr id="10" name="rep-h2-e"/>
          <p:cNvSpPr txBox="1"/>
          <p:nvPr/>
        </p:nvSpPr>
        <p:spPr>
          <a:xfrm>
            <a:off x="304792" y="60533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Competencia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Resultados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rivales directos se llevan 1 de cada 5 euros.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654234" y="17373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Gráficas y confección por municipio del piloto (INE, 2022)</a:t>
            </a:r>
            <a:endParaRPr lang="en-US" sz="1100" dirty="0"/>
          </a:p>
        </p:txBody>
      </p:sp>
      <p:sp>
        <p:nvSpPr>
          <p:cNvPr id="7" name="gra-g-0-et"/>
          <p:cNvSpPr txBox="1"/>
          <p:nvPr/>
        </p:nvSpPr>
        <p:spPr>
          <a:xfrm>
            <a:off x="2654234" y="2103120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Oliveira do Hospital</a:t>
            </a:r>
            <a:endParaRPr lang="en-US" sz="1050" dirty="0"/>
          </a:p>
        </p:txBody>
      </p:sp>
      <p:sp>
        <p:nvSpPr>
          <p:cNvPr id="8" name="gra-g-0-ib"/>
          <p:cNvSpPr/>
          <p:nvPr/>
        </p:nvSpPr>
        <p:spPr>
          <a:xfrm>
            <a:off x="4254434" y="2103120"/>
            <a:ext cx="816864" cy="173736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9" name="gra-g-0-iv"/>
          <p:cNvSpPr txBox="1"/>
          <p:nvPr/>
        </p:nvSpPr>
        <p:spPr>
          <a:xfrm>
            <a:off x="5126162" y="2084832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gra-g-0-cb"/>
          <p:cNvSpPr/>
          <p:nvPr/>
        </p:nvSpPr>
        <p:spPr>
          <a:xfrm>
            <a:off x="4254434" y="2331720"/>
            <a:ext cx="3063240" cy="173736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1" name="gra-g-0-cv"/>
          <p:cNvSpPr txBox="1"/>
          <p:nvPr/>
        </p:nvSpPr>
        <p:spPr>
          <a:xfrm>
            <a:off x="7372538" y="2313432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</a:t>
            </a:r>
            <a:endParaRPr lang="en-US" sz="950" dirty="0"/>
          </a:p>
        </p:txBody>
      </p:sp>
      <p:sp>
        <p:nvSpPr>
          <p:cNvPr id="12" name="gra-g-1-et"/>
          <p:cNvSpPr txBox="1"/>
          <p:nvPr/>
        </p:nvSpPr>
        <p:spPr>
          <a:xfrm>
            <a:off x="2654234" y="2615184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Seia</a:t>
            </a:r>
            <a:endParaRPr lang="en-US" sz="1050" dirty="0"/>
          </a:p>
        </p:txBody>
      </p:sp>
      <p:sp>
        <p:nvSpPr>
          <p:cNvPr id="13" name="gra-g-1-ib"/>
          <p:cNvSpPr/>
          <p:nvPr/>
        </p:nvSpPr>
        <p:spPr>
          <a:xfrm>
            <a:off x="4254434" y="2615184"/>
            <a:ext cx="1021080" cy="173736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4" name="gra-g-1-iv"/>
          <p:cNvSpPr txBox="1"/>
          <p:nvPr/>
        </p:nvSpPr>
        <p:spPr>
          <a:xfrm>
            <a:off x="5330378" y="2596896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950" dirty="0"/>
          </a:p>
        </p:txBody>
      </p:sp>
      <p:sp>
        <p:nvSpPr>
          <p:cNvPr id="15" name="gra-g-1-cb"/>
          <p:cNvSpPr/>
          <p:nvPr/>
        </p:nvSpPr>
        <p:spPr>
          <a:xfrm>
            <a:off x="4254434" y="2843784"/>
            <a:ext cx="2450592" cy="173736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6" name="gra-g-1-cv"/>
          <p:cNvSpPr txBox="1"/>
          <p:nvPr/>
        </p:nvSpPr>
        <p:spPr>
          <a:xfrm>
            <a:off x="6759890" y="2825496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950" dirty="0"/>
          </a:p>
        </p:txBody>
      </p:sp>
      <p:sp>
        <p:nvSpPr>
          <p:cNvPr id="17" name="gra-g-2-et"/>
          <p:cNvSpPr txBox="1"/>
          <p:nvPr/>
        </p:nvSpPr>
        <p:spPr>
          <a:xfrm>
            <a:off x="2654234" y="3127248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Tábua</a:t>
            </a:r>
            <a:endParaRPr lang="en-US" sz="1050" dirty="0"/>
          </a:p>
        </p:txBody>
      </p:sp>
      <p:sp>
        <p:nvSpPr>
          <p:cNvPr id="18" name="gra-g-2-ib"/>
          <p:cNvSpPr/>
          <p:nvPr/>
        </p:nvSpPr>
        <p:spPr>
          <a:xfrm>
            <a:off x="4254434" y="3127248"/>
            <a:ext cx="612648" cy="173736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9" name="gra-g-2-iv"/>
          <p:cNvSpPr txBox="1"/>
          <p:nvPr/>
        </p:nvSpPr>
        <p:spPr>
          <a:xfrm>
            <a:off x="4921946" y="3108960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gra-g-2-cb"/>
          <p:cNvSpPr/>
          <p:nvPr/>
        </p:nvSpPr>
        <p:spPr>
          <a:xfrm>
            <a:off x="4254434" y="3355848"/>
            <a:ext cx="1633728" cy="173736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1" name="gra-g-2-cv"/>
          <p:cNvSpPr txBox="1"/>
          <p:nvPr/>
        </p:nvSpPr>
        <p:spPr>
          <a:xfrm>
            <a:off x="5943026" y="3337560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950" dirty="0"/>
          </a:p>
        </p:txBody>
      </p:sp>
      <p:sp>
        <p:nvSpPr>
          <p:cNvPr id="22" name="gra-g-3-et"/>
          <p:cNvSpPr txBox="1"/>
          <p:nvPr/>
        </p:nvSpPr>
        <p:spPr>
          <a:xfrm>
            <a:off x="2654234" y="3639312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Arganil</a:t>
            </a:r>
            <a:endParaRPr lang="en-US" sz="1050" dirty="0"/>
          </a:p>
        </p:txBody>
      </p:sp>
      <p:sp>
        <p:nvSpPr>
          <p:cNvPr id="23" name="gra-g-3-ib"/>
          <p:cNvSpPr/>
          <p:nvPr/>
        </p:nvSpPr>
        <p:spPr>
          <a:xfrm>
            <a:off x="4254434" y="3639312"/>
            <a:ext cx="408432" cy="173736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4" name="gra-g-3-iv"/>
          <p:cNvSpPr txBox="1"/>
          <p:nvPr/>
        </p:nvSpPr>
        <p:spPr>
          <a:xfrm>
            <a:off x="4717730" y="362102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50" dirty="0"/>
          </a:p>
        </p:txBody>
      </p:sp>
      <p:sp>
        <p:nvSpPr>
          <p:cNvPr id="25" name="gra-g-3-cb"/>
          <p:cNvSpPr/>
          <p:nvPr/>
        </p:nvSpPr>
        <p:spPr>
          <a:xfrm>
            <a:off x="4254434" y="3867912"/>
            <a:ext cx="612648" cy="173736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6" name="gra-g-3-cv"/>
          <p:cNvSpPr txBox="1"/>
          <p:nvPr/>
        </p:nvSpPr>
        <p:spPr>
          <a:xfrm>
            <a:off x="4921946" y="384962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50" dirty="0"/>
          </a:p>
        </p:txBody>
      </p:sp>
      <p:sp>
        <p:nvSpPr>
          <p:cNvPr id="27" name="gra-g-4-et"/>
          <p:cNvSpPr txBox="1"/>
          <p:nvPr/>
        </p:nvSpPr>
        <p:spPr>
          <a:xfrm>
            <a:off x="2654234" y="4151376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Carregal do Sal</a:t>
            </a:r>
            <a:endParaRPr lang="en-US" sz="1050" dirty="0"/>
          </a:p>
        </p:txBody>
      </p:sp>
      <p:sp>
        <p:nvSpPr>
          <p:cNvPr id="28" name="gra-g-4-ib"/>
          <p:cNvSpPr/>
          <p:nvPr/>
        </p:nvSpPr>
        <p:spPr>
          <a:xfrm>
            <a:off x="4254434" y="4151376"/>
            <a:ext cx="612648" cy="173736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9" name="gra-g-4-iv"/>
          <p:cNvSpPr txBox="1"/>
          <p:nvPr/>
        </p:nvSpPr>
        <p:spPr>
          <a:xfrm>
            <a:off x="4921946" y="4133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50" dirty="0"/>
          </a:p>
        </p:txBody>
      </p:sp>
      <p:sp>
        <p:nvSpPr>
          <p:cNvPr id="30" name="gra-g-4-cb"/>
          <p:cNvSpPr/>
          <p:nvPr/>
        </p:nvSpPr>
        <p:spPr>
          <a:xfrm>
            <a:off x="4254434" y="4379976"/>
            <a:ext cx="408432" cy="173736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1" name="gra-g-4-cv"/>
          <p:cNvSpPr txBox="1"/>
          <p:nvPr/>
        </p:nvSpPr>
        <p:spPr>
          <a:xfrm>
            <a:off x="4717730" y="43616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50" dirty="0"/>
          </a:p>
        </p:txBody>
      </p:sp>
      <p:sp>
        <p:nvSpPr>
          <p:cNvPr id="32" name="gra-g-5-et"/>
          <p:cNvSpPr txBox="1"/>
          <p:nvPr/>
        </p:nvSpPr>
        <p:spPr>
          <a:xfrm>
            <a:off x="2654234" y="4663440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Nelas</a:t>
            </a:r>
            <a:endParaRPr lang="en-US" sz="1050" dirty="0"/>
          </a:p>
        </p:txBody>
      </p:sp>
      <p:sp>
        <p:nvSpPr>
          <p:cNvPr id="33" name="gra-g-5-ib"/>
          <p:cNvSpPr/>
          <p:nvPr/>
        </p:nvSpPr>
        <p:spPr>
          <a:xfrm>
            <a:off x="4254434" y="4663440"/>
            <a:ext cx="204216" cy="173736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34" name="gra-g-5-iv"/>
          <p:cNvSpPr txBox="1"/>
          <p:nvPr/>
        </p:nvSpPr>
        <p:spPr>
          <a:xfrm>
            <a:off x="4513514" y="4645152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gra-g-5-cb"/>
          <p:cNvSpPr/>
          <p:nvPr/>
        </p:nvSpPr>
        <p:spPr>
          <a:xfrm>
            <a:off x="4254434" y="4892040"/>
            <a:ext cx="612648" cy="173736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6" name="gra-g-5-cv"/>
          <p:cNvSpPr txBox="1"/>
          <p:nvPr/>
        </p:nvSpPr>
        <p:spPr>
          <a:xfrm>
            <a:off x="4921946" y="4873752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50" dirty="0"/>
          </a:p>
        </p:txBody>
      </p:sp>
      <p:sp>
        <p:nvSpPr>
          <p:cNvPr id="37" name="gra-ley-0-b"/>
          <p:cNvSpPr/>
          <p:nvPr/>
        </p:nvSpPr>
        <p:spPr>
          <a:xfrm>
            <a:off x="2654234" y="5303520"/>
            <a:ext cx="118872" cy="118872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38" name="gra-ley-0-t"/>
          <p:cNvSpPr txBox="1"/>
          <p:nvPr/>
        </p:nvSpPr>
        <p:spPr>
          <a:xfrm>
            <a:off x="2837114" y="5257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gráficas (impresión)</a:t>
            </a:r>
            <a:endParaRPr lang="en-US" sz="950" dirty="0"/>
          </a:p>
        </p:txBody>
      </p:sp>
      <p:sp>
        <p:nvSpPr>
          <p:cNvPr id="39" name="gra-ley-1-b"/>
          <p:cNvSpPr/>
          <p:nvPr/>
        </p:nvSpPr>
        <p:spPr>
          <a:xfrm>
            <a:off x="4162994" y="5303520"/>
            <a:ext cx="118872" cy="11887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0" name="gra-ley-1-t"/>
          <p:cNvSpPr txBox="1"/>
          <p:nvPr/>
        </p:nvSpPr>
        <p:spPr>
          <a:xfrm>
            <a:off x="4345874" y="5257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confección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2654234" y="576072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Fuentes: INE (empresas por actividad, 2022), Portal BASE y OpenStreetMap.</a:t>
            </a:r>
            <a:endParaRPr lang="en-US" sz="900" dirty="0"/>
          </a:p>
        </p:txBody>
      </p:sp>
      <p:sp>
        <p:nvSpPr>
          <p:cNvPr id="42" name="gra-dato"/>
          <p:cNvSpPr txBox="1"/>
          <p:nvPr/>
        </p:nvSpPr>
        <p:spPr>
          <a:xfrm>
            <a:off x="2654234" y="6035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43" name="gra-m-l"/>
          <p:cNvSpPr/>
          <p:nvPr/>
        </p:nvSpPr>
        <p:spPr>
          <a:xfrm>
            <a:off x="7863840" y="1719072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44" name="gra-m-0"/>
          <p:cNvSpPr/>
          <p:nvPr/>
        </p:nvSpPr>
        <p:spPr>
          <a:xfrm>
            <a:off x="7882128" y="1865376"/>
            <a:ext cx="402336" cy="402336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45" name="gra-m-0t"/>
          <p:cNvSpPr txBox="1"/>
          <p:nvPr/>
        </p:nvSpPr>
        <p:spPr>
          <a:xfrm>
            <a:off x="7882128" y="192024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€</a:t>
            </a:r>
            <a:endParaRPr lang="en-US" sz="1400" dirty="0"/>
          </a:p>
        </p:txBody>
      </p:sp>
      <p:sp>
        <p:nvSpPr>
          <p:cNvPr id="46" name="gra-m-1"/>
          <p:cNvSpPr/>
          <p:nvPr/>
        </p:nvSpPr>
        <p:spPr>
          <a:xfrm>
            <a:off x="8412480" y="1865376"/>
            <a:ext cx="402336" cy="402336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7" name="gra-m-1t"/>
          <p:cNvSpPr txBox="1"/>
          <p:nvPr/>
        </p:nvSpPr>
        <p:spPr>
          <a:xfrm>
            <a:off x="8412480" y="192024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€</a:t>
            </a:r>
            <a:endParaRPr lang="en-US" sz="1400" dirty="0"/>
          </a:p>
        </p:txBody>
      </p:sp>
      <p:sp>
        <p:nvSpPr>
          <p:cNvPr id="48" name="gra-m-2"/>
          <p:cNvSpPr/>
          <p:nvPr/>
        </p:nvSpPr>
        <p:spPr>
          <a:xfrm>
            <a:off x="8942832" y="1865376"/>
            <a:ext cx="402336" cy="402336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9" name="gra-m-2t"/>
          <p:cNvSpPr txBox="1"/>
          <p:nvPr/>
        </p:nvSpPr>
        <p:spPr>
          <a:xfrm>
            <a:off x="8942832" y="192024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€</a:t>
            </a:r>
            <a:endParaRPr lang="en-US" sz="1400" dirty="0"/>
          </a:p>
        </p:txBody>
      </p:sp>
      <p:sp>
        <p:nvSpPr>
          <p:cNvPr id="50" name="gra-m-3"/>
          <p:cNvSpPr/>
          <p:nvPr/>
        </p:nvSpPr>
        <p:spPr>
          <a:xfrm>
            <a:off x="9473184" y="1865376"/>
            <a:ext cx="402336" cy="402336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1" name="gra-m-3t"/>
          <p:cNvSpPr txBox="1"/>
          <p:nvPr/>
        </p:nvSpPr>
        <p:spPr>
          <a:xfrm>
            <a:off x="9473184" y="192024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€</a:t>
            </a:r>
            <a:endParaRPr lang="en-US" sz="1400" dirty="0"/>
          </a:p>
        </p:txBody>
      </p:sp>
      <p:sp>
        <p:nvSpPr>
          <p:cNvPr id="52" name="gra-m-4"/>
          <p:cNvSpPr/>
          <p:nvPr/>
        </p:nvSpPr>
        <p:spPr>
          <a:xfrm>
            <a:off x="10003536" y="1865376"/>
            <a:ext cx="402336" cy="402336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3" name="gra-m-4t"/>
          <p:cNvSpPr txBox="1"/>
          <p:nvPr/>
        </p:nvSpPr>
        <p:spPr>
          <a:xfrm>
            <a:off x="10003536" y="192024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€</a:t>
            </a:r>
            <a:endParaRPr lang="en-US" sz="1400" dirty="0"/>
          </a:p>
        </p:txBody>
      </p:sp>
      <p:sp>
        <p:nvSpPr>
          <p:cNvPr id="54" name="gra-m-n"/>
          <p:cNvSpPr txBox="1"/>
          <p:nvPr/>
        </p:nvSpPr>
        <p:spPr>
          <a:xfrm>
            <a:off x="10698480" y="1938528"/>
            <a:ext cx="11947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15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de cada 5 €</a:t>
            </a:r>
            <a:endParaRPr lang="en-US" sz="1500" dirty="0"/>
          </a:p>
        </p:txBody>
      </p:sp>
      <p:sp>
        <p:nvSpPr>
          <p:cNvPr id="55" name="gra-m-t"/>
          <p:cNvSpPr txBox="1"/>
          <p:nvPr/>
        </p:nvSpPr>
        <p:spPr>
          <a:xfrm>
            <a:off x="7863840" y="2322576"/>
            <a:ext cx="40294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19 % </a:t>
            </a:r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 gasto de cámaras y juntas va a gráficas, estampado, bordado, uniformes o publicidad.</a:t>
            </a:r>
            <a:endParaRPr lang="en-US" sz="1200" dirty="0"/>
          </a:p>
        </p:txBody>
      </p:sp>
      <p:sp>
        <p:nvSpPr>
          <p:cNvPr id="56" name="gra-m-e"/>
          <p:cNvSpPr txBox="1"/>
          <p:nvPr/>
        </p:nvSpPr>
        <p:spPr>
          <a:xfrm>
            <a:off x="7863840" y="27614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57" name="gra-c1-l"/>
          <p:cNvSpPr/>
          <p:nvPr/>
        </p:nvSpPr>
        <p:spPr>
          <a:xfrm>
            <a:off x="7863840" y="3017520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58" name="gra-c1-n"/>
          <p:cNvSpPr txBox="1"/>
          <p:nvPr/>
        </p:nvSpPr>
        <p:spPr>
          <a:xfrm>
            <a:off x="7863840" y="3127248"/>
            <a:ext cx="40294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178</a:t>
            </a:r>
            <a:endParaRPr lang="en-US" sz="3000" dirty="0"/>
          </a:p>
        </p:txBody>
      </p:sp>
      <p:sp>
        <p:nvSpPr>
          <p:cNvPr id="59" name="gra-c1-t"/>
          <p:cNvSpPr txBox="1"/>
          <p:nvPr/>
        </p:nvSpPr>
        <p:spPr>
          <a:xfrm>
            <a:off x="7863840" y="3584448"/>
            <a:ext cx="40294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gráficas en la región y 18 en el piloto. 19 de los 66 municipios no tienen ninguna.</a:t>
            </a:r>
            <a:endParaRPr lang="en-US" sz="1200" dirty="0"/>
          </a:p>
        </p:txBody>
      </p:sp>
      <p:sp>
        <p:nvSpPr>
          <p:cNvPr id="60" name="gra-c1-e"/>
          <p:cNvSpPr txBox="1"/>
          <p:nvPr/>
        </p:nvSpPr>
        <p:spPr>
          <a:xfrm>
            <a:off x="7863840" y="40599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61" name="gra-c2-l"/>
          <p:cNvSpPr/>
          <p:nvPr/>
        </p:nvSpPr>
        <p:spPr>
          <a:xfrm>
            <a:off x="7863840" y="4315968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62" name="gra-c2-n"/>
          <p:cNvSpPr txBox="1"/>
          <p:nvPr/>
        </p:nvSpPr>
        <p:spPr>
          <a:xfrm>
            <a:off x="7863840" y="4425696"/>
            <a:ext cx="40294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3000" dirty="0"/>
          </a:p>
        </p:txBody>
      </p:sp>
      <p:sp>
        <p:nvSpPr>
          <p:cNvPr id="63" name="gra-c2-t"/>
          <p:cNvSpPr txBox="1"/>
          <p:nvPr/>
        </p:nvSpPr>
        <p:spPr>
          <a:xfrm>
            <a:off x="7863840" y="4882896"/>
            <a:ext cx="40294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negocios de personalización en el mapa, buscados por su nombre en 57 de los 66 municipios; 7 en Coimbra.</a:t>
            </a:r>
            <a:endParaRPr lang="en-US" sz="1200" dirty="0"/>
          </a:p>
        </p:txBody>
      </p:sp>
      <p:sp>
        <p:nvSpPr>
          <p:cNvPr id="64" name="gra-c2-e"/>
          <p:cNvSpPr txBox="1"/>
          <p:nvPr/>
        </p:nvSpPr>
        <p:spPr>
          <a:xfrm>
            <a:off x="7863840" y="5358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65" name="gra-d-l"/>
          <p:cNvSpPr/>
          <p:nvPr/>
        </p:nvSpPr>
        <p:spPr>
          <a:xfrm>
            <a:off x="7863840" y="5632704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66" name="gra-d-t"/>
          <p:cNvSpPr txBox="1"/>
          <p:nvPr/>
        </p:nvSpPr>
        <p:spPr>
          <a:xfrm>
            <a:off x="7863840" y="5742432"/>
            <a:ext cx="4029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Competir por cercanía y plazo de entrega.</a:t>
            </a:r>
            <a:endParaRPr lang="en-US" sz="1300" dirty="0"/>
          </a:p>
        </p:txBody>
      </p:sp>
      <p:sp>
        <p:nvSpPr>
          <p:cNvPr id="67" name="gra-d-e"/>
          <p:cNvSpPr txBox="1"/>
          <p:nvPr/>
        </p:nvSpPr>
        <p:spPr>
          <a:xfrm>
            <a:off x="7863840" y="6071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3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1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9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7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25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43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63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780"/>
                            </p:stCondLst>
                            <p:childTnLst>
                              <p:par>
                                <p:cTn id="1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14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4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14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14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4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4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920"/>
                            </p:stCondLst>
                            <p:childTnLst>
                              <p:par>
                                <p:cTn id="1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14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4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14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4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4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14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060"/>
                            </p:stCondLst>
                            <p:childTnLst>
                              <p:par>
                                <p:cTn id="1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14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4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14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14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4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14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200"/>
                            </p:stCondLst>
                            <p:childTnLst>
                              <p:par>
                                <p:cTn id="1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14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4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14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14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4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14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340"/>
                            </p:stCondLst>
                            <p:childTnLst>
                              <p:par>
                                <p:cTn id="16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14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4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14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14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4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14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480"/>
                            </p:stCondLst>
                            <p:childTnLst>
                              <p:par>
                                <p:cTn id="1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2730"/>
                            </p:stCondLst>
                            <p:childTnLst>
                              <p:par>
                                <p:cTn id="18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3030"/>
                            </p:stCondLst>
                            <p:childTnLst>
                              <p:par>
                                <p:cTn id="1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3330"/>
                            </p:stCondLst>
                            <p:childTnLst>
                              <p:par>
                                <p:cTn id="2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3630"/>
                            </p:stCondLst>
                            <p:childTnLst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3930"/>
                            </p:stCondLst>
                            <p:childTnLst>
                              <p:par>
                                <p:cTn id="2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Hipótesis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Resultados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Tres de cinco hipótesis se cumplen.</a:t>
            </a:r>
            <a:endParaRPr lang="en-US" sz="3000" dirty="0"/>
          </a:p>
        </p:txBody>
      </p:sp>
      <p:sp>
        <p:nvSpPr>
          <p:cNvPr id="6" name="hip-dato"/>
          <p:cNvSpPr txBox="1"/>
          <p:nvPr/>
        </p:nvSpPr>
        <p:spPr>
          <a:xfrm>
            <a:off x="2654234" y="1371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7" name="hip-0-a"/>
          <p:cNvSpPr/>
          <p:nvPr/>
        </p:nvSpPr>
        <p:spPr>
          <a:xfrm>
            <a:off x="304792" y="1627632"/>
            <a:ext cx="4315968" cy="4315968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8" name="hip-0-b"/>
          <p:cNvSpPr/>
          <p:nvPr/>
        </p:nvSpPr>
        <p:spPr>
          <a:xfrm>
            <a:off x="-1853192" y="1810512"/>
            <a:ext cx="4315968" cy="4315968"/>
          </a:xfrm>
          <a:prstGeom prst="pie">
            <a:avLst>
              <a:gd name="adj1" fmla="val 0"/>
              <a:gd name="adj2" fmla="val 5400000"/>
            </a:avLst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9" name="hip-0-h"/>
          <p:cNvSpPr txBox="1"/>
          <p:nvPr/>
        </p:nvSpPr>
        <p:spPr>
          <a:xfrm>
            <a:off x="688840" y="2916936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spc="-96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H1</a:t>
            </a:r>
            <a:endParaRPr lang="en-US" sz="2400" dirty="0"/>
          </a:p>
        </p:txBody>
      </p:sp>
      <p:sp>
        <p:nvSpPr>
          <p:cNvPr id="10" name="hip-0-t"/>
          <p:cNvSpPr txBox="1"/>
          <p:nvPr/>
        </p:nvSpPr>
        <p:spPr>
          <a:xfrm>
            <a:off x="688840" y="3328416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-11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Hay meses fijos de compra</a:t>
            </a:r>
            <a:endParaRPr lang="en-US" sz="1150" dirty="0"/>
          </a:p>
        </p:txBody>
      </p:sp>
      <p:sp>
        <p:nvSpPr>
          <p:cNvPr id="11" name="hip-0-r"/>
          <p:cNvSpPr txBox="1"/>
          <p:nvPr/>
        </p:nvSpPr>
        <p:spPr>
          <a:xfrm>
            <a:off x="478528" y="412394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15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se confirma</a:t>
            </a:r>
            <a:endParaRPr lang="en-US" sz="1500" dirty="0"/>
          </a:p>
        </p:txBody>
      </p:sp>
      <p:sp>
        <p:nvSpPr>
          <p:cNvPr id="12" name="hip-0-e"/>
          <p:cNvSpPr txBox="1"/>
          <p:nvPr/>
        </p:nvSpPr>
        <p:spPr>
          <a:xfrm>
            <a:off x="478528" y="444398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-11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Julio en 3 de 6 años: puede ser azar (p = 0,19).</a:t>
            </a:r>
            <a:endParaRPr lang="en-US" sz="1100" dirty="0"/>
          </a:p>
        </p:txBody>
      </p:sp>
      <p:sp>
        <p:nvSpPr>
          <p:cNvPr id="13" name="hip-1-a"/>
          <p:cNvSpPr/>
          <p:nvPr/>
        </p:nvSpPr>
        <p:spPr>
          <a:xfrm>
            <a:off x="487672" y="1627632"/>
            <a:ext cx="4315968" cy="4315968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4" name="hip-1-b"/>
          <p:cNvSpPr/>
          <p:nvPr/>
        </p:nvSpPr>
        <p:spPr>
          <a:xfrm>
            <a:off x="2645656" y="1810512"/>
            <a:ext cx="4315968" cy="4315968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5" name="hip-1-h"/>
          <p:cNvSpPr txBox="1"/>
          <p:nvPr/>
        </p:nvSpPr>
        <p:spPr>
          <a:xfrm>
            <a:off x="2819392" y="2916936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spc="-96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H2</a:t>
            </a:r>
            <a:endParaRPr lang="en-US" sz="2400" dirty="0"/>
          </a:p>
        </p:txBody>
      </p:sp>
      <p:sp>
        <p:nvSpPr>
          <p:cNvPr id="16" name="hip-1-t"/>
          <p:cNvSpPr txBox="1"/>
          <p:nvPr/>
        </p:nvSpPr>
        <p:spPr>
          <a:xfrm>
            <a:off x="2819392" y="3328416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-11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Pocos proveedores se llevan casi todo</a:t>
            </a:r>
            <a:endParaRPr lang="en-US" sz="1150" dirty="0"/>
          </a:p>
        </p:txBody>
      </p:sp>
      <p:sp>
        <p:nvSpPr>
          <p:cNvPr id="17" name="hip-1-r"/>
          <p:cNvSpPr txBox="1"/>
          <p:nvPr/>
        </p:nvSpPr>
        <p:spPr>
          <a:xfrm>
            <a:off x="2974840" y="412394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15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se cumple</a:t>
            </a:r>
            <a:endParaRPr lang="en-US" sz="1500" dirty="0"/>
          </a:p>
        </p:txBody>
      </p:sp>
      <p:sp>
        <p:nvSpPr>
          <p:cNvPr id="18" name="hip-1-e"/>
          <p:cNvSpPr txBox="1"/>
          <p:nvPr/>
        </p:nvSpPr>
        <p:spPr>
          <a:xfrm>
            <a:off x="2974840" y="4443984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-11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150 proveedores; los 10 mayores, un tercio.</a:t>
            </a:r>
            <a:endParaRPr lang="en-US" sz="1100" dirty="0"/>
          </a:p>
        </p:txBody>
      </p:sp>
      <p:sp>
        <p:nvSpPr>
          <p:cNvPr id="19" name="hip-2-a"/>
          <p:cNvSpPr/>
          <p:nvPr/>
        </p:nvSpPr>
        <p:spPr>
          <a:xfrm>
            <a:off x="4986520" y="1627632"/>
            <a:ext cx="4315968" cy="4315968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0" name="hip-2-b"/>
          <p:cNvSpPr/>
          <p:nvPr/>
        </p:nvSpPr>
        <p:spPr>
          <a:xfrm>
            <a:off x="2828536" y="1810512"/>
            <a:ext cx="4315968" cy="4315968"/>
          </a:xfrm>
          <a:prstGeom prst="pie">
            <a:avLst>
              <a:gd name="adj1" fmla="val 0"/>
              <a:gd name="adj2" fmla="val 5400000"/>
            </a:avLst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1" name="hip-2-h"/>
          <p:cNvSpPr txBox="1"/>
          <p:nvPr/>
        </p:nvSpPr>
        <p:spPr>
          <a:xfrm>
            <a:off x="5370568" y="2916936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spc="-96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H3</a:t>
            </a:r>
            <a:endParaRPr lang="en-US" sz="2400" dirty="0"/>
          </a:p>
        </p:txBody>
      </p:sp>
      <p:sp>
        <p:nvSpPr>
          <p:cNvPr id="22" name="hip-2-t"/>
          <p:cNvSpPr txBox="1"/>
          <p:nvPr/>
        </p:nvSpPr>
        <p:spPr>
          <a:xfrm>
            <a:off x="5370568" y="3328416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-11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Poco email público</a:t>
            </a:r>
            <a:endParaRPr lang="en-US" sz="1150" dirty="0"/>
          </a:p>
        </p:txBody>
      </p:sp>
      <p:sp>
        <p:nvSpPr>
          <p:cNvPr id="23" name="hip-2-r"/>
          <p:cNvSpPr txBox="1"/>
          <p:nvPr/>
        </p:nvSpPr>
        <p:spPr>
          <a:xfrm>
            <a:off x="5160256" y="412394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15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cumple</a:t>
            </a:r>
            <a:endParaRPr lang="en-US" sz="1500" dirty="0"/>
          </a:p>
        </p:txBody>
      </p:sp>
      <p:sp>
        <p:nvSpPr>
          <p:cNvPr id="24" name="hip-2-e"/>
          <p:cNvSpPr txBox="1"/>
          <p:nvPr/>
        </p:nvSpPr>
        <p:spPr>
          <a:xfrm>
            <a:off x="5160256" y="444398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-11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7 % sin contar los colegios.</a:t>
            </a:r>
            <a:endParaRPr lang="en-US" sz="1100" dirty="0"/>
          </a:p>
        </p:txBody>
      </p:sp>
      <p:sp>
        <p:nvSpPr>
          <p:cNvPr id="25" name="hip-3-a"/>
          <p:cNvSpPr/>
          <p:nvPr/>
        </p:nvSpPr>
        <p:spPr>
          <a:xfrm>
            <a:off x="5169400" y="1627632"/>
            <a:ext cx="4315968" cy="4315968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6" name="hip-3-b"/>
          <p:cNvSpPr/>
          <p:nvPr/>
        </p:nvSpPr>
        <p:spPr>
          <a:xfrm>
            <a:off x="7327384" y="1810512"/>
            <a:ext cx="4315968" cy="4315968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7" name="hip-3-h"/>
          <p:cNvSpPr txBox="1"/>
          <p:nvPr/>
        </p:nvSpPr>
        <p:spPr>
          <a:xfrm>
            <a:off x="7501120" y="2916936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spc="-96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H4</a:t>
            </a:r>
            <a:endParaRPr lang="en-US" sz="2400" dirty="0"/>
          </a:p>
        </p:txBody>
      </p:sp>
      <p:sp>
        <p:nvSpPr>
          <p:cNvPr id="28" name="hip-3-t"/>
          <p:cNvSpPr txBox="1"/>
          <p:nvPr/>
        </p:nvSpPr>
        <p:spPr>
          <a:xfrm>
            <a:off x="7501120" y="3328416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-11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Festivos concentrados</a:t>
            </a:r>
            <a:endParaRPr lang="en-US" sz="1150" dirty="0"/>
          </a:p>
        </p:txBody>
      </p:sp>
      <p:sp>
        <p:nvSpPr>
          <p:cNvPr id="29" name="hip-3-r"/>
          <p:cNvSpPr txBox="1"/>
          <p:nvPr/>
        </p:nvSpPr>
        <p:spPr>
          <a:xfrm>
            <a:off x="7656568" y="412394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15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cumple</a:t>
            </a:r>
            <a:endParaRPr lang="en-US" sz="1500" dirty="0"/>
          </a:p>
        </p:txBody>
      </p:sp>
      <p:sp>
        <p:nvSpPr>
          <p:cNvPr id="30" name="hip-3-e"/>
          <p:cNvSpPr txBox="1"/>
          <p:nvPr/>
        </p:nvSpPr>
        <p:spPr>
          <a:xfrm>
            <a:off x="7656568" y="4443984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-11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 de 66, en junio o septiembre.</a:t>
            </a:r>
            <a:endParaRPr lang="en-US" sz="1100" dirty="0"/>
          </a:p>
        </p:txBody>
      </p:sp>
      <p:sp>
        <p:nvSpPr>
          <p:cNvPr id="31" name="hip-4-a"/>
          <p:cNvSpPr/>
          <p:nvPr/>
        </p:nvSpPr>
        <p:spPr>
          <a:xfrm>
            <a:off x="9668248" y="1627632"/>
            <a:ext cx="4315968" cy="4315968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2" name="hip-4-b"/>
          <p:cNvSpPr/>
          <p:nvPr/>
        </p:nvSpPr>
        <p:spPr>
          <a:xfrm>
            <a:off x="7510264" y="1810512"/>
            <a:ext cx="4315968" cy="4315968"/>
          </a:xfrm>
          <a:prstGeom prst="pie">
            <a:avLst>
              <a:gd name="adj1" fmla="val 0"/>
              <a:gd name="adj2" fmla="val 5400000"/>
            </a:avLst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3" name="hip-4-h"/>
          <p:cNvSpPr txBox="1"/>
          <p:nvPr/>
        </p:nvSpPr>
        <p:spPr>
          <a:xfrm>
            <a:off x="10052296" y="2916936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spc="-96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H5</a:t>
            </a:r>
            <a:endParaRPr lang="en-US" sz="2400" dirty="0"/>
          </a:p>
        </p:txBody>
      </p:sp>
      <p:sp>
        <p:nvSpPr>
          <p:cNvPr id="34" name="hip-4-t"/>
          <p:cNvSpPr txBox="1"/>
          <p:nvPr/>
        </p:nvSpPr>
        <p:spPr>
          <a:xfrm>
            <a:off x="10052296" y="3328416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-11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repite proveedor</a:t>
            </a:r>
            <a:endParaRPr lang="en-US" sz="1150" dirty="0"/>
          </a:p>
        </p:txBody>
      </p:sp>
      <p:sp>
        <p:nvSpPr>
          <p:cNvPr id="35" name="hip-4-r"/>
          <p:cNvSpPr txBox="1"/>
          <p:nvPr/>
        </p:nvSpPr>
        <p:spPr>
          <a:xfrm>
            <a:off x="9841984" y="412394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15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cumple</a:t>
            </a:r>
            <a:endParaRPr lang="en-US" sz="1500" dirty="0"/>
          </a:p>
        </p:txBody>
      </p:sp>
      <p:sp>
        <p:nvSpPr>
          <p:cNvPr id="36" name="hip-4-e"/>
          <p:cNvSpPr txBox="1"/>
          <p:nvPr/>
        </p:nvSpPr>
        <p:spPr>
          <a:xfrm>
            <a:off x="9841984" y="444398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-11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 de 32, frente a 6 al azar.</a:t>
            </a:r>
            <a:endParaRPr lang="en-US" sz="11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3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3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3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3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3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33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3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33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33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3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8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33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3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3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3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3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3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33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33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33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1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33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3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33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33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33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33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3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3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3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3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33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33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3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33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33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3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33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340"/>
                            </p:stCondLst>
                            <p:childTnLst>
                              <p:par>
                                <p:cTn id="1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33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33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33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33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3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3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33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3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33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33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3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33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33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3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33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33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33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33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670"/>
                            </p:stCondLst>
                            <p:childTnLst>
                              <p:par>
                                <p:cTn id="1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33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33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33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33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33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33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33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33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33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33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33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33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33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3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33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33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33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33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respuesta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</a:t>
            </a:r>
            <a:endParaRPr lang="en-US" sz="850" dirty="0"/>
          </a:p>
        </p:txBody>
      </p:sp>
      <p:sp>
        <p:nvSpPr>
          <p:cNvPr id="5" name="res-b0"/>
          <p:cNvSpPr txBox="1"/>
          <p:nvPr/>
        </p:nvSpPr>
        <p:spPr>
          <a:xfrm>
            <a:off x="2654234" y="868680"/>
            <a:ext cx="92390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spc="-90" kern="0" dirty="0">
                <a:solidFill>
                  <a:srgbClr val="0D0D0D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• Cerca de casa</a:t>
            </a:r>
            <a:endParaRPr lang="en-US" sz="4600" dirty="0"/>
          </a:p>
        </p:txBody>
      </p:sp>
      <p:sp>
        <p:nvSpPr>
          <p:cNvPr id="6" name="res-b1"/>
          <p:cNvSpPr txBox="1"/>
          <p:nvPr/>
        </p:nvSpPr>
        <p:spPr>
          <a:xfrm>
            <a:off x="2654234" y="1545336"/>
            <a:ext cx="92390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spc="-90" kern="0" dirty="0">
                <a:solidFill>
                  <a:srgbClr val="0D0D0D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• Antes de cada fiesta</a:t>
            </a:r>
            <a:endParaRPr lang="en-US" sz="4600" dirty="0"/>
          </a:p>
        </p:txBody>
      </p:sp>
      <p:sp>
        <p:nvSpPr>
          <p:cNvPr id="7" name="res-b2"/>
          <p:cNvSpPr txBox="1"/>
          <p:nvPr/>
        </p:nvSpPr>
        <p:spPr>
          <a:xfrm>
            <a:off x="2654234" y="2221992"/>
            <a:ext cx="92390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spc="-90" kern="0" dirty="0">
                <a:solidFill>
                  <a:srgbClr val="0D0D0D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• A quien ya compra</a:t>
            </a:r>
            <a:endParaRPr lang="en-US" sz="4600" dirty="0"/>
          </a:p>
        </p:txBody>
      </p:sp>
      <p:sp>
        <p:nvSpPr>
          <p:cNvPr id="8" name="res-b3"/>
          <p:cNvSpPr txBox="1"/>
          <p:nvPr/>
        </p:nvSpPr>
        <p:spPr>
          <a:xfrm>
            <a:off x="2654234" y="2898648"/>
            <a:ext cx="92390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spc="-90" kern="0" dirty="0">
                <a:solidFill>
                  <a:srgbClr val="0D0D0D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• Con una prenda concreta</a:t>
            </a:r>
            <a:endParaRPr lang="en-US" sz="4600" dirty="0"/>
          </a:p>
        </p:txBody>
      </p:sp>
      <p:sp>
        <p:nvSpPr>
          <p:cNvPr id="9" name="res-0-t"/>
          <p:cNvSpPr txBox="1"/>
          <p:nvPr/>
        </p:nvSpPr>
        <p:spPr>
          <a:xfrm>
            <a:off x="2654234" y="3977640"/>
            <a:ext cx="2197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Dónde</a:t>
            </a:r>
            <a:endParaRPr lang="en-US" sz="1400" dirty="0"/>
          </a:p>
        </p:txBody>
      </p:sp>
      <p:sp>
        <p:nvSpPr>
          <p:cNvPr id="10" name="res-0-l"/>
          <p:cNvSpPr/>
          <p:nvPr/>
        </p:nvSpPr>
        <p:spPr>
          <a:xfrm>
            <a:off x="2654234" y="4315968"/>
            <a:ext cx="2197045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1" name="res-0-d"/>
          <p:cNvSpPr txBox="1"/>
          <p:nvPr/>
        </p:nvSpPr>
        <p:spPr>
          <a:xfrm>
            <a:off x="2654234" y="4434840"/>
            <a:ext cx="219704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el piloto, alrededor de Oliveira do Hospital: a 60 km o menos está el 63 % de las organizaciones.</a:t>
            </a:r>
            <a:endParaRPr lang="en-US" sz="1150" dirty="0"/>
          </a:p>
        </p:txBody>
      </p:sp>
      <p:sp>
        <p:nvSpPr>
          <p:cNvPr id="12" name="res-0-e"/>
          <p:cNvSpPr txBox="1"/>
          <p:nvPr/>
        </p:nvSpPr>
        <p:spPr>
          <a:xfrm>
            <a:off x="2654234" y="5852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13" name="res-1-t"/>
          <p:cNvSpPr txBox="1"/>
          <p:nvPr/>
        </p:nvSpPr>
        <p:spPr>
          <a:xfrm>
            <a:off x="4997325" y="3977640"/>
            <a:ext cx="2197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Cuándo</a:t>
            </a:r>
            <a:endParaRPr lang="en-US" sz="1400" dirty="0"/>
          </a:p>
        </p:txBody>
      </p:sp>
      <p:sp>
        <p:nvSpPr>
          <p:cNvPr id="14" name="res-1-l"/>
          <p:cNvSpPr/>
          <p:nvPr/>
        </p:nvSpPr>
        <p:spPr>
          <a:xfrm>
            <a:off x="4997325" y="4315968"/>
            <a:ext cx="2197045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5" name="res-1-d"/>
          <p:cNvSpPr txBox="1"/>
          <p:nvPr/>
        </p:nvSpPr>
        <p:spPr>
          <a:xfrm>
            <a:off x="4997325" y="4434840"/>
            <a:ext cx="219704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8 a 4 semanas antes del festivo o la fiesta. Junio y septiembre concentran 27 de 66 festivos.</a:t>
            </a:r>
            <a:endParaRPr lang="en-US" sz="1150" dirty="0"/>
          </a:p>
        </p:txBody>
      </p:sp>
      <p:sp>
        <p:nvSpPr>
          <p:cNvPr id="16" name="res-1-e"/>
          <p:cNvSpPr txBox="1"/>
          <p:nvPr/>
        </p:nvSpPr>
        <p:spPr>
          <a:xfrm>
            <a:off x="4997325" y="5852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17" name="res-2-t"/>
          <p:cNvSpPr txBox="1"/>
          <p:nvPr/>
        </p:nvSpPr>
        <p:spPr>
          <a:xfrm>
            <a:off x="7340416" y="3977640"/>
            <a:ext cx="2197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quién</a:t>
            </a:r>
            <a:endParaRPr lang="en-US" sz="1400" dirty="0"/>
          </a:p>
        </p:txBody>
      </p:sp>
      <p:sp>
        <p:nvSpPr>
          <p:cNvPr id="18" name="res-2-l"/>
          <p:cNvSpPr/>
          <p:nvPr/>
        </p:nvSpPr>
        <p:spPr>
          <a:xfrm>
            <a:off x="7340416" y="4315968"/>
            <a:ext cx="2197045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9" name="res-2-d"/>
          <p:cNvSpPr txBox="1"/>
          <p:nvPr/>
        </p:nvSpPr>
        <p:spPr>
          <a:xfrm>
            <a:off x="7340416" y="4434840"/>
            <a:ext cx="219704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Cámaras y juntas, que compran varios años y repiten proveedor; colegios y bomberos, por email o teléfono. Clubes, asociaciones y cafés, en el terreno.</a:t>
            </a:r>
            <a:endParaRPr lang="en-US" sz="1150" dirty="0"/>
          </a:p>
        </p:txBody>
      </p:sp>
      <p:sp>
        <p:nvSpPr>
          <p:cNvPr id="20" name="res-2-e"/>
          <p:cNvSpPr txBox="1"/>
          <p:nvPr/>
        </p:nvSpPr>
        <p:spPr>
          <a:xfrm>
            <a:off x="7340416" y="5852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21" name="res-3-t"/>
          <p:cNvSpPr txBox="1"/>
          <p:nvPr/>
        </p:nvSpPr>
        <p:spPr>
          <a:xfrm>
            <a:off x="9683508" y="3977640"/>
            <a:ext cx="2197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qué idea</a:t>
            </a:r>
            <a:endParaRPr lang="en-US" sz="1400" dirty="0"/>
          </a:p>
        </p:txBody>
      </p:sp>
      <p:sp>
        <p:nvSpPr>
          <p:cNvPr id="22" name="res-3-l"/>
          <p:cNvSpPr/>
          <p:nvPr/>
        </p:nvSpPr>
        <p:spPr>
          <a:xfrm>
            <a:off x="9683508" y="4315968"/>
            <a:ext cx="2197045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3" name="res-3-d"/>
          <p:cNvSpPr txBox="1"/>
          <p:nvPr/>
        </p:nvSpPr>
        <p:spPr>
          <a:xfrm>
            <a:off x="9683508" y="4434840"/>
            <a:ext cx="219704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Merchandising y ropa de trabajo para cámaras y juntas; ropa de entrenamiento con nombre y número para clubes; camisetas para las fiestas; polos y softshell para bomberos.</a:t>
            </a:r>
            <a:endParaRPr lang="en-US" sz="1150" dirty="0"/>
          </a:p>
        </p:txBody>
      </p:sp>
      <p:sp>
        <p:nvSpPr>
          <p:cNvPr id="24" name="res-3-e"/>
          <p:cNvSpPr txBox="1"/>
          <p:nvPr/>
        </p:nvSpPr>
        <p:spPr>
          <a:xfrm>
            <a:off x="9683508" y="5852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42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64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86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Cómo lo aprovecha beira.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segmento, con su canal, su mes y su prenda.</a:t>
            </a:r>
            <a:endParaRPr lang="en-US" sz="3000" dirty="0"/>
          </a:p>
        </p:txBody>
      </p:sp>
      <p:sp>
        <p:nvSpPr>
          <p:cNvPr id="6" name="apr-h0"/>
          <p:cNvSpPr txBox="1"/>
          <p:nvPr/>
        </p:nvSpPr>
        <p:spPr>
          <a:xfrm>
            <a:off x="304792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Segmento</a:t>
            </a:r>
            <a:endParaRPr lang="en-US" sz="950" dirty="0"/>
          </a:p>
        </p:txBody>
      </p:sp>
      <p:sp>
        <p:nvSpPr>
          <p:cNvPr id="7" name="apr-h1"/>
          <p:cNvSpPr txBox="1"/>
          <p:nvPr/>
        </p:nvSpPr>
        <p:spPr>
          <a:xfrm>
            <a:off x="2654234" y="17373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los datos</a:t>
            </a:r>
            <a:endParaRPr lang="en-US" sz="950" dirty="0"/>
          </a:p>
        </p:txBody>
      </p:sp>
      <p:sp>
        <p:nvSpPr>
          <p:cNvPr id="8" name="apr-h2"/>
          <p:cNvSpPr txBox="1"/>
          <p:nvPr/>
        </p:nvSpPr>
        <p:spPr>
          <a:xfrm>
            <a:off x="4574474" y="17373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Cómo llegar</a:t>
            </a:r>
            <a:endParaRPr lang="en-US" sz="950" dirty="0"/>
          </a:p>
        </p:txBody>
      </p:sp>
      <p:sp>
        <p:nvSpPr>
          <p:cNvPr id="9" name="apr-h3"/>
          <p:cNvSpPr txBox="1"/>
          <p:nvPr/>
        </p:nvSpPr>
        <p:spPr>
          <a:xfrm>
            <a:off x="7226234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Cuándo</a:t>
            </a:r>
            <a:endParaRPr lang="en-US" sz="950" dirty="0"/>
          </a:p>
        </p:txBody>
      </p:sp>
      <p:sp>
        <p:nvSpPr>
          <p:cNvPr id="10" name="apr-h4"/>
          <p:cNvSpPr txBox="1"/>
          <p:nvPr/>
        </p:nvSpPr>
        <p:spPr>
          <a:xfrm>
            <a:off x="9466514" y="1737360"/>
            <a:ext cx="24267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proponer</a:t>
            </a:r>
            <a:endParaRPr lang="en-US" sz="950" dirty="0"/>
          </a:p>
        </p:txBody>
      </p:sp>
      <p:sp>
        <p:nvSpPr>
          <p:cNvPr id="11" name="apr-h-d"/>
          <p:cNvSpPr txBox="1"/>
          <p:nvPr/>
        </p:nvSpPr>
        <p:spPr>
          <a:xfrm>
            <a:off x="3614354" y="1737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12" name="apr-h-e"/>
          <p:cNvSpPr txBox="1"/>
          <p:nvPr/>
        </p:nvSpPr>
        <p:spPr>
          <a:xfrm>
            <a:off x="10472354" y="1737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13" name="apr-0-l"/>
          <p:cNvSpPr/>
          <p:nvPr/>
        </p:nvSpPr>
        <p:spPr>
          <a:xfrm>
            <a:off x="304792" y="2057400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4" name="apr-0-c0"/>
          <p:cNvSpPr txBox="1"/>
          <p:nvPr/>
        </p:nvSpPr>
        <p:spPr>
          <a:xfrm>
            <a:off x="304792" y="215798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Colegios</a:t>
            </a:r>
            <a:endParaRPr lang="en-US" sz="1250" dirty="0"/>
          </a:p>
        </p:txBody>
      </p:sp>
      <p:sp>
        <p:nvSpPr>
          <p:cNvPr id="15" name="apr-0-c1"/>
          <p:cNvSpPr txBox="1"/>
          <p:nvPr/>
        </p:nvSpPr>
        <p:spPr>
          <a:xfrm>
            <a:off x="2654234" y="215798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809 · 80 % con email</a:t>
            </a:r>
            <a:endParaRPr lang="en-US" sz="1150" dirty="0"/>
          </a:p>
        </p:txBody>
      </p:sp>
      <p:sp>
        <p:nvSpPr>
          <p:cNvPr id="16" name="apr-0-c2"/>
          <p:cNvSpPr txBox="1"/>
          <p:nvPr/>
        </p:nvSpPr>
        <p:spPr>
          <a:xfrm>
            <a:off x="4574474" y="2157984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Email</a:t>
            </a:r>
            <a:endParaRPr lang="en-US" sz="1150" dirty="0"/>
          </a:p>
        </p:txBody>
      </p:sp>
      <p:sp>
        <p:nvSpPr>
          <p:cNvPr id="17" name="apr-0-c3"/>
          <p:cNvSpPr txBox="1"/>
          <p:nvPr/>
        </p:nvSpPr>
        <p:spPr>
          <a:xfrm>
            <a:off x="7226234" y="215798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Abril, mayo y diciembre</a:t>
            </a:r>
            <a:endParaRPr lang="en-US" sz="1150" dirty="0"/>
          </a:p>
        </p:txBody>
      </p:sp>
      <p:sp>
        <p:nvSpPr>
          <p:cNvPr id="18" name="apr-0-c4"/>
          <p:cNvSpPr txBox="1"/>
          <p:nvPr/>
        </p:nvSpPr>
        <p:spPr>
          <a:xfrm>
            <a:off x="9466514" y="2157984"/>
            <a:ext cx="23170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Sudaderas de curso</a:t>
            </a:r>
            <a:endParaRPr lang="en-US" sz="1150" dirty="0"/>
          </a:p>
        </p:txBody>
      </p:sp>
      <p:sp>
        <p:nvSpPr>
          <p:cNvPr id="19" name="apr-1-l"/>
          <p:cNvSpPr/>
          <p:nvPr/>
        </p:nvSpPr>
        <p:spPr>
          <a:xfrm>
            <a:off x="304792" y="2697480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0" name="apr-1-c0"/>
          <p:cNvSpPr txBox="1"/>
          <p:nvPr/>
        </p:nvSpPr>
        <p:spPr>
          <a:xfrm>
            <a:off x="304792" y="279806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Cámaras y juntas</a:t>
            </a:r>
            <a:endParaRPr lang="en-US" sz="1250" dirty="0"/>
          </a:p>
        </p:txBody>
      </p:sp>
      <p:sp>
        <p:nvSpPr>
          <p:cNvPr id="21" name="apr-1-c1"/>
          <p:cNvSpPr txBox="1"/>
          <p:nvPr/>
        </p:nvSpPr>
        <p:spPr>
          <a:xfrm>
            <a:off x="2654234" y="279806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304 en el mapa · 6 % con email</a:t>
            </a:r>
            <a:endParaRPr lang="en-US" sz="1150" dirty="0"/>
          </a:p>
        </p:txBody>
      </p:sp>
      <p:sp>
        <p:nvSpPr>
          <p:cNvPr id="22" name="apr-1-c2"/>
          <p:cNvSpPr txBox="1"/>
          <p:nvPr/>
        </p:nvSpPr>
        <p:spPr>
          <a:xfrm>
            <a:off x="4574474" y="2798064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Teléfono o web oficial; estar entre los proveedores invitados</a:t>
            </a:r>
            <a:endParaRPr lang="en-US" sz="1150" dirty="0"/>
          </a:p>
        </p:txBody>
      </p:sp>
      <p:sp>
        <p:nvSpPr>
          <p:cNvPr id="23" name="apr-1-c3"/>
          <p:cNvSpPr txBox="1"/>
          <p:nvPr/>
        </p:nvSpPr>
        <p:spPr>
          <a:xfrm>
            <a:off x="7226234" y="279806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 el año</a:t>
            </a:r>
            <a:endParaRPr lang="en-US" sz="1150" dirty="0"/>
          </a:p>
        </p:txBody>
      </p:sp>
      <p:sp>
        <p:nvSpPr>
          <p:cNvPr id="24" name="apr-1-c4"/>
          <p:cNvSpPr txBox="1"/>
          <p:nvPr/>
        </p:nvSpPr>
        <p:spPr>
          <a:xfrm>
            <a:off x="9466514" y="2798064"/>
            <a:ext cx="23170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Merchandising y ropa de trabajo</a:t>
            </a:r>
            <a:endParaRPr lang="en-US" sz="1150" dirty="0"/>
          </a:p>
        </p:txBody>
      </p:sp>
      <p:sp>
        <p:nvSpPr>
          <p:cNvPr id="25" name="apr-2-l"/>
          <p:cNvSpPr/>
          <p:nvPr/>
        </p:nvSpPr>
        <p:spPr>
          <a:xfrm>
            <a:off x="304792" y="3337560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6" name="apr-2-c0"/>
          <p:cNvSpPr txBox="1"/>
          <p:nvPr/>
        </p:nvSpPr>
        <p:spPr>
          <a:xfrm>
            <a:off x="304792" y="343814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Bomberos</a:t>
            </a:r>
            <a:endParaRPr lang="en-US" sz="1250" dirty="0"/>
          </a:p>
        </p:txBody>
      </p:sp>
      <p:sp>
        <p:nvSpPr>
          <p:cNvPr id="27" name="apr-2-c1"/>
          <p:cNvSpPr txBox="1"/>
          <p:nvPr/>
        </p:nvSpPr>
        <p:spPr>
          <a:xfrm>
            <a:off x="2654234" y="343814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108 · 18 % con email</a:t>
            </a:r>
            <a:endParaRPr lang="en-US" sz="1150" dirty="0"/>
          </a:p>
        </p:txBody>
      </p:sp>
      <p:sp>
        <p:nvSpPr>
          <p:cNvPr id="28" name="apr-2-c2"/>
          <p:cNvSpPr txBox="1"/>
          <p:nvPr/>
        </p:nvSpPr>
        <p:spPr>
          <a:xfrm>
            <a:off x="4574474" y="3438144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Teléfono y email</a:t>
            </a:r>
            <a:endParaRPr lang="en-US" sz="1150" dirty="0"/>
          </a:p>
        </p:txBody>
      </p:sp>
      <p:sp>
        <p:nvSpPr>
          <p:cNvPr id="29" name="apr-2-c3"/>
          <p:cNvSpPr txBox="1"/>
          <p:nvPr/>
        </p:nvSpPr>
        <p:spPr>
          <a:xfrm>
            <a:off x="7226234" y="343814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Septiembre y octubre</a:t>
            </a:r>
            <a:endParaRPr lang="en-US" sz="1150" dirty="0"/>
          </a:p>
        </p:txBody>
      </p:sp>
      <p:sp>
        <p:nvSpPr>
          <p:cNvPr id="30" name="apr-2-c4"/>
          <p:cNvSpPr txBox="1"/>
          <p:nvPr/>
        </p:nvSpPr>
        <p:spPr>
          <a:xfrm>
            <a:off x="9466514" y="3438144"/>
            <a:ext cx="23170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Polos y chaquetas softshell</a:t>
            </a:r>
            <a:endParaRPr lang="en-US" sz="1150" dirty="0"/>
          </a:p>
        </p:txBody>
      </p:sp>
      <p:sp>
        <p:nvSpPr>
          <p:cNvPr id="31" name="apr-3-l"/>
          <p:cNvSpPr/>
          <p:nvPr/>
        </p:nvSpPr>
        <p:spPr>
          <a:xfrm>
            <a:off x="304792" y="3977640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32" name="apr-3-c0"/>
          <p:cNvSpPr txBox="1"/>
          <p:nvPr/>
        </p:nvSpPr>
        <p:spPr>
          <a:xfrm>
            <a:off x="304792" y="40782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Clubes</a:t>
            </a:r>
            <a:endParaRPr lang="en-US" sz="1250" dirty="0"/>
          </a:p>
        </p:txBody>
      </p:sp>
      <p:sp>
        <p:nvSpPr>
          <p:cNvPr id="33" name="apr-3-c1"/>
          <p:cNvSpPr txBox="1"/>
          <p:nvPr/>
        </p:nvSpPr>
        <p:spPr>
          <a:xfrm>
            <a:off x="2654234" y="407822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61 en el mapa · 8 %</a:t>
            </a:r>
            <a:endParaRPr lang="en-US" sz="1150" dirty="0"/>
          </a:p>
        </p:txBody>
      </p:sp>
      <p:sp>
        <p:nvSpPr>
          <p:cNvPr id="34" name="apr-3-c2"/>
          <p:cNvSpPr txBox="1"/>
          <p:nvPr/>
        </p:nvSpPr>
        <p:spPr>
          <a:xfrm>
            <a:off x="4574474" y="4078224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Visita; la junta como puerta</a:t>
            </a:r>
            <a:endParaRPr lang="en-US" sz="1150" dirty="0"/>
          </a:p>
        </p:txBody>
      </p:sp>
      <p:sp>
        <p:nvSpPr>
          <p:cNvPr id="35" name="apr-3-c3"/>
          <p:cNvSpPr txBox="1"/>
          <p:nvPr/>
        </p:nvSpPr>
        <p:spPr>
          <a:xfrm>
            <a:off x="7226234" y="40782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Pretemporada, de junio a octubre</a:t>
            </a:r>
            <a:endParaRPr lang="en-US" sz="1150" dirty="0"/>
          </a:p>
        </p:txBody>
      </p:sp>
      <p:sp>
        <p:nvSpPr>
          <p:cNvPr id="36" name="apr-3-c4"/>
          <p:cNvSpPr txBox="1"/>
          <p:nvPr/>
        </p:nvSpPr>
        <p:spPr>
          <a:xfrm>
            <a:off x="9466514" y="4078224"/>
            <a:ext cx="23170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Ropa de entrenamiento con nombre y número</a:t>
            </a:r>
            <a:endParaRPr lang="en-US" sz="1150" dirty="0"/>
          </a:p>
        </p:txBody>
      </p:sp>
      <p:sp>
        <p:nvSpPr>
          <p:cNvPr id="37" name="apr-4-l"/>
          <p:cNvSpPr/>
          <p:nvPr/>
        </p:nvSpPr>
        <p:spPr>
          <a:xfrm>
            <a:off x="304792" y="4617720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38" name="apr-4-c0"/>
          <p:cNvSpPr txBox="1"/>
          <p:nvPr/>
        </p:nvSpPr>
        <p:spPr>
          <a:xfrm>
            <a:off x="304792" y="471830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Asociaciones</a:t>
            </a:r>
            <a:endParaRPr lang="en-US" sz="1250" dirty="0"/>
          </a:p>
        </p:txBody>
      </p:sp>
      <p:sp>
        <p:nvSpPr>
          <p:cNvPr id="39" name="apr-4-c1"/>
          <p:cNvSpPr txBox="1"/>
          <p:nvPr/>
        </p:nvSpPr>
        <p:spPr>
          <a:xfrm>
            <a:off x="2654234" y="471830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81 en el mapa · 6 %</a:t>
            </a:r>
            <a:endParaRPr lang="en-US" sz="1150" dirty="0"/>
          </a:p>
        </p:txBody>
      </p:sp>
      <p:sp>
        <p:nvSpPr>
          <p:cNvPr id="40" name="apr-4-c2"/>
          <p:cNvSpPr txBox="1"/>
          <p:nvPr/>
        </p:nvSpPr>
        <p:spPr>
          <a:xfrm>
            <a:off x="4574474" y="4718304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Visita; la junta como puerta</a:t>
            </a:r>
            <a:endParaRPr lang="en-US" sz="1150" dirty="0"/>
          </a:p>
        </p:txBody>
      </p:sp>
      <p:sp>
        <p:nvSpPr>
          <p:cNvPr id="41" name="apr-4-c3"/>
          <p:cNvSpPr txBox="1"/>
          <p:nvPr/>
        </p:nvSpPr>
        <p:spPr>
          <a:xfrm>
            <a:off x="7226234" y="471830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Primavera, para las fiestas de verano</a:t>
            </a:r>
            <a:endParaRPr lang="en-US" sz="1150" dirty="0"/>
          </a:p>
        </p:txBody>
      </p:sp>
      <p:sp>
        <p:nvSpPr>
          <p:cNvPr id="42" name="apr-4-c4"/>
          <p:cNvSpPr txBox="1"/>
          <p:nvPr/>
        </p:nvSpPr>
        <p:spPr>
          <a:xfrm>
            <a:off x="9466514" y="4718304"/>
            <a:ext cx="23170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Camisetas de la fiesta</a:t>
            </a:r>
            <a:endParaRPr lang="en-US" sz="1150" dirty="0"/>
          </a:p>
        </p:txBody>
      </p:sp>
      <p:sp>
        <p:nvSpPr>
          <p:cNvPr id="43" name="apr-5-l"/>
          <p:cNvSpPr/>
          <p:nvPr/>
        </p:nvSpPr>
        <p:spPr>
          <a:xfrm>
            <a:off x="304792" y="5257800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44" name="apr-5-c0"/>
          <p:cNvSpPr txBox="1"/>
          <p:nvPr/>
        </p:nvSpPr>
        <p:spPr>
          <a:xfrm>
            <a:off x="304792" y="535838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Cafés, restaurantes y hoteles</a:t>
            </a:r>
            <a:endParaRPr lang="en-US" sz="1250" dirty="0"/>
          </a:p>
        </p:txBody>
      </p:sp>
      <p:sp>
        <p:nvSpPr>
          <p:cNvPr id="45" name="apr-5-c1"/>
          <p:cNvSpPr txBox="1"/>
          <p:nvPr/>
        </p:nvSpPr>
        <p:spPr>
          <a:xfrm>
            <a:off x="2654234" y="535838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3.000 · 4 % con email</a:t>
            </a:r>
            <a:endParaRPr lang="en-US" sz="1150" dirty="0"/>
          </a:p>
        </p:txBody>
      </p:sp>
      <p:sp>
        <p:nvSpPr>
          <p:cNvPr id="46" name="apr-5-c2"/>
          <p:cNvSpPr txBox="1"/>
          <p:nvPr/>
        </p:nvSpPr>
        <p:spPr>
          <a:xfrm>
            <a:off x="4574474" y="5358384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pie, primero los hoteles</a:t>
            </a:r>
            <a:endParaRPr lang="en-US" sz="1150" dirty="0"/>
          </a:p>
        </p:txBody>
      </p:sp>
      <p:sp>
        <p:nvSpPr>
          <p:cNvPr id="47" name="apr-5-c3"/>
          <p:cNvSpPr txBox="1"/>
          <p:nvPr/>
        </p:nvSpPr>
        <p:spPr>
          <a:xfrm>
            <a:off x="7226234" y="535838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definir en el piloto</a:t>
            </a:r>
            <a:endParaRPr lang="en-US" sz="1150" dirty="0"/>
          </a:p>
        </p:txBody>
      </p:sp>
      <p:sp>
        <p:nvSpPr>
          <p:cNvPr id="48" name="apr-5-c4"/>
          <p:cNvSpPr txBox="1"/>
          <p:nvPr/>
        </p:nvSpPr>
        <p:spPr>
          <a:xfrm>
            <a:off x="9466514" y="5358384"/>
            <a:ext cx="23170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Ropa de trabajo con su logotipo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304792" y="6035040"/>
            <a:ext cx="11588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organización de la lista de Airtable lleva su contacto (email, teléfono o web), sus tres fechas de contacto y su idea de prenda.</a:t>
            </a:r>
            <a:endParaRPr lang="en-US" sz="10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6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6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6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6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6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6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26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26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6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6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26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26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86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6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6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6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26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6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6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26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6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26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26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26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26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120"/>
                            </p:stCondLst>
                            <p:childTnLst>
                              <p:par>
                                <p:cTn id="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26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6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26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26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26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26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26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26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26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26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26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26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38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26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26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26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26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26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26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26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26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26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26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26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26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640"/>
                            </p:stCondLst>
                            <p:childTnLst>
                              <p:par>
                                <p:cTn id="1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26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26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26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26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26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26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26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26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26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26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26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26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900"/>
                            </p:stCondLst>
                            <p:childTnLst>
                              <p:par>
                                <p:cTn id="1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26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26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26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26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26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26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26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26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26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26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26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26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a60e9ee-cec4-5fc1-bdd0-d8a953451dda/scratchpad/deck/v12/assets/patron_verde_franj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3748" y="0"/>
            <a:ext cx="2377947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90788" y="301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</a:t>
            </a:r>
            <a:endParaRPr lang="en-US" sz="850" dirty="0"/>
          </a:p>
        </p:txBody>
      </p:sp>
      <p:sp>
        <p:nvSpPr>
          <p:cNvPr id="4" name="sep2-tit"/>
          <p:cNvSpPr txBox="1"/>
          <p:nvPr/>
        </p:nvSpPr>
        <p:spPr>
          <a:xfrm>
            <a:off x="277360" y="914400"/>
            <a:ext cx="9052560" cy="5623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0400" spc="-312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</a:t>
            </a:r>
            <a:endParaRPr lang="en-US" sz="104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10400" spc="-312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viene.</a:t>
            </a:r>
            <a:endParaRPr lang="en-US" sz="104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Límites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Próximos pasos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23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los datos no dicen, y qué datos lo resuelven.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654234" y="18105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Límite</a:t>
            </a:r>
            <a:endParaRPr lang="en-US" sz="950" dirty="0"/>
          </a:p>
        </p:txBody>
      </p:sp>
      <p:sp>
        <p:nvSpPr>
          <p:cNvPr id="7" name="lim-cab-ae"/>
          <p:cNvSpPr txBox="1"/>
          <p:nvPr/>
        </p:nvSpPr>
        <p:spPr>
          <a:xfrm>
            <a:off x="3340034" y="18105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359466" y="18105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haríamos</a:t>
            </a:r>
            <a:endParaRPr lang="en-US" sz="950" dirty="0"/>
          </a:p>
        </p:txBody>
      </p:sp>
      <p:sp>
        <p:nvSpPr>
          <p:cNvPr id="9" name="lim-cab-be"/>
          <p:cNvSpPr txBox="1"/>
          <p:nvPr/>
        </p:nvSpPr>
        <p:spPr>
          <a:xfrm>
            <a:off x="8383594" y="18105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10" name="lim-0-l"/>
          <p:cNvSpPr/>
          <p:nvPr/>
        </p:nvSpPr>
        <p:spPr>
          <a:xfrm>
            <a:off x="304792" y="2121408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1" name="lim-0-t"/>
          <p:cNvSpPr txBox="1"/>
          <p:nvPr/>
        </p:nvSpPr>
        <p:spPr>
          <a:xfrm>
            <a:off x="304792" y="2258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pequeño</a:t>
            </a:r>
            <a:endParaRPr lang="en-US" sz="1150" dirty="0"/>
          </a:p>
        </p:txBody>
      </p:sp>
      <p:sp>
        <p:nvSpPr>
          <p:cNvPr id="12" name="lim-0-a"/>
          <p:cNvSpPr txBox="1"/>
          <p:nvPr/>
        </p:nvSpPr>
        <p:spPr>
          <a:xfrm>
            <a:off x="2654234" y="2240280"/>
            <a:ext cx="438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 compras de menos de 5.000 € no se publican, y las juntas casi no aparecen en el BASE.</a:t>
            </a:r>
            <a:endParaRPr lang="en-US" sz="1300" dirty="0"/>
          </a:p>
        </p:txBody>
      </p:sp>
      <p:sp>
        <p:nvSpPr>
          <p:cNvPr id="13" name="lim-0-b"/>
          <p:cNvSpPr txBox="1"/>
          <p:nvPr/>
        </p:nvSpPr>
        <p:spPr>
          <a:xfrm>
            <a:off x="7359466" y="2240280"/>
            <a:ext cx="45274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Pedir a cámaras y juntas del piloto sus compras pequeñas.</a:t>
            </a:r>
            <a:endParaRPr lang="en-US" sz="1300" dirty="0"/>
          </a:p>
        </p:txBody>
      </p:sp>
      <p:sp>
        <p:nvSpPr>
          <p:cNvPr id="14" name="lim-1-l"/>
          <p:cNvSpPr/>
          <p:nvPr/>
        </p:nvSpPr>
        <p:spPr>
          <a:xfrm>
            <a:off x="304792" y="2926080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5" name="lim-1-t"/>
          <p:cNvSpPr txBox="1"/>
          <p:nvPr/>
        </p:nvSpPr>
        <p:spPr>
          <a:xfrm>
            <a:off x="304792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clubes</a:t>
            </a:r>
            <a:endParaRPr lang="en-US" sz="1150" dirty="0"/>
          </a:p>
        </p:txBody>
      </p:sp>
      <p:sp>
        <p:nvSpPr>
          <p:cNvPr id="16" name="lim-1-a"/>
          <p:cNvSpPr txBox="1"/>
          <p:nvPr/>
        </p:nvSpPr>
        <p:spPr>
          <a:xfrm>
            <a:off x="2654234" y="3044952"/>
            <a:ext cx="438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OpenStreetMap tiene 61 clubes en toda la región y 33 de las 78 juntas del piloto.</a:t>
            </a:r>
            <a:endParaRPr lang="en-US" sz="1300" dirty="0"/>
          </a:p>
        </p:txBody>
      </p:sp>
      <p:sp>
        <p:nvSpPr>
          <p:cNvPr id="17" name="lim-1-b"/>
          <p:cNvSpPr txBox="1"/>
          <p:nvPr/>
        </p:nvSpPr>
        <p:spPr>
          <a:xfrm>
            <a:off x="7359466" y="3044952"/>
            <a:ext cx="45274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Cruzar con las subvenciones que publica cada cámara y hablar con cinco clubes.</a:t>
            </a:r>
            <a:endParaRPr lang="en-US" sz="1300" dirty="0"/>
          </a:p>
        </p:txBody>
      </p:sp>
      <p:sp>
        <p:nvSpPr>
          <p:cNvPr id="18" name="lim-2-l"/>
          <p:cNvSpPr/>
          <p:nvPr/>
        </p:nvSpPr>
        <p:spPr>
          <a:xfrm>
            <a:off x="304792" y="3730752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9" name="lim-2-t"/>
          <p:cNvSpPr txBox="1"/>
          <p:nvPr/>
        </p:nvSpPr>
        <p:spPr>
          <a:xfrm>
            <a:off x="304792" y="3867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 muestras</a:t>
            </a:r>
            <a:endParaRPr lang="en-US" sz="1150" dirty="0"/>
          </a:p>
        </p:txBody>
      </p:sp>
      <p:sp>
        <p:nvSpPr>
          <p:cNvPr id="20" name="lim-2-a"/>
          <p:cNvSpPr txBox="1"/>
          <p:nvPr/>
        </p:nvSpPr>
        <p:spPr>
          <a:xfrm>
            <a:off x="2654234" y="3849624"/>
            <a:ext cx="438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265 contratos en seis años y 32 cámaras y juntas que compran varios años.</a:t>
            </a:r>
            <a:endParaRPr lang="en-US" sz="1300" dirty="0"/>
          </a:p>
        </p:txBody>
      </p:sp>
      <p:sp>
        <p:nvSpPr>
          <p:cNvPr id="21" name="lim-2-b"/>
          <p:cNvSpPr txBox="1"/>
          <p:nvPr/>
        </p:nvSpPr>
        <p:spPr>
          <a:xfrm>
            <a:off x="7359466" y="3849624"/>
            <a:ext cx="45274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Sumar el BASE de 2012 a 2019 y los pedidos del piloto.</a:t>
            </a:r>
            <a:endParaRPr lang="en-US" sz="1300" dirty="0"/>
          </a:p>
        </p:txBody>
      </p:sp>
      <p:sp>
        <p:nvSpPr>
          <p:cNvPr id="22" name="lim-3-l"/>
          <p:cNvSpPr/>
          <p:nvPr/>
        </p:nvSpPr>
        <p:spPr>
          <a:xfrm>
            <a:off x="304792" y="4535424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3" name="lim-3-t"/>
          <p:cNvSpPr txBox="1"/>
          <p:nvPr/>
        </p:nvSpPr>
        <p:spPr>
          <a:xfrm>
            <a:off x="304792" y="4672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pesos</a:t>
            </a:r>
            <a:endParaRPr lang="en-US" sz="1150" dirty="0"/>
          </a:p>
        </p:txBody>
      </p:sp>
      <p:sp>
        <p:nvSpPr>
          <p:cNvPr id="24" name="lim-3-a"/>
          <p:cNvSpPr txBox="1"/>
          <p:nvPr/>
        </p:nvSpPr>
        <p:spPr>
          <a:xfrm>
            <a:off x="2654234" y="4654296"/>
            <a:ext cx="438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Pesos decididos por mí: con otros, la lista mantiene 23 de 30; el top 10 del índice, solo 5 de 10.</a:t>
            </a:r>
            <a:endParaRPr lang="en-US" sz="1300" dirty="0"/>
          </a:p>
        </p:txBody>
      </p:sp>
      <p:sp>
        <p:nvSpPr>
          <p:cNvPr id="25" name="lim-3-b"/>
          <p:cNvSpPr txBox="1"/>
          <p:nvPr/>
        </p:nvSpPr>
        <p:spPr>
          <a:xfrm>
            <a:off x="7359466" y="4654296"/>
            <a:ext cx="45274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Ajustarlos con las respuestas reales del piloto.</a:t>
            </a:r>
            <a:endParaRPr lang="en-US" sz="1300" dirty="0"/>
          </a:p>
        </p:txBody>
      </p:sp>
      <p:sp>
        <p:nvSpPr>
          <p:cNvPr id="26" name="lim-4-l"/>
          <p:cNvSpPr/>
          <p:nvPr/>
        </p:nvSpPr>
        <p:spPr>
          <a:xfrm>
            <a:off x="304792" y="5340096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7" name="lim-4-t"/>
          <p:cNvSpPr txBox="1"/>
          <p:nvPr/>
        </p:nvSpPr>
        <p:spPr>
          <a:xfrm>
            <a:off x="304792" y="54772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alcance</a:t>
            </a:r>
            <a:endParaRPr lang="en-US" sz="1150" dirty="0"/>
          </a:p>
        </p:txBody>
      </p:sp>
      <p:sp>
        <p:nvSpPr>
          <p:cNvPr id="28" name="lim-4-a"/>
          <p:cNvSpPr txBox="1"/>
          <p:nvPr/>
        </p:nvSpPr>
        <p:spPr>
          <a:xfrm>
            <a:off x="2654234" y="5458968"/>
            <a:ext cx="438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66 municipios en cuatro días: mucho para una primera vuelta.</a:t>
            </a:r>
            <a:endParaRPr lang="en-US" sz="1300" dirty="0"/>
          </a:p>
        </p:txBody>
      </p:sp>
      <p:sp>
        <p:nvSpPr>
          <p:cNvPr id="29" name="lim-4-b"/>
          <p:cNvSpPr txBox="1"/>
          <p:nvPr/>
        </p:nvSpPr>
        <p:spPr>
          <a:xfrm>
            <a:off x="7359466" y="5458968"/>
            <a:ext cx="45274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Empezar por los 6 municipios del piloto y ampliar con lo aprendido.</a:t>
            </a:r>
            <a:endParaRPr lang="en-US" sz="13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7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9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1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3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podremos hacer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Próximos pasos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la lista al modelo.</a:t>
            </a:r>
            <a:endParaRPr lang="en-US" sz="3000" dirty="0"/>
          </a:p>
        </p:txBody>
      </p:sp>
      <p:sp>
        <p:nvSpPr>
          <p:cNvPr id="6" name="hor-0-m"/>
          <p:cNvSpPr/>
          <p:nvPr/>
        </p:nvSpPr>
        <p:spPr>
          <a:xfrm>
            <a:off x="2654234" y="1645920"/>
            <a:ext cx="2011680" cy="201168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7" name="hor-0-k"/>
          <p:cNvSpPr txBox="1"/>
          <p:nvPr/>
        </p:nvSpPr>
        <p:spPr>
          <a:xfrm>
            <a:off x="3038282" y="2148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b="1" spc="-104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hor-0-t"/>
          <p:cNvSpPr txBox="1"/>
          <p:nvPr/>
        </p:nvSpPr>
        <p:spPr>
          <a:xfrm>
            <a:off x="2654234" y="281635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spc="-17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Hoy</a:t>
            </a:r>
            <a:endParaRPr lang="en-US" sz="1700" dirty="0"/>
          </a:p>
        </p:txBody>
      </p:sp>
      <p:sp>
        <p:nvSpPr>
          <p:cNvPr id="9" name="hor-0-s"/>
          <p:cNvSpPr txBox="1"/>
          <p:nvPr/>
        </p:nvSpPr>
        <p:spPr>
          <a:xfrm>
            <a:off x="2654234" y="316382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datos públicos</a:t>
            </a:r>
            <a:endParaRPr lang="en-US" sz="1050" dirty="0"/>
          </a:p>
        </p:txBody>
      </p:sp>
      <p:sp>
        <p:nvSpPr>
          <p:cNvPr id="10" name="hor-0-l"/>
          <p:cNvSpPr/>
          <p:nvPr/>
        </p:nvSpPr>
        <p:spPr>
          <a:xfrm>
            <a:off x="2654234" y="3520440"/>
            <a:ext cx="28803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1" name="hor-0-i0"/>
          <p:cNvSpPr txBox="1"/>
          <p:nvPr/>
        </p:nvSpPr>
        <p:spPr>
          <a:xfrm>
            <a:off x="2654234" y="365760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Una lista de 1.600 organizaciones y 3.000 negocios.</a:t>
            </a:r>
            <a:endParaRPr lang="en-US" sz="1250" dirty="0"/>
          </a:p>
        </p:txBody>
      </p:sp>
      <p:sp>
        <p:nvSpPr>
          <p:cNvPr id="12" name="hor-0-i1"/>
          <p:cNvSpPr txBox="1"/>
          <p:nvPr/>
        </p:nvSpPr>
        <p:spPr>
          <a:xfrm>
            <a:off x="2654234" y="422452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Un calendario de fiestas para llamar a tiempo.</a:t>
            </a:r>
            <a:endParaRPr lang="en-US" sz="1250" dirty="0"/>
          </a:p>
        </p:txBody>
      </p:sp>
      <p:sp>
        <p:nvSpPr>
          <p:cNvPr id="13" name="hor-0-i2"/>
          <p:cNvSpPr txBox="1"/>
          <p:nvPr/>
        </p:nvSpPr>
        <p:spPr>
          <a:xfrm>
            <a:off x="2654234" y="4791456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Un índice para elegir municipio.</a:t>
            </a:r>
            <a:endParaRPr lang="en-US" sz="1250" dirty="0"/>
          </a:p>
        </p:txBody>
      </p:sp>
      <p:sp>
        <p:nvSpPr>
          <p:cNvPr id="14" name="hor-0-e"/>
          <p:cNvSpPr txBox="1"/>
          <p:nvPr/>
        </p:nvSpPr>
        <p:spPr>
          <a:xfrm>
            <a:off x="2654234" y="5440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15" name="hor-1-m"/>
          <p:cNvSpPr/>
          <p:nvPr/>
        </p:nvSpPr>
        <p:spPr>
          <a:xfrm>
            <a:off x="4803074" y="1645920"/>
            <a:ext cx="2011680" cy="2011680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6" name="hor-1-k"/>
          <p:cNvSpPr txBox="1"/>
          <p:nvPr/>
        </p:nvSpPr>
        <p:spPr>
          <a:xfrm>
            <a:off x="5936930" y="2148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b="1" spc="-104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hor-1-t"/>
          <p:cNvSpPr txBox="1"/>
          <p:nvPr/>
        </p:nvSpPr>
        <p:spPr>
          <a:xfrm>
            <a:off x="5808914" y="281635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spc="-17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el piloto</a:t>
            </a:r>
            <a:endParaRPr lang="en-US" sz="1700" dirty="0"/>
          </a:p>
        </p:txBody>
      </p:sp>
      <p:sp>
        <p:nvSpPr>
          <p:cNvPr id="18" name="hor-1-s"/>
          <p:cNvSpPr txBox="1"/>
          <p:nvPr/>
        </p:nvSpPr>
        <p:spPr>
          <a:xfrm>
            <a:off x="5808914" y="316382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datos propios en Airtable</a:t>
            </a:r>
            <a:endParaRPr lang="en-US" sz="1050" dirty="0"/>
          </a:p>
        </p:txBody>
      </p:sp>
      <p:sp>
        <p:nvSpPr>
          <p:cNvPr id="19" name="hor-1-l"/>
          <p:cNvSpPr/>
          <p:nvPr/>
        </p:nvSpPr>
        <p:spPr>
          <a:xfrm>
            <a:off x="5808914" y="3520440"/>
            <a:ext cx="28803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0" name="hor-1-i0"/>
          <p:cNvSpPr txBox="1"/>
          <p:nvPr/>
        </p:nvSpPr>
        <p:spPr>
          <a:xfrm>
            <a:off x="5808914" y="365760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Qué segmentos y qué canales responden.</a:t>
            </a:r>
            <a:endParaRPr lang="en-US" sz="1250" dirty="0"/>
          </a:p>
        </p:txBody>
      </p:sp>
      <p:sp>
        <p:nvSpPr>
          <p:cNvPr id="21" name="hor-1-i1"/>
          <p:cNvSpPr txBox="1"/>
          <p:nvPr/>
        </p:nvSpPr>
        <p:spPr>
          <a:xfrm>
            <a:off x="5808914" y="422452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Si la ventana de 8 a 4 semanas funciona.</a:t>
            </a:r>
            <a:endParaRPr lang="en-US" sz="1250" dirty="0"/>
          </a:p>
        </p:txBody>
      </p:sp>
      <p:sp>
        <p:nvSpPr>
          <p:cNvPr id="22" name="hor-1-i2"/>
          <p:cNvSpPr txBox="1"/>
          <p:nvPr/>
        </p:nvSpPr>
        <p:spPr>
          <a:xfrm>
            <a:off x="5808914" y="4791456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Pesos ajustados con respuestas reales.</a:t>
            </a:r>
            <a:endParaRPr lang="en-US" sz="1250" dirty="0"/>
          </a:p>
        </p:txBody>
      </p:sp>
      <p:sp>
        <p:nvSpPr>
          <p:cNvPr id="23" name="hor-1-e"/>
          <p:cNvSpPr txBox="1"/>
          <p:nvPr/>
        </p:nvSpPr>
        <p:spPr>
          <a:xfrm>
            <a:off x="5808914" y="5440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24" name="hor-2-m"/>
          <p:cNvSpPr/>
          <p:nvPr/>
        </p:nvSpPr>
        <p:spPr>
          <a:xfrm>
            <a:off x="8963594" y="1645920"/>
            <a:ext cx="2011680" cy="201168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8F6226"/>
          </a:solidFill>
          <a:ln w="12700">
            <a:solidFill>
              <a:srgbClr val="8F6226"/>
            </a:solidFill>
            <a:prstDash val="solid"/>
          </a:ln>
        </p:spPr>
      </p:sp>
      <p:sp>
        <p:nvSpPr>
          <p:cNvPr id="25" name="hor-2-k"/>
          <p:cNvSpPr txBox="1"/>
          <p:nvPr/>
        </p:nvSpPr>
        <p:spPr>
          <a:xfrm>
            <a:off x="9347642" y="2148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b="1" spc="-104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hor-2-t"/>
          <p:cNvSpPr txBox="1"/>
          <p:nvPr/>
        </p:nvSpPr>
        <p:spPr>
          <a:xfrm>
            <a:off x="8963594" y="281635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spc="-17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un año de pedidos</a:t>
            </a:r>
            <a:endParaRPr lang="en-US" sz="1700" dirty="0"/>
          </a:p>
        </p:txBody>
      </p:sp>
      <p:sp>
        <p:nvSpPr>
          <p:cNvPr id="27" name="hor-2-s"/>
          <p:cNvSpPr txBox="1"/>
          <p:nvPr/>
        </p:nvSpPr>
        <p:spPr>
          <a:xfrm>
            <a:off x="8963594" y="316382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ventas y presupuestos</a:t>
            </a:r>
            <a:endParaRPr lang="en-US" sz="1050" dirty="0"/>
          </a:p>
        </p:txBody>
      </p:sp>
      <p:sp>
        <p:nvSpPr>
          <p:cNvPr id="28" name="hor-2-l"/>
          <p:cNvSpPr/>
          <p:nvPr/>
        </p:nvSpPr>
        <p:spPr>
          <a:xfrm>
            <a:off x="8963594" y="3520440"/>
            <a:ext cx="28803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9" name="hor-2-i0"/>
          <p:cNvSpPr txBox="1"/>
          <p:nvPr/>
        </p:nvSpPr>
        <p:spPr>
          <a:xfrm>
            <a:off x="8963594" y="365760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Prever pedidos por fiesta y por mes.</a:t>
            </a:r>
            <a:endParaRPr lang="en-US" sz="1250" dirty="0"/>
          </a:p>
        </p:txBody>
      </p:sp>
      <p:sp>
        <p:nvSpPr>
          <p:cNvPr id="30" name="hor-2-i1"/>
          <p:cNvSpPr txBox="1"/>
          <p:nvPr/>
        </p:nvSpPr>
        <p:spPr>
          <a:xfrm>
            <a:off x="8963594" y="422452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Un modelo de quién compra, en vez de pesos a mano.</a:t>
            </a:r>
            <a:endParaRPr lang="en-US" sz="1250" dirty="0"/>
          </a:p>
        </p:txBody>
      </p:sp>
      <p:sp>
        <p:nvSpPr>
          <p:cNvPr id="31" name="hor-2-i2"/>
          <p:cNvSpPr txBox="1"/>
          <p:nvPr/>
        </p:nvSpPr>
        <p:spPr>
          <a:xfrm>
            <a:off x="8963594" y="4791456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Avisos de concursos nuevos y la lista al día cada mes.</a:t>
            </a:r>
            <a:endParaRPr lang="en-US" sz="1250" dirty="0"/>
          </a:p>
        </p:txBody>
      </p:sp>
      <p:sp>
        <p:nvSpPr>
          <p:cNvPr id="32" name="hor-2-e"/>
          <p:cNvSpPr txBox="1"/>
          <p:nvPr/>
        </p:nvSpPr>
        <p:spPr>
          <a:xfrm>
            <a:off x="8963594" y="5440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2654234" y="5989320"/>
            <a:ext cx="92390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paso necesita los datos del anterior: sin respuestas del piloto no hay modelo.</a:t>
            </a:r>
            <a:endParaRPr lang="en-US" sz="10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3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5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camino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Próximos pasos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 dato al pedido.</a:t>
            </a:r>
            <a:endParaRPr lang="en-US" sz="3000" dirty="0"/>
          </a:p>
        </p:txBody>
      </p:sp>
      <p:sp>
        <p:nvSpPr>
          <p:cNvPr id="6" name="cam-0-n"/>
          <p:cNvSpPr txBox="1"/>
          <p:nvPr/>
        </p:nvSpPr>
        <p:spPr>
          <a:xfrm>
            <a:off x="2654234" y="1691640"/>
            <a:ext cx="21970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b="1" spc="-8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cam-0-l"/>
          <p:cNvSpPr/>
          <p:nvPr/>
        </p:nvSpPr>
        <p:spPr>
          <a:xfrm>
            <a:off x="2654234" y="2075688"/>
            <a:ext cx="2197045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8" name="cam-0-t"/>
          <p:cNvSpPr txBox="1"/>
          <p:nvPr/>
        </p:nvSpPr>
        <p:spPr>
          <a:xfrm>
            <a:off x="2654234" y="2194560"/>
            <a:ext cx="2197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Octubre</a:t>
            </a:r>
            <a:endParaRPr lang="en-US" sz="1300" dirty="0"/>
          </a:p>
        </p:txBody>
      </p:sp>
      <p:sp>
        <p:nvSpPr>
          <p:cNvPr id="9" name="cam-0-d"/>
          <p:cNvSpPr txBox="1"/>
          <p:nvPr/>
        </p:nvSpPr>
        <p:spPr>
          <a:xfrm>
            <a:off x="2654234" y="2523744"/>
            <a:ext cx="219704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Verificar 20 contactos, importar la lista a Airtable y registrar cada respuesta.</a:t>
            </a:r>
            <a:endParaRPr lang="en-US" sz="1150" dirty="0"/>
          </a:p>
        </p:txBody>
      </p:sp>
      <p:sp>
        <p:nvSpPr>
          <p:cNvPr id="10" name="cam-0-e"/>
          <p:cNvSpPr txBox="1"/>
          <p:nvPr/>
        </p:nvSpPr>
        <p:spPr>
          <a:xfrm>
            <a:off x="2654234" y="3520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11" name="cam-1-n"/>
          <p:cNvSpPr txBox="1"/>
          <p:nvPr/>
        </p:nvSpPr>
        <p:spPr>
          <a:xfrm>
            <a:off x="4997325" y="1691640"/>
            <a:ext cx="21970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b="1" spc="-8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cam-1-l"/>
          <p:cNvSpPr/>
          <p:nvPr/>
        </p:nvSpPr>
        <p:spPr>
          <a:xfrm>
            <a:off x="4997325" y="2075688"/>
            <a:ext cx="2197045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3" name="cam-1-t"/>
          <p:cNvSpPr txBox="1"/>
          <p:nvPr/>
        </p:nvSpPr>
        <p:spPr>
          <a:xfrm>
            <a:off x="4997325" y="2194560"/>
            <a:ext cx="2197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Noviembre y diciembre</a:t>
            </a:r>
            <a:endParaRPr lang="en-US" sz="1300" dirty="0"/>
          </a:p>
        </p:txBody>
      </p:sp>
      <p:sp>
        <p:nvSpPr>
          <p:cNvPr id="14" name="cam-1-d"/>
          <p:cNvSpPr txBox="1"/>
          <p:nvPr/>
        </p:nvSpPr>
        <p:spPr>
          <a:xfrm>
            <a:off x="4997325" y="2523744"/>
            <a:ext cx="219704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Jerséis y sudaderas personalizados para Navidad, cuando más se buscan en Portugal.</a:t>
            </a:r>
            <a:endParaRPr lang="en-US" sz="1150" dirty="0"/>
          </a:p>
        </p:txBody>
      </p:sp>
      <p:sp>
        <p:nvSpPr>
          <p:cNvPr id="15" name="cam-1-e"/>
          <p:cNvSpPr txBox="1"/>
          <p:nvPr/>
        </p:nvSpPr>
        <p:spPr>
          <a:xfrm>
            <a:off x="4997325" y="3520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16" name="cam-2-n"/>
          <p:cNvSpPr txBox="1"/>
          <p:nvPr/>
        </p:nvSpPr>
        <p:spPr>
          <a:xfrm>
            <a:off x="7340416" y="1691640"/>
            <a:ext cx="21970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b="1" spc="-8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cam-2-l"/>
          <p:cNvSpPr/>
          <p:nvPr/>
        </p:nvSpPr>
        <p:spPr>
          <a:xfrm>
            <a:off x="7340416" y="2075688"/>
            <a:ext cx="2197045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8" name="cam-2-t"/>
          <p:cNvSpPr txBox="1"/>
          <p:nvPr/>
        </p:nvSpPr>
        <p:spPr>
          <a:xfrm>
            <a:off x="7340416" y="2194560"/>
            <a:ext cx="2197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Fiestas de 2027</a:t>
            </a:r>
            <a:endParaRPr lang="en-US" sz="1300" dirty="0"/>
          </a:p>
        </p:txBody>
      </p:sp>
      <p:sp>
        <p:nvSpPr>
          <p:cNvPr id="19" name="cam-2-d"/>
          <p:cNvSpPr txBox="1"/>
          <p:nvPr/>
        </p:nvSpPr>
        <p:spPr>
          <a:xfrm>
            <a:off x="7340416" y="2523744"/>
            <a:ext cx="219704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piloto en 6 municipios: llamadas de 8 a 4 semanas antes de cada festivo y fiesta de verano.</a:t>
            </a:r>
            <a:endParaRPr lang="en-US" sz="1150" dirty="0"/>
          </a:p>
        </p:txBody>
      </p:sp>
      <p:sp>
        <p:nvSpPr>
          <p:cNvPr id="20" name="cam-2-e"/>
          <p:cNvSpPr txBox="1"/>
          <p:nvPr/>
        </p:nvSpPr>
        <p:spPr>
          <a:xfrm>
            <a:off x="7340416" y="3520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21" name="cam-3-n"/>
          <p:cNvSpPr txBox="1"/>
          <p:nvPr/>
        </p:nvSpPr>
        <p:spPr>
          <a:xfrm>
            <a:off x="9683508" y="1691640"/>
            <a:ext cx="21970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b="1" spc="-8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cam-3-l"/>
          <p:cNvSpPr/>
          <p:nvPr/>
        </p:nvSpPr>
        <p:spPr>
          <a:xfrm>
            <a:off x="9683508" y="2075688"/>
            <a:ext cx="2197045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3" name="cam-3-t"/>
          <p:cNvSpPr txBox="1"/>
          <p:nvPr/>
        </p:nvSpPr>
        <p:spPr>
          <a:xfrm>
            <a:off x="9683508" y="2194560"/>
            <a:ext cx="2197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Después de cada campaña</a:t>
            </a:r>
            <a:endParaRPr lang="en-US" sz="1300" dirty="0"/>
          </a:p>
        </p:txBody>
      </p:sp>
      <p:sp>
        <p:nvSpPr>
          <p:cNvPr id="24" name="cam-3-d"/>
          <p:cNvSpPr txBox="1"/>
          <p:nvPr/>
        </p:nvSpPr>
        <p:spPr>
          <a:xfrm>
            <a:off x="9683508" y="2523744"/>
            <a:ext cx="219704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Medir respuestas y pedidos, ajustar los pesos y ampliar a los 11 compradores públicos cercanos.</a:t>
            </a:r>
            <a:endParaRPr lang="en-US" sz="1150" dirty="0"/>
          </a:p>
        </p:txBody>
      </p:sp>
      <p:sp>
        <p:nvSpPr>
          <p:cNvPr id="25" name="cam-3-e"/>
          <p:cNvSpPr txBox="1"/>
          <p:nvPr/>
        </p:nvSpPr>
        <p:spPr>
          <a:xfrm>
            <a:off x="9683508" y="3520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654234" y="4206240"/>
            <a:ext cx="92390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Trends en Portugal: «camisolas personalizadas» por mes (100 = media del año)</a:t>
            </a:r>
            <a:endParaRPr lang="en-US" sz="1050" dirty="0"/>
          </a:p>
        </p:txBody>
      </p:sp>
      <p:sp>
        <p:nvSpPr>
          <p:cNvPr id="27" name="cam-g-0-b"/>
          <p:cNvSpPr/>
          <p:nvPr/>
        </p:nvSpPr>
        <p:spPr>
          <a:xfrm>
            <a:off x="2846713" y="5274978"/>
            <a:ext cx="384959" cy="57718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8" name="cam-g-0-v"/>
          <p:cNvSpPr txBox="1"/>
          <p:nvPr/>
        </p:nvSpPr>
        <p:spPr>
          <a:xfrm>
            <a:off x="2562794" y="5046378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91</a:t>
            </a:r>
            <a:endParaRPr lang="en-US" sz="1000" dirty="0"/>
          </a:p>
        </p:txBody>
      </p:sp>
      <p:sp>
        <p:nvSpPr>
          <p:cNvPr id="29" name="cam-g-0-c"/>
          <p:cNvSpPr txBox="1"/>
          <p:nvPr/>
        </p:nvSpPr>
        <p:spPr>
          <a:xfrm>
            <a:off x="2562794" y="5907024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ene</a:t>
            </a:r>
            <a:endParaRPr lang="en-US" sz="1000" dirty="0"/>
          </a:p>
        </p:txBody>
      </p:sp>
      <p:sp>
        <p:nvSpPr>
          <p:cNvPr id="30" name="cam-g-1-b"/>
          <p:cNvSpPr/>
          <p:nvPr/>
        </p:nvSpPr>
        <p:spPr>
          <a:xfrm>
            <a:off x="3616631" y="5274978"/>
            <a:ext cx="384959" cy="57718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1" name="cam-g-1-v"/>
          <p:cNvSpPr txBox="1"/>
          <p:nvPr/>
        </p:nvSpPr>
        <p:spPr>
          <a:xfrm>
            <a:off x="3332712" y="5046378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91</a:t>
            </a:r>
            <a:endParaRPr lang="en-US" sz="1000" dirty="0"/>
          </a:p>
        </p:txBody>
      </p:sp>
      <p:sp>
        <p:nvSpPr>
          <p:cNvPr id="32" name="cam-g-1-c"/>
          <p:cNvSpPr txBox="1"/>
          <p:nvPr/>
        </p:nvSpPr>
        <p:spPr>
          <a:xfrm>
            <a:off x="3332712" y="5907024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feb</a:t>
            </a:r>
            <a:endParaRPr lang="en-US" sz="1000" dirty="0"/>
          </a:p>
        </p:txBody>
      </p:sp>
      <p:sp>
        <p:nvSpPr>
          <p:cNvPr id="33" name="cam-g-2-b"/>
          <p:cNvSpPr/>
          <p:nvPr/>
        </p:nvSpPr>
        <p:spPr>
          <a:xfrm>
            <a:off x="4386550" y="5294006"/>
            <a:ext cx="384959" cy="558154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4" name="cam-g-2-v"/>
          <p:cNvSpPr txBox="1"/>
          <p:nvPr/>
        </p:nvSpPr>
        <p:spPr>
          <a:xfrm>
            <a:off x="4102630" y="5065406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88</a:t>
            </a:r>
            <a:endParaRPr lang="en-US" sz="1000" dirty="0"/>
          </a:p>
        </p:txBody>
      </p:sp>
      <p:sp>
        <p:nvSpPr>
          <p:cNvPr id="35" name="cam-g-2-c"/>
          <p:cNvSpPr txBox="1"/>
          <p:nvPr/>
        </p:nvSpPr>
        <p:spPr>
          <a:xfrm>
            <a:off x="4102630" y="5907024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</a:t>
            </a:r>
            <a:endParaRPr lang="en-US" sz="1000" dirty="0"/>
          </a:p>
        </p:txBody>
      </p:sp>
      <p:sp>
        <p:nvSpPr>
          <p:cNvPr id="36" name="cam-g-3-b"/>
          <p:cNvSpPr/>
          <p:nvPr/>
        </p:nvSpPr>
        <p:spPr>
          <a:xfrm>
            <a:off x="5156468" y="5313034"/>
            <a:ext cx="384959" cy="539126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7" name="cam-g-3-v"/>
          <p:cNvSpPr txBox="1"/>
          <p:nvPr/>
        </p:nvSpPr>
        <p:spPr>
          <a:xfrm>
            <a:off x="4872548" y="5084434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85</a:t>
            </a:r>
            <a:endParaRPr lang="en-US" sz="1000" dirty="0"/>
          </a:p>
        </p:txBody>
      </p:sp>
      <p:sp>
        <p:nvSpPr>
          <p:cNvPr id="38" name="cam-g-3-c"/>
          <p:cNvSpPr txBox="1"/>
          <p:nvPr/>
        </p:nvSpPr>
        <p:spPr>
          <a:xfrm>
            <a:off x="4872548" y="5907024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abr</a:t>
            </a:r>
            <a:endParaRPr lang="en-US" sz="1000" dirty="0"/>
          </a:p>
        </p:txBody>
      </p:sp>
      <p:sp>
        <p:nvSpPr>
          <p:cNvPr id="39" name="cam-g-4-b"/>
          <p:cNvSpPr/>
          <p:nvPr/>
        </p:nvSpPr>
        <p:spPr>
          <a:xfrm>
            <a:off x="5926386" y="5211551"/>
            <a:ext cx="384959" cy="640609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0" name="cam-g-4-v"/>
          <p:cNvSpPr txBox="1"/>
          <p:nvPr/>
        </p:nvSpPr>
        <p:spPr>
          <a:xfrm>
            <a:off x="5642467" y="4982951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101</a:t>
            </a:r>
            <a:endParaRPr lang="en-US" sz="1000" dirty="0"/>
          </a:p>
        </p:txBody>
      </p:sp>
      <p:sp>
        <p:nvSpPr>
          <p:cNvPr id="41" name="cam-g-4-c"/>
          <p:cNvSpPr txBox="1"/>
          <p:nvPr/>
        </p:nvSpPr>
        <p:spPr>
          <a:xfrm>
            <a:off x="5642467" y="5907024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</a:t>
            </a:r>
            <a:endParaRPr lang="en-US" sz="1000" dirty="0"/>
          </a:p>
        </p:txBody>
      </p:sp>
      <p:sp>
        <p:nvSpPr>
          <p:cNvPr id="42" name="cam-g-5-b"/>
          <p:cNvSpPr/>
          <p:nvPr/>
        </p:nvSpPr>
        <p:spPr>
          <a:xfrm>
            <a:off x="6696304" y="5294006"/>
            <a:ext cx="384959" cy="558154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3" name="cam-g-5-v"/>
          <p:cNvSpPr txBox="1"/>
          <p:nvPr/>
        </p:nvSpPr>
        <p:spPr>
          <a:xfrm>
            <a:off x="6412385" y="5065406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88</a:t>
            </a:r>
            <a:endParaRPr lang="en-US" sz="1000" dirty="0"/>
          </a:p>
        </p:txBody>
      </p:sp>
      <p:sp>
        <p:nvSpPr>
          <p:cNvPr id="44" name="cam-g-5-c"/>
          <p:cNvSpPr txBox="1"/>
          <p:nvPr/>
        </p:nvSpPr>
        <p:spPr>
          <a:xfrm>
            <a:off x="6412385" y="5907024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jun</a:t>
            </a:r>
            <a:endParaRPr lang="en-US" sz="1000" dirty="0"/>
          </a:p>
        </p:txBody>
      </p:sp>
      <p:sp>
        <p:nvSpPr>
          <p:cNvPr id="45" name="cam-g-6-b"/>
          <p:cNvSpPr/>
          <p:nvPr/>
        </p:nvSpPr>
        <p:spPr>
          <a:xfrm>
            <a:off x="7466223" y="5439887"/>
            <a:ext cx="384959" cy="412273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6" name="cam-g-6-v"/>
          <p:cNvSpPr txBox="1"/>
          <p:nvPr/>
        </p:nvSpPr>
        <p:spPr>
          <a:xfrm>
            <a:off x="7182303" y="5211287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65</a:t>
            </a:r>
            <a:endParaRPr lang="en-US" sz="1000" dirty="0"/>
          </a:p>
        </p:txBody>
      </p:sp>
      <p:sp>
        <p:nvSpPr>
          <p:cNvPr id="47" name="cam-g-6-c"/>
          <p:cNvSpPr txBox="1"/>
          <p:nvPr/>
        </p:nvSpPr>
        <p:spPr>
          <a:xfrm>
            <a:off x="7182303" y="5907024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</a:t>
            </a:r>
            <a:endParaRPr lang="en-US" sz="1000" dirty="0"/>
          </a:p>
        </p:txBody>
      </p:sp>
      <p:sp>
        <p:nvSpPr>
          <p:cNvPr id="48" name="cam-g-7-b"/>
          <p:cNvSpPr/>
          <p:nvPr/>
        </p:nvSpPr>
        <p:spPr>
          <a:xfrm>
            <a:off x="8236141" y="5420859"/>
            <a:ext cx="384959" cy="431301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9" name="cam-g-7-v"/>
          <p:cNvSpPr txBox="1"/>
          <p:nvPr/>
        </p:nvSpPr>
        <p:spPr>
          <a:xfrm>
            <a:off x="7952221" y="5192259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68</a:t>
            </a:r>
            <a:endParaRPr lang="en-US" sz="1000" dirty="0"/>
          </a:p>
        </p:txBody>
      </p:sp>
      <p:sp>
        <p:nvSpPr>
          <p:cNvPr id="50" name="cam-g-7-c"/>
          <p:cNvSpPr txBox="1"/>
          <p:nvPr/>
        </p:nvSpPr>
        <p:spPr>
          <a:xfrm>
            <a:off x="7952221" y="5907024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ago</a:t>
            </a:r>
            <a:endParaRPr lang="en-US" sz="1000" dirty="0"/>
          </a:p>
        </p:txBody>
      </p:sp>
      <p:sp>
        <p:nvSpPr>
          <p:cNvPr id="51" name="cam-g-8-b"/>
          <p:cNvSpPr/>
          <p:nvPr/>
        </p:nvSpPr>
        <p:spPr>
          <a:xfrm>
            <a:off x="9006059" y="5395489"/>
            <a:ext cx="384959" cy="456671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2" name="cam-g-8-v"/>
          <p:cNvSpPr txBox="1"/>
          <p:nvPr/>
        </p:nvSpPr>
        <p:spPr>
          <a:xfrm>
            <a:off x="8722140" y="5166889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72</a:t>
            </a:r>
            <a:endParaRPr lang="en-US" sz="1000" dirty="0"/>
          </a:p>
        </p:txBody>
      </p:sp>
      <p:sp>
        <p:nvSpPr>
          <p:cNvPr id="53" name="cam-g-8-c"/>
          <p:cNvSpPr txBox="1"/>
          <p:nvPr/>
        </p:nvSpPr>
        <p:spPr>
          <a:xfrm>
            <a:off x="8722140" y="5907024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</a:t>
            </a:r>
            <a:endParaRPr lang="en-US" sz="1000" dirty="0"/>
          </a:p>
        </p:txBody>
      </p:sp>
      <p:sp>
        <p:nvSpPr>
          <p:cNvPr id="54" name="cam-g-9-b"/>
          <p:cNvSpPr/>
          <p:nvPr/>
        </p:nvSpPr>
        <p:spPr>
          <a:xfrm>
            <a:off x="9775977" y="5148125"/>
            <a:ext cx="384959" cy="704035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5" name="cam-g-9-v"/>
          <p:cNvSpPr txBox="1"/>
          <p:nvPr/>
        </p:nvSpPr>
        <p:spPr>
          <a:xfrm>
            <a:off x="9492058" y="4919525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111</a:t>
            </a:r>
            <a:endParaRPr lang="en-US" sz="1000" dirty="0"/>
          </a:p>
        </p:txBody>
      </p:sp>
      <p:sp>
        <p:nvSpPr>
          <p:cNvPr id="56" name="cam-g-9-c"/>
          <p:cNvSpPr txBox="1"/>
          <p:nvPr/>
        </p:nvSpPr>
        <p:spPr>
          <a:xfrm>
            <a:off x="9492058" y="5907024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oct</a:t>
            </a:r>
            <a:endParaRPr lang="en-US" sz="1000" dirty="0"/>
          </a:p>
        </p:txBody>
      </p:sp>
      <p:sp>
        <p:nvSpPr>
          <p:cNvPr id="57" name="cam-g-10-b"/>
          <p:cNvSpPr/>
          <p:nvPr/>
        </p:nvSpPr>
        <p:spPr>
          <a:xfrm>
            <a:off x="10545896" y="4799279"/>
            <a:ext cx="384959" cy="1052881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58" name="cam-g-10-v"/>
          <p:cNvSpPr txBox="1"/>
          <p:nvPr/>
        </p:nvSpPr>
        <p:spPr>
          <a:xfrm>
            <a:off x="10261976" y="4570679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166</a:t>
            </a:r>
            <a:endParaRPr lang="en-US" sz="1000" dirty="0"/>
          </a:p>
        </p:txBody>
      </p:sp>
      <p:sp>
        <p:nvSpPr>
          <p:cNvPr id="59" name="cam-g-10-c"/>
          <p:cNvSpPr txBox="1"/>
          <p:nvPr/>
        </p:nvSpPr>
        <p:spPr>
          <a:xfrm>
            <a:off x="10261976" y="5907024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</a:t>
            </a:r>
            <a:endParaRPr lang="en-US" sz="1000" dirty="0"/>
          </a:p>
        </p:txBody>
      </p:sp>
      <p:sp>
        <p:nvSpPr>
          <p:cNvPr id="60" name="cam-g-11-b"/>
          <p:cNvSpPr/>
          <p:nvPr/>
        </p:nvSpPr>
        <p:spPr>
          <a:xfrm>
            <a:off x="11315814" y="4754880"/>
            <a:ext cx="384959" cy="109728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61" name="cam-g-11-v"/>
          <p:cNvSpPr txBox="1"/>
          <p:nvPr/>
        </p:nvSpPr>
        <p:spPr>
          <a:xfrm>
            <a:off x="11031894" y="4526280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173</a:t>
            </a:r>
            <a:endParaRPr lang="en-US" sz="1000" dirty="0"/>
          </a:p>
        </p:txBody>
      </p:sp>
      <p:sp>
        <p:nvSpPr>
          <p:cNvPr id="62" name="cam-g-11-c"/>
          <p:cNvSpPr txBox="1"/>
          <p:nvPr/>
        </p:nvSpPr>
        <p:spPr>
          <a:xfrm>
            <a:off x="11031894" y="5907024"/>
            <a:ext cx="952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dic</a:t>
            </a:r>
            <a:endParaRPr lang="en-US" sz="1000" dirty="0"/>
          </a:p>
        </p:txBody>
      </p:sp>
      <p:sp>
        <p:nvSpPr>
          <p:cNvPr id="63" name="cam-g-base"/>
          <p:cNvSpPr/>
          <p:nvPr/>
        </p:nvSpPr>
        <p:spPr>
          <a:xfrm>
            <a:off x="2654234" y="5852160"/>
            <a:ext cx="9239019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3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1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9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470"/>
                            </p:stCondLst>
                            <p:childTnLst>
                              <p:par>
                                <p:cTn id="7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90"/>
                            </p:stCondLst>
                            <p:childTnLst>
                              <p:par>
                                <p:cTn id="8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710"/>
                            </p:stCondLst>
                            <p:childTnLst>
                              <p:par>
                                <p:cTn id="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830"/>
                            </p:stCondLst>
                            <p:childTnLst>
                              <p:par>
                                <p:cTn id="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950"/>
                            </p:stCondLst>
                            <p:childTnLst>
                              <p:par>
                                <p:cTn id="1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70"/>
                            </p:stCondLst>
                            <p:childTnLst>
                              <p:par>
                                <p:cTn id="1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190"/>
                            </p:stCondLst>
                            <p:childTnLst>
                              <p:par>
                                <p:cTn id="1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310"/>
                            </p:stCondLst>
                            <p:childTnLst>
                              <p:par>
                                <p:cTn id="1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430"/>
                            </p:stCondLst>
                            <p:childTnLst>
                              <p:par>
                                <p:cTn id="1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550"/>
                            </p:stCondLst>
                            <p:childTnLst>
                              <p:par>
                                <p:cTn id="1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670"/>
                            </p:stCondLst>
                            <p:childTnLst>
                              <p:par>
                                <p:cTn id="16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2790"/>
                            </p:stCondLst>
                            <p:childTnLst>
                              <p:par>
                                <p:cTn id="17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1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1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1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1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6" grpId="0" animBg="1"/>
      <p:bldP spid="37" grpId="0" animBg="1"/>
      <p:bldP spid="39" grpId="0" animBg="1"/>
      <p:bldP spid="40" grpId="0" animBg="1"/>
      <p:bldP spid="42" grpId="0" animBg="1"/>
      <p:bldP spid="43" grpId="0" animBg="1"/>
      <p:bldP spid="45" grpId="0" animBg="1"/>
      <p:bldP spid="46" grpId="0" animBg="1"/>
      <p:bldP spid="48" grpId="0" animBg="1"/>
      <p:bldP spid="49" grpId="0" animBg="1"/>
      <p:bldP spid="51" grpId="0" animBg="1"/>
      <p:bldP spid="52" grpId="0" animBg="1"/>
      <p:bldP spid="54" grpId="0" animBg="1"/>
      <p:bldP spid="55" grpId="0" animBg="1"/>
      <p:bldP spid="57" grpId="0" animBg="1"/>
      <p:bldP spid="58" grpId="0" animBg="1"/>
      <p:bldP spid="60" grpId="0" animBg="1"/>
      <p:bldP spid="6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a60e9ee-cec4-5fc1-bdd0-d8a953451dda/scratchpad/deck/v12/assets/beira_logotipo_neg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304792"/>
            <a:ext cx="1100777" cy="400040"/>
          </a:xfrm>
          <a:prstGeom prst="rect">
            <a:avLst/>
          </a:prstGeom>
        </p:spPr>
      </p:pic>
      <p:sp>
        <p:nvSpPr>
          <p:cNvPr id="3" name="fin-tit"/>
          <p:cNvSpPr txBox="1"/>
          <p:nvPr/>
        </p:nvSpPr>
        <p:spPr>
          <a:xfrm>
            <a:off x="277360" y="2743200"/>
            <a:ext cx="9601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5000" spc="-45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Gracias.</a:t>
            </a:r>
            <a:endParaRPr lang="en-US" sz="15000" dirty="0"/>
          </a:p>
        </p:txBody>
      </p:sp>
      <p:sp>
        <p:nvSpPr>
          <p:cNvPr id="4" name="fin-pie"/>
          <p:cNvSpPr txBox="1"/>
          <p:nvPr/>
        </p:nvSpPr>
        <p:spPr>
          <a:xfrm>
            <a:off x="7863840" y="5760720"/>
            <a:ext cx="40294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¿Preguntas?</a:t>
            </a:r>
            <a:endParaRPr lang="en-US" sz="9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95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João Miguel Pais · Ironhack Data Analytics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a60e9ee-cec4-5fc1-bdd0-d8a953451dda/scratchpad/deck/v12/assets/patron_verde_franj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3748" y="0"/>
            <a:ext cx="2377947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90788" y="301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</a:t>
            </a:r>
            <a:endParaRPr lang="en-US" sz="850" dirty="0"/>
          </a:p>
        </p:txBody>
      </p:sp>
      <p:sp>
        <p:nvSpPr>
          <p:cNvPr id="4" name="sep3-tit"/>
          <p:cNvSpPr txBox="1"/>
          <p:nvPr/>
        </p:nvSpPr>
        <p:spPr>
          <a:xfrm>
            <a:off x="277360" y="914400"/>
            <a:ext cx="9052560" cy="5623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0400" spc="-312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Reserva.</a:t>
            </a:r>
            <a:endParaRPr lang="en-US" sz="104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a60e9ee-cec4-5fc1-bdd0-d8a953451dda/scratchpad/deck/v12/assets/cartel_amb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8233" y="0"/>
            <a:ext cx="4843463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Demostración</a:t>
            </a:r>
            <a:endParaRPr lang="en-US" sz="1500" dirty="0"/>
          </a:p>
        </p:txBody>
      </p:sp>
      <p:sp>
        <p:nvSpPr>
          <p:cNvPr id="4" name="demo-tit"/>
          <p:cNvSpPr txBox="1"/>
          <p:nvPr/>
        </p:nvSpPr>
        <p:spPr>
          <a:xfrm>
            <a:off x="304792" y="91440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600" b="1" spc="-224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Ahora,</a:t>
            </a:r>
            <a:endParaRPr lang="en-US" sz="5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5600" b="1" spc="-224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directo.</a:t>
            </a:r>
            <a:endParaRPr lang="en-US" sz="5600" dirty="0"/>
          </a:p>
        </p:txBody>
      </p:sp>
      <p:sp>
        <p:nvSpPr>
          <p:cNvPr id="5" name="demo-0-l"/>
          <p:cNvSpPr/>
          <p:nvPr/>
        </p:nvSpPr>
        <p:spPr>
          <a:xfrm>
            <a:off x="304792" y="2788920"/>
            <a:ext cx="6400800" cy="0"/>
          </a:xfrm>
          <a:prstGeom prst="line">
            <a:avLst/>
          </a:prstGeom>
          <a:noFill/>
          <a:ln w="9525">
            <a:solidFill>
              <a:srgbClr val="EDE5DC"/>
            </a:solidFill>
            <a:prstDash val="solid"/>
          </a:ln>
        </p:spPr>
      </p:sp>
      <p:sp>
        <p:nvSpPr>
          <p:cNvPr id="6" name="demo-0-n"/>
          <p:cNvSpPr txBox="1"/>
          <p:nvPr/>
        </p:nvSpPr>
        <p:spPr>
          <a:xfrm>
            <a:off x="304792" y="29169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00" b="1" spc="-88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demo-0-t"/>
          <p:cNvSpPr txBox="1"/>
          <p:nvPr/>
        </p:nvSpPr>
        <p:spPr>
          <a:xfrm>
            <a:off x="853432" y="29077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spc="-16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config.yaml</a:t>
            </a:r>
            <a:endParaRPr lang="en-US" sz="1600" dirty="0"/>
          </a:p>
        </p:txBody>
      </p:sp>
      <p:sp>
        <p:nvSpPr>
          <p:cNvPr id="8" name="demo-0-d"/>
          <p:cNvSpPr txBox="1"/>
          <p:nvPr/>
        </p:nvSpPr>
        <p:spPr>
          <a:xfrm>
            <a:off x="853432" y="3246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-12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Cambio los municipios del piloto.</a:t>
            </a:r>
            <a:endParaRPr lang="en-US" sz="1200" dirty="0"/>
          </a:p>
        </p:txBody>
      </p:sp>
      <p:sp>
        <p:nvSpPr>
          <p:cNvPr id="9" name="demo-1-l"/>
          <p:cNvSpPr/>
          <p:nvPr/>
        </p:nvSpPr>
        <p:spPr>
          <a:xfrm>
            <a:off x="304792" y="3630168"/>
            <a:ext cx="6400800" cy="0"/>
          </a:xfrm>
          <a:prstGeom prst="line">
            <a:avLst/>
          </a:prstGeom>
          <a:noFill/>
          <a:ln w="9525">
            <a:solidFill>
              <a:srgbClr val="EDE5DC"/>
            </a:solidFill>
            <a:prstDash val="solid"/>
          </a:ln>
        </p:spPr>
      </p:sp>
      <p:sp>
        <p:nvSpPr>
          <p:cNvPr id="10" name="demo-1-n"/>
          <p:cNvSpPr txBox="1"/>
          <p:nvPr/>
        </p:nvSpPr>
        <p:spPr>
          <a:xfrm>
            <a:off x="304792" y="37581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00" b="1" spc="-88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demo-1-t"/>
          <p:cNvSpPr txBox="1"/>
          <p:nvPr/>
        </p:nvSpPr>
        <p:spPr>
          <a:xfrm>
            <a:off x="853432" y="37490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spc="-16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main.py</a:t>
            </a:r>
            <a:endParaRPr lang="en-US" sz="1600" dirty="0"/>
          </a:p>
        </p:txBody>
      </p:sp>
      <p:sp>
        <p:nvSpPr>
          <p:cNvPr id="12" name="demo-1-d"/>
          <p:cNvSpPr txBox="1"/>
          <p:nvPr/>
        </p:nvSpPr>
        <p:spPr>
          <a:xfrm>
            <a:off x="853432" y="40873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-12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Limpia los datos y rehace la lista en menos de 20 segundos.</a:t>
            </a:r>
            <a:endParaRPr lang="en-US" sz="1200" dirty="0"/>
          </a:p>
        </p:txBody>
      </p:sp>
      <p:sp>
        <p:nvSpPr>
          <p:cNvPr id="13" name="demo-2-l"/>
          <p:cNvSpPr/>
          <p:nvPr/>
        </p:nvSpPr>
        <p:spPr>
          <a:xfrm>
            <a:off x="304792" y="4471416"/>
            <a:ext cx="6400800" cy="0"/>
          </a:xfrm>
          <a:prstGeom prst="line">
            <a:avLst/>
          </a:prstGeom>
          <a:noFill/>
          <a:ln w="9525">
            <a:solidFill>
              <a:srgbClr val="EDE5DC"/>
            </a:solidFill>
            <a:prstDash val="solid"/>
          </a:ln>
        </p:spPr>
      </p:sp>
      <p:sp>
        <p:nvSpPr>
          <p:cNvPr id="14" name="demo-2-n"/>
          <p:cNvSpPr txBox="1"/>
          <p:nvPr/>
        </p:nvSpPr>
        <p:spPr>
          <a:xfrm>
            <a:off x="304792" y="4599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00" b="1" spc="-88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demo-2-t"/>
          <p:cNvSpPr txBox="1"/>
          <p:nvPr/>
        </p:nvSpPr>
        <p:spPr>
          <a:xfrm>
            <a:off x="853432" y="45902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spc="-16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lista</a:t>
            </a:r>
            <a:endParaRPr lang="en-US" sz="1600" dirty="0"/>
          </a:p>
        </p:txBody>
      </p:sp>
      <p:sp>
        <p:nvSpPr>
          <p:cNvPr id="16" name="demo-2-d"/>
          <p:cNvSpPr txBox="1"/>
          <p:nvPr/>
        </p:nvSpPr>
        <p:spPr>
          <a:xfrm>
            <a:off x="853432" y="492861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-12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contacto número 1, con su motivo y su idea de prenda.</a:t>
            </a:r>
            <a:endParaRPr lang="en-US" sz="1200" dirty="0"/>
          </a:p>
        </p:txBody>
      </p:sp>
      <p:sp>
        <p:nvSpPr>
          <p:cNvPr id="17" name="demo-3-l"/>
          <p:cNvSpPr/>
          <p:nvPr/>
        </p:nvSpPr>
        <p:spPr>
          <a:xfrm>
            <a:off x="304792" y="5312664"/>
            <a:ext cx="6400800" cy="0"/>
          </a:xfrm>
          <a:prstGeom prst="line">
            <a:avLst/>
          </a:prstGeom>
          <a:noFill/>
          <a:ln w="9525">
            <a:solidFill>
              <a:srgbClr val="EDE5DC"/>
            </a:solidFill>
            <a:prstDash val="solid"/>
          </a:ln>
        </p:spPr>
      </p:sp>
      <p:sp>
        <p:nvSpPr>
          <p:cNvPr id="18" name="demo-3-n"/>
          <p:cNvSpPr txBox="1"/>
          <p:nvPr/>
        </p:nvSpPr>
        <p:spPr>
          <a:xfrm>
            <a:off x="304792" y="5440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00" b="1" spc="-88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demo-3-t"/>
          <p:cNvSpPr txBox="1"/>
          <p:nvPr/>
        </p:nvSpPr>
        <p:spPr>
          <a:xfrm>
            <a:off x="853432" y="543153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spc="-16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MySQL Workbench</a:t>
            </a:r>
            <a:endParaRPr lang="en-US" sz="1600" dirty="0"/>
          </a:p>
        </p:txBody>
      </p:sp>
      <p:sp>
        <p:nvSpPr>
          <p:cNvPr id="20" name="demo-3-d"/>
          <p:cNvSpPr txBox="1"/>
          <p:nvPr/>
        </p:nvSpPr>
        <p:spPr>
          <a:xfrm>
            <a:off x="853432" y="576986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-12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 preguntas de negocio, en SQL.</a:t>
            </a:r>
            <a:endParaRPr lang="en-US" sz="12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8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6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4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Pregunta a la clase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Reserva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29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2654234" y="1463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48" kern="0" dirty="0">
                <a:solidFill>
                  <a:srgbClr val="0D0D0D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¿Cuánto gastaron las cámaras y juntas de la región en ropa y merchandising de 2020 a 2025?</a:t>
            </a:r>
            <a:endParaRPr lang="en-US" sz="2400" dirty="0"/>
          </a:p>
        </p:txBody>
      </p:sp>
      <p:sp>
        <p:nvSpPr>
          <p:cNvPr id="6" name="preg-op0"/>
          <p:cNvSpPr txBox="1"/>
          <p:nvPr/>
        </p:nvSpPr>
        <p:spPr>
          <a:xfrm>
            <a:off x="2654234" y="2926080"/>
            <a:ext cx="92390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spc="-100" kern="0" dirty="0">
                <a:solidFill>
                  <a:srgbClr val="0D0D0D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• Medio millón de euros</a:t>
            </a:r>
            <a:endParaRPr lang="en-US" sz="5000" dirty="0"/>
          </a:p>
        </p:txBody>
      </p:sp>
      <p:sp>
        <p:nvSpPr>
          <p:cNvPr id="7" name="preg-op1"/>
          <p:cNvSpPr txBox="1"/>
          <p:nvPr/>
        </p:nvSpPr>
        <p:spPr>
          <a:xfrm>
            <a:off x="2654234" y="3712464"/>
            <a:ext cx="92390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spc="-100" kern="0" dirty="0">
                <a:solidFill>
                  <a:srgbClr val="0D0D0D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• Dos millones de euros</a:t>
            </a:r>
            <a:endParaRPr lang="en-US" sz="5000" dirty="0"/>
          </a:p>
        </p:txBody>
      </p:sp>
      <p:sp>
        <p:nvSpPr>
          <p:cNvPr id="8" name="preg-op2"/>
          <p:cNvSpPr txBox="1"/>
          <p:nvPr/>
        </p:nvSpPr>
        <p:spPr>
          <a:xfrm>
            <a:off x="2654234" y="4498848"/>
            <a:ext cx="92390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spc="-100" kern="0" dirty="0">
                <a:solidFill>
                  <a:srgbClr val="0D0D0D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• Cinco millones de euros</a:t>
            </a:r>
            <a:endParaRPr lang="en-US" sz="50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Cuándo · H1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Reserva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mes fuerte no es fijo.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654234" y="173736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Gasto de cámaras y juntas por mes, en miles de €. En terracota, el mes más fuerte de cada año.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654234" y="23134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2020</a:t>
            </a:r>
            <a:endParaRPr lang="en-US" sz="1050" dirty="0"/>
          </a:p>
        </p:txBody>
      </p:sp>
      <p:sp>
        <p:nvSpPr>
          <p:cNvPr id="8" name="mat-0-p1"/>
          <p:cNvSpPr/>
          <p:nvPr/>
        </p:nvSpPr>
        <p:spPr>
          <a:xfrm>
            <a:off x="3830631" y="2365117"/>
            <a:ext cx="116086" cy="116086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9" name="mat-0-p2"/>
          <p:cNvSpPr/>
          <p:nvPr/>
        </p:nvSpPr>
        <p:spPr>
          <a:xfrm>
            <a:off x="4130990" y="2208276"/>
            <a:ext cx="429768" cy="429768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0" name="mat-0-v"/>
          <p:cNvSpPr txBox="1"/>
          <p:nvPr/>
        </p:nvSpPr>
        <p:spPr>
          <a:xfrm>
            <a:off x="4071554" y="23225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-9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230</a:t>
            </a:r>
            <a:endParaRPr lang="en-US" sz="900" dirty="0"/>
          </a:p>
        </p:txBody>
      </p:sp>
      <p:sp>
        <p:nvSpPr>
          <p:cNvPr id="11" name="mat-0-p3"/>
          <p:cNvSpPr/>
          <p:nvPr/>
        </p:nvSpPr>
        <p:spPr>
          <a:xfrm>
            <a:off x="4641335" y="2261422"/>
            <a:ext cx="323477" cy="323477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2" name="mat-0-p5"/>
          <p:cNvSpPr/>
          <p:nvPr/>
        </p:nvSpPr>
        <p:spPr>
          <a:xfrm>
            <a:off x="5647086" y="2352772"/>
            <a:ext cx="140775" cy="140775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3" name="mat-0-p6"/>
          <p:cNvSpPr/>
          <p:nvPr/>
        </p:nvSpPr>
        <p:spPr>
          <a:xfrm>
            <a:off x="6053574" y="2302061"/>
            <a:ext cx="242199" cy="242199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4" name="mat-0-p7"/>
          <p:cNvSpPr/>
          <p:nvPr/>
        </p:nvSpPr>
        <p:spPr>
          <a:xfrm>
            <a:off x="6565844" y="2357131"/>
            <a:ext cx="132059" cy="132059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5" name="mat-0-p8"/>
          <p:cNvSpPr/>
          <p:nvPr/>
        </p:nvSpPr>
        <p:spPr>
          <a:xfrm>
            <a:off x="6969622" y="2303708"/>
            <a:ext cx="238903" cy="23890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6" name="mat-0-p9"/>
          <p:cNvSpPr/>
          <p:nvPr/>
        </p:nvSpPr>
        <p:spPr>
          <a:xfrm>
            <a:off x="7460643" y="2337530"/>
            <a:ext cx="171260" cy="17126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7" name="mat-0-p10"/>
          <p:cNvSpPr/>
          <p:nvPr/>
        </p:nvSpPr>
        <p:spPr>
          <a:xfrm>
            <a:off x="7968991" y="2388677"/>
            <a:ext cx="68965" cy="68965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8" name="mat-0-p11"/>
          <p:cNvSpPr/>
          <p:nvPr/>
        </p:nvSpPr>
        <p:spPr>
          <a:xfrm>
            <a:off x="8356272" y="2318758"/>
            <a:ext cx="208803" cy="20880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54234" y="28986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2021</a:t>
            </a:r>
            <a:endParaRPr lang="en-US" sz="1050" dirty="0"/>
          </a:p>
        </p:txBody>
      </p:sp>
      <p:sp>
        <p:nvSpPr>
          <p:cNvPr id="20" name="mat-1-p0"/>
          <p:cNvSpPr/>
          <p:nvPr/>
        </p:nvSpPr>
        <p:spPr>
          <a:xfrm>
            <a:off x="3373431" y="2950333"/>
            <a:ext cx="116086" cy="116086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1" name="mat-1-p1"/>
          <p:cNvSpPr/>
          <p:nvPr/>
        </p:nvSpPr>
        <p:spPr>
          <a:xfrm>
            <a:off x="3739028" y="2858730"/>
            <a:ext cx="299292" cy="299292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2" name="mat-1-v"/>
          <p:cNvSpPr txBox="1"/>
          <p:nvPr/>
        </p:nvSpPr>
        <p:spPr>
          <a:xfrm>
            <a:off x="3614354" y="29077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-9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110</a:t>
            </a:r>
            <a:endParaRPr lang="en-US" sz="900" dirty="0"/>
          </a:p>
        </p:txBody>
      </p:sp>
      <p:sp>
        <p:nvSpPr>
          <p:cNvPr id="23" name="mat-1-p2"/>
          <p:cNvSpPr/>
          <p:nvPr/>
        </p:nvSpPr>
        <p:spPr>
          <a:xfrm>
            <a:off x="4225595" y="2888098"/>
            <a:ext cx="240557" cy="240557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4" name="mat-1-p3"/>
          <p:cNvSpPr/>
          <p:nvPr/>
        </p:nvSpPr>
        <p:spPr>
          <a:xfrm>
            <a:off x="4765828" y="2971130"/>
            <a:ext cx="74491" cy="74491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5" name="mat-1-p4"/>
          <p:cNvSpPr/>
          <p:nvPr/>
        </p:nvSpPr>
        <p:spPr>
          <a:xfrm>
            <a:off x="5184464" y="2932566"/>
            <a:ext cx="151620" cy="15162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6" name="mat-1-p6"/>
          <p:cNvSpPr/>
          <p:nvPr/>
        </p:nvSpPr>
        <p:spPr>
          <a:xfrm>
            <a:off x="6064725" y="2898427"/>
            <a:ext cx="219898" cy="219898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7" name="mat-1-p7"/>
          <p:cNvSpPr/>
          <p:nvPr/>
        </p:nvSpPr>
        <p:spPr>
          <a:xfrm>
            <a:off x="6537439" y="2913941"/>
            <a:ext cx="188870" cy="18887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8" name="mat-1-p8"/>
          <p:cNvSpPr/>
          <p:nvPr/>
        </p:nvSpPr>
        <p:spPr>
          <a:xfrm>
            <a:off x="6948298" y="2867601"/>
            <a:ext cx="281550" cy="28155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9" name="mat-1-p10"/>
          <p:cNvSpPr/>
          <p:nvPr/>
        </p:nvSpPr>
        <p:spPr>
          <a:xfrm>
            <a:off x="7948952" y="2953854"/>
            <a:ext cx="109044" cy="109044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0" name="mat-1-p11"/>
          <p:cNvSpPr/>
          <p:nvPr/>
        </p:nvSpPr>
        <p:spPr>
          <a:xfrm>
            <a:off x="8332421" y="2880124"/>
            <a:ext cx="256505" cy="256505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54234" y="34838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2022</a:t>
            </a:r>
            <a:endParaRPr lang="en-US" sz="1050" dirty="0"/>
          </a:p>
        </p:txBody>
      </p:sp>
      <p:sp>
        <p:nvSpPr>
          <p:cNvPr id="32" name="mat-2-p0"/>
          <p:cNvSpPr/>
          <p:nvPr/>
        </p:nvSpPr>
        <p:spPr>
          <a:xfrm>
            <a:off x="3376952" y="3539070"/>
            <a:ext cx="109044" cy="109044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3" name="mat-2-p1"/>
          <p:cNvSpPr/>
          <p:nvPr/>
        </p:nvSpPr>
        <p:spPr>
          <a:xfrm>
            <a:off x="3788140" y="3493058"/>
            <a:ext cx="201067" cy="201067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4" name="mat-2-p2"/>
          <p:cNvSpPr/>
          <p:nvPr/>
        </p:nvSpPr>
        <p:spPr>
          <a:xfrm>
            <a:off x="4255734" y="3503452"/>
            <a:ext cx="180280" cy="18028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5" name="mat-2-p3"/>
          <p:cNvSpPr/>
          <p:nvPr/>
        </p:nvSpPr>
        <p:spPr>
          <a:xfrm>
            <a:off x="4737044" y="3527563"/>
            <a:ext cx="132059" cy="132059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6" name="mat-2-p4"/>
          <p:cNvSpPr/>
          <p:nvPr/>
        </p:nvSpPr>
        <p:spPr>
          <a:xfrm>
            <a:off x="5116022" y="3449340"/>
            <a:ext cx="288503" cy="28850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7" name="mat-2-p5"/>
          <p:cNvSpPr/>
          <p:nvPr/>
        </p:nvSpPr>
        <p:spPr>
          <a:xfrm>
            <a:off x="5598854" y="3474973"/>
            <a:ext cx="237239" cy="237239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8" name="mat-2-p6"/>
          <p:cNvSpPr/>
          <p:nvPr/>
        </p:nvSpPr>
        <p:spPr>
          <a:xfrm>
            <a:off x="6062053" y="3480972"/>
            <a:ext cx="225240" cy="22524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9" name="mat-2-p7"/>
          <p:cNvSpPr/>
          <p:nvPr/>
        </p:nvSpPr>
        <p:spPr>
          <a:xfrm>
            <a:off x="6454363" y="3416081"/>
            <a:ext cx="355022" cy="355022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40" name="mat-2-v"/>
          <p:cNvSpPr txBox="1"/>
          <p:nvPr/>
        </p:nvSpPr>
        <p:spPr>
          <a:xfrm>
            <a:off x="6357554" y="34930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-9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160</a:t>
            </a:r>
            <a:endParaRPr lang="en-US" sz="900" dirty="0"/>
          </a:p>
        </p:txBody>
      </p:sp>
      <p:sp>
        <p:nvSpPr>
          <p:cNvPr id="41" name="mat-2-p9"/>
          <p:cNvSpPr/>
          <p:nvPr/>
        </p:nvSpPr>
        <p:spPr>
          <a:xfrm>
            <a:off x="7480244" y="3527563"/>
            <a:ext cx="132059" cy="132059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2" name="mat-2-p10"/>
          <p:cNvSpPr/>
          <p:nvPr/>
        </p:nvSpPr>
        <p:spPr>
          <a:xfrm>
            <a:off x="7894430" y="3484548"/>
            <a:ext cx="218088" cy="218088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3" name="mat-2-p11"/>
          <p:cNvSpPr/>
          <p:nvPr/>
        </p:nvSpPr>
        <p:spPr>
          <a:xfrm>
            <a:off x="8377390" y="3510308"/>
            <a:ext cx="166567" cy="166567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654234" y="4069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2023</a:t>
            </a:r>
            <a:endParaRPr lang="en-US" sz="1050" dirty="0"/>
          </a:p>
        </p:txBody>
      </p:sp>
      <p:sp>
        <p:nvSpPr>
          <p:cNvPr id="45" name="mat-3-p0"/>
          <p:cNvSpPr/>
          <p:nvPr/>
        </p:nvSpPr>
        <p:spPr>
          <a:xfrm>
            <a:off x="3407091" y="4154425"/>
            <a:ext cx="48766" cy="48766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6" name="mat-3-p1"/>
          <p:cNvSpPr/>
          <p:nvPr/>
        </p:nvSpPr>
        <p:spPr>
          <a:xfrm>
            <a:off x="3832364" y="4122498"/>
            <a:ext cx="112620" cy="11262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7" name="mat-3-p2"/>
          <p:cNvSpPr/>
          <p:nvPr/>
        </p:nvSpPr>
        <p:spPr>
          <a:xfrm>
            <a:off x="4251439" y="4084373"/>
            <a:ext cx="188870" cy="18887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8" name="mat-3-p3"/>
          <p:cNvSpPr/>
          <p:nvPr/>
        </p:nvSpPr>
        <p:spPr>
          <a:xfrm>
            <a:off x="4727264" y="4102998"/>
            <a:ext cx="151620" cy="15162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9" name="mat-3-p4"/>
          <p:cNvSpPr/>
          <p:nvPr/>
        </p:nvSpPr>
        <p:spPr>
          <a:xfrm>
            <a:off x="5159740" y="4078274"/>
            <a:ext cx="201067" cy="201067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0" name="mat-3-p5"/>
          <p:cNvSpPr/>
          <p:nvPr/>
        </p:nvSpPr>
        <p:spPr>
          <a:xfrm>
            <a:off x="5579543" y="4040877"/>
            <a:ext cx="275862" cy="275862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1" name="mat-3-p6"/>
          <p:cNvSpPr/>
          <p:nvPr/>
        </p:nvSpPr>
        <p:spPr>
          <a:xfrm>
            <a:off x="6028376" y="4032510"/>
            <a:ext cx="292596" cy="292596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52" name="mat-3-v"/>
          <p:cNvSpPr txBox="1"/>
          <p:nvPr/>
        </p:nvSpPr>
        <p:spPr>
          <a:xfrm>
            <a:off x="5900354" y="40782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-9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110</a:t>
            </a:r>
            <a:endParaRPr lang="en-US" sz="900" dirty="0"/>
          </a:p>
        </p:txBody>
      </p:sp>
      <p:sp>
        <p:nvSpPr>
          <p:cNvPr id="53" name="mat-3-p7"/>
          <p:cNvSpPr/>
          <p:nvPr/>
        </p:nvSpPr>
        <p:spPr>
          <a:xfrm>
            <a:off x="6494663" y="4041597"/>
            <a:ext cx="274421" cy="274421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4" name="mat-3-p8"/>
          <p:cNvSpPr/>
          <p:nvPr/>
        </p:nvSpPr>
        <p:spPr>
          <a:xfrm>
            <a:off x="6989531" y="4079265"/>
            <a:ext cx="199086" cy="199086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5" name="mat-3-p9"/>
          <p:cNvSpPr/>
          <p:nvPr/>
        </p:nvSpPr>
        <p:spPr>
          <a:xfrm>
            <a:off x="7459494" y="4092028"/>
            <a:ext cx="173559" cy="173559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6" name="mat-3-p10"/>
          <p:cNvSpPr/>
          <p:nvPr/>
        </p:nvSpPr>
        <p:spPr>
          <a:xfrm>
            <a:off x="7889977" y="4065311"/>
            <a:ext cx="226993" cy="22699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7" name="mat-3-p11"/>
          <p:cNvSpPr/>
          <p:nvPr/>
        </p:nvSpPr>
        <p:spPr>
          <a:xfrm>
            <a:off x="8315737" y="4033871"/>
            <a:ext cx="289874" cy="289874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654234" y="465429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2024</a:t>
            </a:r>
            <a:endParaRPr lang="en-US" sz="1050" dirty="0"/>
          </a:p>
        </p:txBody>
      </p:sp>
      <p:sp>
        <p:nvSpPr>
          <p:cNvPr id="59" name="mat-4-p0"/>
          <p:cNvSpPr/>
          <p:nvPr/>
        </p:nvSpPr>
        <p:spPr>
          <a:xfrm>
            <a:off x="3358325" y="4690875"/>
            <a:ext cx="146298" cy="146298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0" name="mat-4-p1"/>
          <p:cNvSpPr/>
          <p:nvPr/>
        </p:nvSpPr>
        <p:spPr>
          <a:xfrm>
            <a:off x="3702446" y="4577796"/>
            <a:ext cx="372456" cy="372456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1" name="mat-4-p2"/>
          <p:cNvSpPr/>
          <p:nvPr/>
        </p:nvSpPr>
        <p:spPr>
          <a:xfrm>
            <a:off x="4176943" y="4595094"/>
            <a:ext cx="337860" cy="33786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2" name="mat-4-p3"/>
          <p:cNvSpPr/>
          <p:nvPr/>
        </p:nvSpPr>
        <p:spPr>
          <a:xfrm>
            <a:off x="4690453" y="4651404"/>
            <a:ext cx="225240" cy="225240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3" name="mat-4-p4"/>
          <p:cNvSpPr/>
          <p:nvPr/>
        </p:nvSpPr>
        <p:spPr>
          <a:xfrm>
            <a:off x="5129724" y="4633474"/>
            <a:ext cx="261099" cy="261099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4" name="mat-4-p5"/>
          <p:cNvSpPr/>
          <p:nvPr/>
        </p:nvSpPr>
        <p:spPr>
          <a:xfrm>
            <a:off x="5567828" y="4614378"/>
            <a:ext cx="299292" cy="299292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5" name="mat-4-p6"/>
          <p:cNvSpPr/>
          <p:nvPr/>
        </p:nvSpPr>
        <p:spPr>
          <a:xfrm>
            <a:off x="5978092" y="4567442"/>
            <a:ext cx="393164" cy="393164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66" name="mat-4-v"/>
          <p:cNvSpPr txBox="1"/>
          <p:nvPr/>
        </p:nvSpPr>
        <p:spPr>
          <a:xfrm>
            <a:off x="5900354" y="46634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-9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200</a:t>
            </a:r>
            <a:endParaRPr lang="en-US" sz="900" dirty="0"/>
          </a:p>
        </p:txBody>
      </p:sp>
      <p:sp>
        <p:nvSpPr>
          <p:cNvPr id="67" name="mat-4-p7"/>
          <p:cNvSpPr/>
          <p:nvPr/>
        </p:nvSpPr>
        <p:spPr>
          <a:xfrm>
            <a:off x="6507544" y="4639695"/>
            <a:ext cx="248659" cy="248659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8" name="mat-4-p8"/>
          <p:cNvSpPr/>
          <p:nvPr/>
        </p:nvSpPr>
        <p:spPr>
          <a:xfrm>
            <a:off x="6990531" y="4665481"/>
            <a:ext cx="197085" cy="197085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9" name="mat-4-p9"/>
          <p:cNvSpPr/>
          <p:nvPr/>
        </p:nvSpPr>
        <p:spPr>
          <a:xfrm>
            <a:off x="7421150" y="4638900"/>
            <a:ext cx="250247" cy="250247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70" name="mat-4-p10"/>
          <p:cNvSpPr/>
          <p:nvPr/>
        </p:nvSpPr>
        <p:spPr>
          <a:xfrm>
            <a:off x="7899072" y="4659622"/>
            <a:ext cx="208803" cy="20880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71" name="mat-4-p11"/>
          <p:cNvSpPr/>
          <p:nvPr/>
        </p:nvSpPr>
        <p:spPr>
          <a:xfrm>
            <a:off x="8327123" y="4630473"/>
            <a:ext cx="267102" cy="267102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2654234" y="52395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1050" dirty="0"/>
          </a:p>
        </p:txBody>
      </p:sp>
      <p:sp>
        <p:nvSpPr>
          <p:cNvPr id="73" name="mat-5-p1"/>
          <p:cNvSpPr/>
          <p:nvPr/>
        </p:nvSpPr>
        <p:spPr>
          <a:xfrm>
            <a:off x="3828948" y="5289514"/>
            <a:ext cx="119452" cy="119452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74" name="mat-5-p2"/>
          <p:cNvSpPr/>
          <p:nvPr/>
        </p:nvSpPr>
        <p:spPr>
          <a:xfrm>
            <a:off x="4203698" y="5207064"/>
            <a:ext cx="284352" cy="284352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75" name="mat-5-p3"/>
          <p:cNvSpPr/>
          <p:nvPr/>
        </p:nvSpPr>
        <p:spPr>
          <a:xfrm>
            <a:off x="4714040" y="5260206"/>
            <a:ext cx="178068" cy="178068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76" name="mat-5-p4"/>
          <p:cNvSpPr/>
          <p:nvPr/>
        </p:nvSpPr>
        <p:spPr>
          <a:xfrm>
            <a:off x="5162742" y="5251708"/>
            <a:ext cx="195064" cy="195064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77" name="mat-5-p5"/>
          <p:cNvSpPr/>
          <p:nvPr/>
        </p:nvSpPr>
        <p:spPr>
          <a:xfrm>
            <a:off x="5526517" y="5158283"/>
            <a:ext cx="381914" cy="381914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78" name="mat-5-p6"/>
          <p:cNvSpPr/>
          <p:nvPr/>
        </p:nvSpPr>
        <p:spPr>
          <a:xfrm>
            <a:off x="5964923" y="5139490"/>
            <a:ext cx="419501" cy="419501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79" name="mat-5-v"/>
          <p:cNvSpPr txBox="1"/>
          <p:nvPr/>
        </p:nvSpPr>
        <p:spPr>
          <a:xfrm>
            <a:off x="5900354" y="52486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-9" kern="0" dirty="0">
                <a:solidFill>
                  <a:srgbClr val="EDE5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220</a:t>
            </a:r>
            <a:endParaRPr lang="en-US" sz="900" dirty="0"/>
          </a:p>
        </p:txBody>
      </p:sp>
      <p:sp>
        <p:nvSpPr>
          <p:cNvPr id="80" name="mat-5-p7"/>
          <p:cNvSpPr/>
          <p:nvPr/>
        </p:nvSpPr>
        <p:spPr>
          <a:xfrm>
            <a:off x="6446713" y="5164079"/>
            <a:ext cx="370322" cy="370322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81" name="mat-5-p8"/>
          <p:cNvSpPr/>
          <p:nvPr/>
        </p:nvSpPr>
        <p:spPr>
          <a:xfrm>
            <a:off x="6963950" y="5224116"/>
            <a:ext cx="250247" cy="250247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82" name="mat-5-p9"/>
          <p:cNvSpPr/>
          <p:nvPr/>
        </p:nvSpPr>
        <p:spPr>
          <a:xfrm>
            <a:off x="7364352" y="5167318"/>
            <a:ext cx="363843" cy="363843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83" name="mat-5-p10"/>
          <p:cNvSpPr/>
          <p:nvPr/>
        </p:nvSpPr>
        <p:spPr>
          <a:xfrm>
            <a:off x="7945431" y="5291197"/>
            <a:ext cx="116086" cy="116086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84" name="mat-5-p11"/>
          <p:cNvSpPr/>
          <p:nvPr/>
        </p:nvSpPr>
        <p:spPr>
          <a:xfrm>
            <a:off x="8289413" y="5177980"/>
            <a:ext cx="342521" cy="342521"/>
          </a:xfrm>
          <a:prstGeom prst="ellipse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3157154" y="56967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ene</a:t>
            </a:r>
            <a:endParaRPr lang="en-US" sz="1000" dirty="0"/>
          </a:p>
        </p:txBody>
      </p:sp>
      <p:sp>
        <p:nvSpPr>
          <p:cNvPr id="86" name="Text 84"/>
          <p:cNvSpPr txBox="1"/>
          <p:nvPr/>
        </p:nvSpPr>
        <p:spPr>
          <a:xfrm>
            <a:off x="3614354" y="56967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feb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4071554" y="56967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</a:t>
            </a:r>
            <a:endParaRPr lang="en-US" sz="1000" dirty="0"/>
          </a:p>
        </p:txBody>
      </p:sp>
      <p:sp>
        <p:nvSpPr>
          <p:cNvPr id="88" name="Text 86"/>
          <p:cNvSpPr txBox="1"/>
          <p:nvPr/>
        </p:nvSpPr>
        <p:spPr>
          <a:xfrm>
            <a:off x="4528754" y="56967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abr</a:t>
            </a:r>
            <a:endParaRPr lang="en-US" sz="1000" dirty="0"/>
          </a:p>
        </p:txBody>
      </p:sp>
      <p:sp>
        <p:nvSpPr>
          <p:cNvPr id="89" name="Text 87"/>
          <p:cNvSpPr txBox="1"/>
          <p:nvPr/>
        </p:nvSpPr>
        <p:spPr>
          <a:xfrm>
            <a:off x="4985954" y="56967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</a:t>
            </a:r>
            <a:endParaRPr lang="en-US" sz="1000" dirty="0"/>
          </a:p>
        </p:txBody>
      </p:sp>
      <p:sp>
        <p:nvSpPr>
          <p:cNvPr id="90" name="Text 88"/>
          <p:cNvSpPr txBox="1"/>
          <p:nvPr/>
        </p:nvSpPr>
        <p:spPr>
          <a:xfrm>
            <a:off x="5443154" y="56967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jun</a:t>
            </a:r>
            <a:endParaRPr lang="en-US" sz="1000" dirty="0"/>
          </a:p>
        </p:txBody>
      </p:sp>
      <p:sp>
        <p:nvSpPr>
          <p:cNvPr id="91" name="Text 89"/>
          <p:cNvSpPr txBox="1"/>
          <p:nvPr/>
        </p:nvSpPr>
        <p:spPr>
          <a:xfrm>
            <a:off x="5900354" y="56967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6357554" y="56967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ago</a:t>
            </a:r>
            <a:endParaRPr lang="en-US" sz="1000" dirty="0"/>
          </a:p>
        </p:txBody>
      </p:sp>
      <p:sp>
        <p:nvSpPr>
          <p:cNvPr id="93" name="Text 91"/>
          <p:cNvSpPr txBox="1"/>
          <p:nvPr/>
        </p:nvSpPr>
        <p:spPr>
          <a:xfrm>
            <a:off x="6814754" y="56967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</a:t>
            </a:r>
            <a:endParaRPr lang="en-US" sz="1000" dirty="0"/>
          </a:p>
        </p:txBody>
      </p:sp>
      <p:sp>
        <p:nvSpPr>
          <p:cNvPr id="94" name="Text 92"/>
          <p:cNvSpPr txBox="1"/>
          <p:nvPr/>
        </p:nvSpPr>
        <p:spPr>
          <a:xfrm>
            <a:off x="7271954" y="56967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oct</a:t>
            </a:r>
            <a:endParaRPr lang="en-US" sz="1000" dirty="0"/>
          </a:p>
        </p:txBody>
      </p:sp>
      <p:sp>
        <p:nvSpPr>
          <p:cNvPr id="95" name="Text 93"/>
          <p:cNvSpPr txBox="1"/>
          <p:nvPr/>
        </p:nvSpPr>
        <p:spPr>
          <a:xfrm>
            <a:off x="7729154" y="56967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</a:t>
            </a:r>
            <a:endParaRPr lang="en-US" sz="1000" dirty="0"/>
          </a:p>
        </p:txBody>
      </p:sp>
      <p:sp>
        <p:nvSpPr>
          <p:cNvPr id="96" name="Text 94"/>
          <p:cNvSpPr txBox="1"/>
          <p:nvPr/>
        </p:nvSpPr>
        <p:spPr>
          <a:xfrm>
            <a:off x="8186354" y="56967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dic</a:t>
            </a:r>
            <a:endParaRPr lang="en-US" sz="1000" dirty="0"/>
          </a:p>
        </p:txBody>
      </p:sp>
      <p:sp>
        <p:nvSpPr>
          <p:cNvPr id="97" name="mat-c0-l"/>
          <p:cNvSpPr/>
          <p:nvPr/>
        </p:nvSpPr>
        <p:spPr>
          <a:xfrm>
            <a:off x="9235440" y="1737360"/>
            <a:ext cx="26578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98" name="mat-c0-n"/>
          <p:cNvSpPr txBox="1"/>
          <p:nvPr/>
        </p:nvSpPr>
        <p:spPr>
          <a:xfrm>
            <a:off x="9235440" y="1847088"/>
            <a:ext cx="265781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128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de 6</a:t>
            </a:r>
            <a:endParaRPr lang="en-US" sz="3200" dirty="0"/>
          </a:p>
        </p:txBody>
      </p:sp>
      <p:sp>
        <p:nvSpPr>
          <p:cNvPr id="99" name="mat-c0-t"/>
          <p:cNvSpPr txBox="1"/>
          <p:nvPr/>
        </p:nvSpPr>
        <p:spPr>
          <a:xfrm>
            <a:off x="9235440" y="2340864"/>
            <a:ext cx="26578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años el mes más fuerte es julio. El azar da lo mismo una de cada cinco veces: no basta.</a:t>
            </a:r>
            <a:endParaRPr lang="en-US" sz="1200" dirty="0"/>
          </a:p>
        </p:txBody>
      </p:sp>
      <p:sp>
        <p:nvSpPr>
          <p:cNvPr id="100" name="mat-c0-e"/>
          <p:cNvSpPr txBox="1"/>
          <p:nvPr/>
        </p:nvSpPr>
        <p:spPr>
          <a:xfrm>
            <a:off x="9235440" y="3172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101" name="mat-c1-l"/>
          <p:cNvSpPr/>
          <p:nvPr/>
        </p:nvSpPr>
        <p:spPr>
          <a:xfrm>
            <a:off x="9235440" y="3429000"/>
            <a:ext cx="26578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02" name="mat-c1-n"/>
          <p:cNvSpPr txBox="1"/>
          <p:nvPr/>
        </p:nvSpPr>
        <p:spPr>
          <a:xfrm>
            <a:off x="9235440" y="3538728"/>
            <a:ext cx="265781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128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Julio</a:t>
            </a:r>
            <a:endParaRPr lang="en-US" sz="3200" dirty="0"/>
          </a:p>
        </p:txBody>
      </p:sp>
      <p:sp>
        <p:nvSpPr>
          <p:cNvPr id="103" name="mat-c1-t"/>
          <p:cNvSpPr txBox="1"/>
          <p:nvPr/>
        </p:nvSpPr>
        <p:spPr>
          <a:xfrm>
            <a:off x="9235440" y="4032504"/>
            <a:ext cx="26578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 el mes con más gasto sumando los seis años.</a:t>
            </a:r>
            <a:endParaRPr lang="en-US" sz="1200" dirty="0"/>
          </a:p>
        </p:txBody>
      </p:sp>
      <p:sp>
        <p:nvSpPr>
          <p:cNvPr id="104" name="mat-c1-e"/>
          <p:cNvSpPr txBox="1"/>
          <p:nvPr/>
        </p:nvSpPr>
        <p:spPr>
          <a:xfrm>
            <a:off x="9235440" y="4498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105" name="mat-d-l"/>
          <p:cNvSpPr/>
          <p:nvPr/>
        </p:nvSpPr>
        <p:spPr>
          <a:xfrm>
            <a:off x="9235440" y="4846320"/>
            <a:ext cx="26578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06" name="mat-d-t"/>
          <p:cNvSpPr txBox="1"/>
          <p:nvPr/>
        </p:nvSpPr>
        <p:spPr>
          <a:xfrm>
            <a:off x="9235440" y="4956048"/>
            <a:ext cx="26578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cámaras y juntas, estar presente todo el año.</a:t>
            </a:r>
            <a:endParaRPr lang="en-US" sz="1300" dirty="0"/>
          </a:p>
        </p:txBody>
      </p:sp>
      <p:sp>
        <p:nvSpPr>
          <p:cNvPr id="107" name="mat-d-e"/>
          <p:cNvSpPr txBox="1"/>
          <p:nvPr/>
        </p:nvSpPr>
        <p:spPr>
          <a:xfrm>
            <a:off x="9235440" y="54864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850"/>
                            </p:stCondLst>
                            <p:childTnLst>
                              <p:par>
                                <p:cTn id="1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1100"/>
                            </p:stCondLst>
                            <p:childTnLst>
                              <p:par>
                                <p:cTn id="1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4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6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1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6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1350"/>
                            </p:stCondLst>
                            <p:childTnLst>
                              <p:par>
                                <p:cTn id="2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0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2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5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7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0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2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5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7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5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0" dur="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2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5" dur="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7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0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2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5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7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0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2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1600"/>
                            </p:stCondLst>
                            <p:childTnLst>
                              <p:par>
                                <p:cTn id="3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6" dur="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8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1" dur="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3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6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8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1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3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3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6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8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1" dur="2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2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3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6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8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1" dur="2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2" dur="2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3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6" dur="2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2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8" dur="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2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2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1850"/>
                            </p:stCondLst>
                            <p:childTnLst>
                              <p:par>
                                <p:cTn id="3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7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9" dur="3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2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4" dur="3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2150"/>
                            </p:stCondLst>
                            <p:childTnLst>
                              <p:par>
                                <p:cTn id="3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3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2450"/>
                            </p:stCondLst>
                            <p:childTnLst>
                              <p:par>
                                <p:cTn id="3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5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7" dur="3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0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2" dur="3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3" fill="hold">
                            <p:stCondLst>
                              <p:cond delay="2750"/>
                            </p:stCondLst>
                            <p:childTnLst>
                              <p:par>
                                <p:cTn id="4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3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3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3050"/>
                            </p:stCondLst>
                            <p:childTnLst>
                              <p:par>
                                <p:cTn id="4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3" dur="3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6" dur="3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3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Cuándo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Reserva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31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prenda se busca en su mes.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654234" y="17190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«equipamentos de futebol»</a:t>
            </a:r>
            <a:endParaRPr lang="en-US" sz="1050" dirty="0"/>
          </a:p>
        </p:txBody>
      </p:sp>
      <p:sp>
        <p:nvSpPr>
          <p:cNvPr id="7" name="tr-g0-0-b"/>
          <p:cNvSpPr/>
          <p:nvPr/>
        </p:nvSpPr>
        <p:spPr>
          <a:xfrm>
            <a:off x="2738816" y="2597107"/>
            <a:ext cx="253746" cy="219245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8" name="tr-g0-0-v"/>
          <p:cNvSpPr txBox="1"/>
          <p:nvPr/>
        </p:nvSpPr>
        <p:spPr>
          <a:xfrm>
            <a:off x="2562794" y="2368507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61</a:t>
            </a:r>
            <a:endParaRPr lang="en-US" sz="900" dirty="0"/>
          </a:p>
        </p:txBody>
      </p:sp>
      <p:sp>
        <p:nvSpPr>
          <p:cNvPr id="9" name="tr-g0-1-b"/>
          <p:cNvSpPr/>
          <p:nvPr/>
        </p:nvSpPr>
        <p:spPr>
          <a:xfrm>
            <a:off x="3161726" y="2582731"/>
            <a:ext cx="253746" cy="233621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0" name="tr-g0-1-v"/>
          <p:cNvSpPr txBox="1"/>
          <p:nvPr/>
        </p:nvSpPr>
        <p:spPr>
          <a:xfrm>
            <a:off x="2985704" y="2354131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65</a:t>
            </a:r>
            <a:endParaRPr lang="en-US" sz="900" dirty="0"/>
          </a:p>
        </p:txBody>
      </p:sp>
      <p:sp>
        <p:nvSpPr>
          <p:cNvPr id="11" name="tr-g0-2-b"/>
          <p:cNvSpPr/>
          <p:nvPr/>
        </p:nvSpPr>
        <p:spPr>
          <a:xfrm>
            <a:off x="3584636" y="2536006"/>
            <a:ext cx="253746" cy="280346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2" name="tr-g0-2-v"/>
          <p:cNvSpPr txBox="1"/>
          <p:nvPr/>
        </p:nvSpPr>
        <p:spPr>
          <a:xfrm>
            <a:off x="3408614" y="2307406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78</a:t>
            </a:r>
            <a:endParaRPr lang="en-US" sz="900" dirty="0"/>
          </a:p>
        </p:txBody>
      </p:sp>
      <p:sp>
        <p:nvSpPr>
          <p:cNvPr id="13" name="tr-g0-3-b"/>
          <p:cNvSpPr/>
          <p:nvPr/>
        </p:nvSpPr>
        <p:spPr>
          <a:xfrm>
            <a:off x="4007546" y="2464123"/>
            <a:ext cx="253746" cy="352229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4" name="tr-g0-3-v"/>
          <p:cNvSpPr txBox="1"/>
          <p:nvPr/>
        </p:nvSpPr>
        <p:spPr>
          <a:xfrm>
            <a:off x="3831524" y="2235523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98</a:t>
            </a:r>
            <a:endParaRPr lang="en-US" sz="900" dirty="0"/>
          </a:p>
        </p:txBody>
      </p:sp>
      <p:sp>
        <p:nvSpPr>
          <p:cNvPr id="15" name="tr-g0-4-b"/>
          <p:cNvSpPr/>
          <p:nvPr/>
        </p:nvSpPr>
        <p:spPr>
          <a:xfrm>
            <a:off x="4430456" y="2420993"/>
            <a:ext cx="253746" cy="395359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16" name="tr-g0-4-v"/>
          <p:cNvSpPr txBox="1"/>
          <p:nvPr/>
        </p:nvSpPr>
        <p:spPr>
          <a:xfrm>
            <a:off x="4254434" y="2192393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110</a:t>
            </a:r>
            <a:endParaRPr lang="en-US" sz="900" dirty="0"/>
          </a:p>
        </p:txBody>
      </p:sp>
      <p:sp>
        <p:nvSpPr>
          <p:cNvPr id="17" name="tr-g0-5-b"/>
          <p:cNvSpPr/>
          <p:nvPr/>
        </p:nvSpPr>
        <p:spPr>
          <a:xfrm>
            <a:off x="4853366" y="2345515"/>
            <a:ext cx="253746" cy="470837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8" name="tr-g0-5-v"/>
          <p:cNvSpPr txBox="1"/>
          <p:nvPr/>
        </p:nvSpPr>
        <p:spPr>
          <a:xfrm>
            <a:off x="4677344" y="2116915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131</a:t>
            </a:r>
            <a:endParaRPr lang="en-US" sz="900" dirty="0"/>
          </a:p>
        </p:txBody>
      </p:sp>
      <p:sp>
        <p:nvSpPr>
          <p:cNvPr id="19" name="tr-g0-6-b"/>
          <p:cNvSpPr/>
          <p:nvPr/>
        </p:nvSpPr>
        <p:spPr>
          <a:xfrm>
            <a:off x="5276276" y="2377863"/>
            <a:ext cx="253746" cy="438489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0" name="tr-g0-6-v"/>
          <p:cNvSpPr txBox="1"/>
          <p:nvPr/>
        </p:nvSpPr>
        <p:spPr>
          <a:xfrm>
            <a:off x="5100254" y="2149263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122</a:t>
            </a:r>
            <a:endParaRPr lang="en-US" sz="900" dirty="0"/>
          </a:p>
        </p:txBody>
      </p:sp>
      <p:sp>
        <p:nvSpPr>
          <p:cNvPr id="21" name="tr-g0-7-b"/>
          <p:cNvSpPr/>
          <p:nvPr/>
        </p:nvSpPr>
        <p:spPr>
          <a:xfrm>
            <a:off x="5699186" y="2435370"/>
            <a:ext cx="253746" cy="38098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2" name="tr-g0-7-v"/>
          <p:cNvSpPr txBox="1"/>
          <p:nvPr/>
        </p:nvSpPr>
        <p:spPr>
          <a:xfrm>
            <a:off x="5523164" y="2206770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106</a:t>
            </a:r>
            <a:endParaRPr lang="en-US" sz="900" dirty="0"/>
          </a:p>
        </p:txBody>
      </p:sp>
      <p:sp>
        <p:nvSpPr>
          <p:cNvPr id="23" name="tr-g0-8-b"/>
          <p:cNvSpPr/>
          <p:nvPr/>
        </p:nvSpPr>
        <p:spPr>
          <a:xfrm>
            <a:off x="6122096" y="2377863"/>
            <a:ext cx="253746" cy="438489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4" name="tr-g0-8-v"/>
          <p:cNvSpPr txBox="1"/>
          <p:nvPr/>
        </p:nvSpPr>
        <p:spPr>
          <a:xfrm>
            <a:off x="5946074" y="2149263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122</a:t>
            </a:r>
            <a:endParaRPr lang="en-US" sz="900" dirty="0"/>
          </a:p>
        </p:txBody>
      </p:sp>
      <p:sp>
        <p:nvSpPr>
          <p:cNvPr id="25" name="tr-g0-9-b"/>
          <p:cNvSpPr/>
          <p:nvPr/>
        </p:nvSpPr>
        <p:spPr>
          <a:xfrm>
            <a:off x="6545006" y="2377863"/>
            <a:ext cx="253746" cy="438489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26" name="tr-g0-9-v"/>
          <p:cNvSpPr txBox="1"/>
          <p:nvPr/>
        </p:nvSpPr>
        <p:spPr>
          <a:xfrm>
            <a:off x="6368984" y="2149263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122</a:t>
            </a:r>
            <a:endParaRPr lang="en-US" sz="900" dirty="0"/>
          </a:p>
        </p:txBody>
      </p:sp>
      <p:sp>
        <p:nvSpPr>
          <p:cNvPr id="27" name="tr-g0-10-b"/>
          <p:cNvSpPr/>
          <p:nvPr/>
        </p:nvSpPr>
        <p:spPr>
          <a:xfrm>
            <a:off x="6967916" y="2492876"/>
            <a:ext cx="253746" cy="323476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28" name="tr-g0-10-v"/>
          <p:cNvSpPr txBox="1"/>
          <p:nvPr/>
        </p:nvSpPr>
        <p:spPr>
          <a:xfrm>
            <a:off x="6791894" y="2264276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90</a:t>
            </a:r>
            <a:endParaRPr lang="en-US" sz="900" dirty="0"/>
          </a:p>
        </p:txBody>
      </p:sp>
      <p:sp>
        <p:nvSpPr>
          <p:cNvPr id="29" name="tr-g0-11-b"/>
          <p:cNvSpPr/>
          <p:nvPr/>
        </p:nvSpPr>
        <p:spPr>
          <a:xfrm>
            <a:off x="7390826" y="2478500"/>
            <a:ext cx="253746" cy="33785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0" name="tr-g0-11-v"/>
          <p:cNvSpPr txBox="1"/>
          <p:nvPr/>
        </p:nvSpPr>
        <p:spPr>
          <a:xfrm>
            <a:off x="7214804" y="2249900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94</a:t>
            </a:r>
            <a:endParaRPr lang="en-US" sz="900" dirty="0"/>
          </a:p>
        </p:txBody>
      </p:sp>
      <p:sp>
        <p:nvSpPr>
          <p:cNvPr id="31" name="tr-g0-base"/>
          <p:cNvSpPr/>
          <p:nvPr/>
        </p:nvSpPr>
        <p:spPr>
          <a:xfrm>
            <a:off x="2654234" y="2816352"/>
            <a:ext cx="507492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54234" y="306324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«camisolas personalizadas»</a:t>
            </a:r>
            <a:endParaRPr lang="en-US" sz="1050" dirty="0"/>
          </a:p>
        </p:txBody>
      </p:sp>
      <p:sp>
        <p:nvSpPr>
          <p:cNvPr id="33" name="tr-g1-0-b"/>
          <p:cNvSpPr/>
          <p:nvPr/>
        </p:nvSpPr>
        <p:spPr>
          <a:xfrm>
            <a:off x="2738816" y="3833450"/>
            <a:ext cx="253746" cy="32707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4" name="tr-g1-0-v"/>
          <p:cNvSpPr txBox="1"/>
          <p:nvPr/>
        </p:nvSpPr>
        <p:spPr>
          <a:xfrm>
            <a:off x="2562794" y="3604850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91</a:t>
            </a:r>
            <a:endParaRPr lang="en-US" sz="900" dirty="0"/>
          </a:p>
        </p:txBody>
      </p:sp>
      <p:sp>
        <p:nvSpPr>
          <p:cNvPr id="35" name="tr-g1-1-b"/>
          <p:cNvSpPr/>
          <p:nvPr/>
        </p:nvSpPr>
        <p:spPr>
          <a:xfrm>
            <a:off x="3161726" y="3833450"/>
            <a:ext cx="253746" cy="32707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6" name="tr-g1-1-v"/>
          <p:cNvSpPr txBox="1"/>
          <p:nvPr/>
        </p:nvSpPr>
        <p:spPr>
          <a:xfrm>
            <a:off x="2985704" y="3604850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91</a:t>
            </a:r>
            <a:endParaRPr lang="en-US" sz="900" dirty="0"/>
          </a:p>
        </p:txBody>
      </p:sp>
      <p:sp>
        <p:nvSpPr>
          <p:cNvPr id="37" name="tr-g1-2-b"/>
          <p:cNvSpPr/>
          <p:nvPr/>
        </p:nvSpPr>
        <p:spPr>
          <a:xfrm>
            <a:off x="3584636" y="3844233"/>
            <a:ext cx="253746" cy="316287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38" name="tr-g1-2-v"/>
          <p:cNvSpPr txBox="1"/>
          <p:nvPr/>
        </p:nvSpPr>
        <p:spPr>
          <a:xfrm>
            <a:off x="3408614" y="3615633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88</a:t>
            </a:r>
            <a:endParaRPr lang="en-US" sz="900" dirty="0"/>
          </a:p>
        </p:txBody>
      </p:sp>
      <p:sp>
        <p:nvSpPr>
          <p:cNvPr id="39" name="tr-g1-3-b"/>
          <p:cNvSpPr/>
          <p:nvPr/>
        </p:nvSpPr>
        <p:spPr>
          <a:xfrm>
            <a:off x="4007546" y="3855015"/>
            <a:ext cx="253746" cy="305505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0" name="tr-g1-3-v"/>
          <p:cNvSpPr txBox="1"/>
          <p:nvPr/>
        </p:nvSpPr>
        <p:spPr>
          <a:xfrm>
            <a:off x="3831524" y="3626415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85</a:t>
            </a:r>
            <a:endParaRPr lang="en-US" sz="900" dirty="0"/>
          </a:p>
        </p:txBody>
      </p:sp>
      <p:sp>
        <p:nvSpPr>
          <p:cNvPr id="41" name="tr-g1-4-b"/>
          <p:cNvSpPr/>
          <p:nvPr/>
        </p:nvSpPr>
        <p:spPr>
          <a:xfrm>
            <a:off x="4430456" y="3797508"/>
            <a:ext cx="253746" cy="36301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2" name="tr-g1-4-v"/>
          <p:cNvSpPr txBox="1"/>
          <p:nvPr/>
        </p:nvSpPr>
        <p:spPr>
          <a:xfrm>
            <a:off x="4254434" y="3568908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101</a:t>
            </a:r>
            <a:endParaRPr lang="en-US" sz="900" dirty="0"/>
          </a:p>
        </p:txBody>
      </p:sp>
      <p:sp>
        <p:nvSpPr>
          <p:cNvPr id="43" name="tr-g1-5-b"/>
          <p:cNvSpPr/>
          <p:nvPr/>
        </p:nvSpPr>
        <p:spPr>
          <a:xfrm>
            <a:off x="4853366" y="3844233"/>
            <a:ext cx="253746" cy="316287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4" name="tr-g1-5-v"/>
          <p:cNvSpPr txBox="1"/>
          <p:nvPr/>
        </p:nvSpPr>
        <p:spPr>
          <a:xfrm>
            <a:off x="4677344" y="3615633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88</a:t>
            </a:r>
            <a:endParaRPr lang="en-US" sz="900" dirty="0"/>
          </a:p>
        </p:txBody>
      </p:sp>
      <p:sp>
        <p:nvSpPr>
          <p:cNvPr id="45" name="tr-g1-6-b"/>
          <p:cNvSpPr/>
          <p:nvPr/>
        </p:nvSpPr>
        <p:spPr>
          <a:xfrm>
            <a:off x="5276276" y="3926899"/>
            <a:ext cx="253746" cy="233621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6" name="tr-g1-6-v"/>
          <p:cNvSpPr txBox="1"/>
          <p:nvPr/>
        </p:nvSpPr>
        <p:spPr>
          <a:xfrm>
            <a:off x="5100254" y="3698299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65</a:t>
            </a:r>
            <a:endParaRPr lang="en-US" sz="900" dirty="0"/>
          </a:p>
        </p:txBody>
      </p:sp>
      <p:sp>
        <p:nvSpPr>
          <p:cNvPr id="47" name="tr-g1-7-b"/>
          <p:cNvSpPr/>
          <p:nvPr/>
        </p:nvSpPr>
        <p:spPr>
          <a:xfrm>
            <a:off x="5699186" y="3916116"/>
            <a:ext cx="253746" cy="244404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48" name="tr-g1-7-v"/>
          <p:cNvSpPr txBox="1"/>
          <p:nvPr/>
        </p:nvSpPr>
        <p:spPr>
          <a:xfrm>
            <a:off x="5523164" y="3687516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68</a:t>
            </a:r>
            <a:endParaRPr lang="en-US" sz="900" dirty="0"/>
          </a:p>
        </p:txBody>
      </p:sp>
      <p:sp>
        <p:nvSpPr>
          <p:cNvPr id="49" name="tr-g1-8-b"/>
          <p:cNvSpPr/>
          <p:nvPr/>
        </p:nvSpPr>
        <p:spPr>
          <a:xfrm>
            <a:off x="6122096" y="3901740"/>
            <a:ext cx="253746" cy="258780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0" name="tr-g1-8-v"/>
          <p:cNvSpPr txBox="1"/>
          <p:nvPr/>
        </p:nvSpPr>
        <p:spPr>
          <a:xfrm>
            <a:off x="5946074" y="3673140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72</a:t>
            </a:r>
            <a:endParaRPr lang="en-US" sz="900" dirty="0"/>
          </a:p>
        </p:txBody>
      </p:sp>
      <p:sp>
        <p:nvSpPr>
          <p:cNvPr id="51" name="tr-g1-9-b"/>
          <p:cNvSpPr/>
          <p:nvPr/>
        </p:nvSpPr>
        <p:spPr>
          <a:xfrm>
            <a:off x="6545006" y="3761567"/>
            <a:ext cx="253746" cy="398953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52" name="tr-g1-9-v"/>
          <p:cNvSpPr txBox="1"/>
          <p:nvPr/>
        </p:nvSpPr>
        <p:spPr>
          <a:xfrm>
            <a:off x="6368984" y="3532967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111</a:t>
            </a:r>
            <a:endParaRPr lang="en-US" sz="900" dirty="0"/>
          </a:p>
        </p:txBody>
      </p:sp>
      <p:sp>
        <p:nvSpPr>
          <p:cNvPr id="53" name="tr-g1-10-b"/>
          <p:cNvSpPr/>
          <p:nvPr/>
        </p:nvSpPr>
        <p:spPr>
          <a:xfrm>
            <a:off x="6967916" y="3563887"/>
            <a:ext cx="253746" cy="596633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54" name="tr-g1-10-v"/>
          <p:cNvSpPr txBox="1"/>
          <p:nvPr/>
        </p:nvSpPr>
        <p:spPr>
          <a:xfrm>
            <a:off x="6791894" y="3335287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166</a:t>
            </a:r>
            <a:endParaRPr lang="en-US" sz="900" dirty="0"/>
          </a:p>
        </p:txBody>
      </p:sp>
      <p:sp>
        <p:nvSpPr>
          <p:cNvPr id="55" name="tr-g1-11-b"/>
          <p:cNvSpPr/>
          <p:nvPr/>
        </p:nvSpPr>
        <p:spPr>
          <a:xfrm>
            <a:off x="7390826" y="3538728"/>
            <a:ext cx="253746" cy="621792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56" name="tr-g1-11-v"/>
          <p:cNvSpPr txBox="1"/>
          <p:nvPr/>
        </p:nvSpPr>
        <p:spPr>
          <a:xfrm>
            <a:off x="7214804" y="3310128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173</a:t>
            </a:r>
            <a:endParaRPr lang="en-US" sz="900" dirty="0"/>
          </a:p>
        </p:txBody>
      </p:sp>
      <p:sp>
        <p:nvSpPr>
          <p:cNvPr id="57" name="tr-g1-base"/>
          <p:cNvSpPr/>
          <p:nvPr/>
        </p:nvSpPr>
        <p:spPr>
          <a:xfrm>
            <a:off x="2654234" y="4160520"/>
            <a:ext cx="507492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654234" y="440740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«fardas»</a:t>
            </a:r>
            <a:endParaRPr lang="en-US" sz="1050" dirty="0"/>
          </a:p>
        </p:txBody>
      </p:sp>
      <p:sp>
        <p:nvSpPr>
          <p:cNvPr id="59" name="tr-g2-0-b"/>
          <p:cNvSpPr/>
          <p:nvPr/>
        </p:nvSpPr>
        <p:spPr>
          <a:xfrm>
            <a:off x="2738816" y="5123706"/>
            <a:ext cx="253746" cy="38098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0" name="tr-g2-0-v"/>
          <p:cNvSpPr txBox="1"/>
          <p:nvPr/>
        </p:nvSpPr>
        <p:spPr>
          <a:xfrm>
            <a:off x="2562794" y="4895106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106</a:t>
            </a:r>
            <a:endParaRPr lang="en-US" sz="900" dirty="0"/>
          </a:p>
        </p:txBody>
      </p:sp>
      <p:sp>
        <p:nvSpPr>
          <p:cNvPr id="61" name="tr-g2-0-c"/>
          <p:cNvSpPr txBox="1"/>
          <p:nvPr/>
        </p:nvSpPr>
        <p:spPr>
          <a:xfrm>
            <a:off x="256279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ene</a:t>
            </a:r>
            <a:endParaRPr lang="en-US" sz="1000" dirty="0"/>
          </a:p>
        </p:txBody>
      </p:sp>
      <p:sp>
        <p:nvSpPr>
          <p:cNvPr id="62" name="tr-g2-1-b"/>
          <p:cNvSpPr/>
          <p:nvPr/>
        </p:nvSpPr>
        <p:spPr>
          <a:xfrm>
            <a:off x="3161726" y="5105735"/>
            <a:ext cx="253746" cy="398953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3" name="tr-g2-1-v"/>
          <p:cNvSpPr txBox="1"/>
          <p:nvPr/>
        </p:nvSpPr>
        <p:spPr>
          <a:xfrm>
            <a:off x="2985704" y="4877135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111</a:t>
            </a:r>
            <a:endParaRPr lang="en-US" sz="900" dirty="0"/>
          </a:p>
        </p:txBody>
      </p:sp>
      <p:sp>
        <p:nvSpPr>
          <p:cNvPr id="64" name="tr-g2-1-c"/>
          <p:cNvSpPr txBox="1"/>
          <p:nvPr/>
        </p:nvSpPr>
        <p:spPr>
          <a:xfrm>
            <a:off x="298570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feb</a:t>
            </a:r>
            <a:endParaRPr lang="en-US" sz="1000" dirty="0"/>
          </a:p>
        </p:txBody>
      </p:sp>
      <p:sp>
        <p:nvSpPr>
          <p:cNvPr id="65" name="tr-g2-2-b"/>
          <p:cNvSpPr/>
          <p:nvPr/>
        </p:nvSpPr>
        <p:spPr>
          <a:xfrm>
            <a:off x="3584636" y="5148865"/>
            <a:ext cx="253746" cy="355823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6" name="tr-g2-2-v"/>
          <p:cNvSpPr txBox="1"/>
          <p:nvPr/>
        </p:nvSpPr>
        <p:spPr>
          <a:xfrm>
            <a:off x="3408614" y="4920265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99</a:t>
            </a:r>
            <a:endParaRPr lang="en-US" sz="900" dirty="0"/>
          </a:p>
        </p:txBody>
      </p:sp>
      <p:sp>
        <p:nvSpPr>
          <p:cNvPr id="67" name="tr-g2-2-c"/>
          <p:cNvSpPr txBox="1"/>
          <p:nvPr/>
        </p:nvSpPr>
        <p:spPr>
          <a:xfrm>
            <a:off x="340861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</a:t>
            </a:r>
            <a:endParaRPr lang="en-US" sz="1000" dirty="0"/>
          </a:p>
        </p:txBody>
      </p:sp>
      <p:sp>
        <p:nvSpPr>
          <p:cNvPr id="68" name="tr-g2-3-b"/>
          <p:cNvSpPr/>
          <p:nvPr/>
        </p:nvSpPr>
        <p:spPr>
          <a:xfrm>
            <a:off x="4007546" y="5181212"/>
            <a:ext cx="253746" cy="323476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69" name="tr-g2-3-v"/>
          <p:cNvSpPr txBox="1"/>
          <p:nvPr/>
        </p:nvSpPr>
        <p:spPr>
          <a:xfrm>
            <a:off x="3831524" y="495261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90</a:t>
            </a:r>
            <a:endParaRPr lang="en-US" sz="900" dirty="0"/>
          </a:p>
        </p:txBody>
      </p:sp>
      <p:sp>
        <p:nvSpPr>
          <p:cNvPr id="70" name="tr-g2-3-c"/>
          <p:cNvSpPr txBox="1"/>
          <p:nvPr/>
        </p:nvSpPr>
        <p:spPr>
          <a:xfrm>
            <a:off x="383152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abr</a:t>
            </a:r>
            <a:endParaRPr lang="en-US" sz="1000" dirty="0"/>
          </a:p>
        </p:txBody>
      </p:sp>
      <p:sp>
        <p:nvSpPr>
          <p:cNvPr id="71" name="tr-g2-4-b"/>
          <p:cNvSpPr/>
          <p:nvPr/>
        </p:nvSpPr>
        <p:spPr>
          <a:xfrm>
            <a:off x="4430456" y="5166836"/>
            <a:ext cx="253746" cy="33785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72" name="tr-g2-4-v"/>
          <p:cNvSpPr txBox="1"/>
          <p:nvPr/>
        </p:nvSpPr>
        <p:spPr>
          <a:xfrm>
            <a:off x="4254434" y="4938236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94</a:t>
            </a:r>
            <a:endParaRPr lang="en-US" sz="900" dirty="0"/>
          </a:p>
        </p:txBody>
      </p:sp>
      <p:sp>
        <p:nvSpPr>
          <p:cNvPr id="73" name="tr-g2-4-c"/>
          <p:cNvSpPr txBox="1"/>
          <p:nvPr/>
        </p:nvSpPr>
        <p:spPr>
          <a:xfrm>
            <a:off x="425443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</a:t>
            </a:r>
            <a:endParaRPr lang="en-US" sz="1000" dirty="0"/>
          </a:p>
        </p:txBody>
      </p:sp>
      <p:sp>
        <p:nvSpPr>
          <p:cNvPr id="74" name="tr-g2-5-b"/>
          <p:cNvSpPr/>
          <p:nvPr/>
        </p:nvSpPr>
        <p:spPr>
          <a:xfrm>
            <a:off x="4853366" y="5195589"/>
            <a:ext cx="253746" cy="309099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75" name="tr-g2-5-v"/>
          <p:cNvSpPr txBox="1"/>
          <p:nvPr/>
        </p:nvSpPr>
        <p:spPr>
          <a:xfrm>
            <a:off x="4677344" y="4966989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86</a:t>
            </a:r>
            <a:endParaRPr lang="en-US" sz="900" dirty="0"/>
          </a:p>
        </p:txBody>
      </p:sp>
      <p:sp>
        <p:nvSpPr>
          <p:cNvPr id="76" name="tr-g2-5-c"/>
          <p:cNvSpPr txBox="1"/>
          <p:nvPr/>
        </p:nvSpPr>
        <p:spPr>
          <a:xfrm>
            <a:off x="467734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jun</a:t>
            </a:r>
            <a:endParaRPr lang="en-US" sz="1000" dirty="0"/>
          </a:p>
        </p:txBody>
      </p:sp>
      <p:sp>
        <p:nvSpPr>
          <p:cNvPr id="77" name="tr-g2-6-b"/>
          <p:cNvSpPr/>
          <p:nvPr/>
        </p:nvSpPr>
        <p:spPr>
          <a:xfrm>
            <a:off x="5276276" y="5152459"/>
            <a:ext cx="253746" cy="352229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78" name="tr-g2-6-v"/>
          <p:cNvSpPr txBox="1"/>
          <p:nvPr/>
        </p:nvSpPr>
        <p:spPr>
          <a:xfrm>
            <a:off x="5100254" y="4923859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98</a:t>
            </a:r>
            <a:endParaRPr lang="en-US" sz="900" dirty="0"/>
          </a:p>
        </p:txBody>
      </p:sp>
      <p:sp>
        <p:nvSpPr>
          <p:cNvPr id="79" name="tr-g2-6-c"/>
          <p:cNvSpPr txBox="1"/>
          <p:nvPr/>
        </p:nvSpPr>
        <p:spPr>
          <a:xfrm>
            <a:off x="510025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</a:t>
            </a:r>
            <a:endParaRPr lang="en-US" sz="1000" dirty="0"/>
          </a:p>
        </p:txBody>
      </p:sp>
      <p:sp>
        <p:nvSpPr>
          <p:cNvPr id="80" name="tr-g2-7-b"/>
          <p:cNvSpPr/>
          <p:nvPr/>
        </p:nvSpPr>
        <p:spPr>
          <a:xfrm>
            <a:off x="5699186" y="5188401"/>
            <a:ext cx="253746" cy="316287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81" name="tr-g2-7-v"/>
          <p:cNvSpPr txBox="1"/>
          <p:nvPr/>
        </p:nvSpPr>
        <p:spPr>
          <a:xfrm>
            <a:off x="5523164" y="4959801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88</a:t>
            </a:r>
            <a:endParaRPr lang="en-US" sz="900" dirty="0"/>
          </a:p>
        </p:txBody>
      </p:sp>
      <p:sp>
        <p:nvSpPr>
          <p:cNvPr id="82" name="tr-g2-7-c"/>
          <p:cNvSpPr txBox="1"/>
          <p:nvPr/>
        </p:nvSpPr>
        <p:spPr>
          <a:xfrm>
            <a:off x="552316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ago</a:t>
            </a:r>
            <a:endParaRPr lang="en-US" sz="1000" dirty="0"/>
          </a:p>
        </p:txBody>
      </p:sp>
      <p:sp>
        <p:nvSpPr>
          <p:cNvPr id="83" name="tr-g2-8-b"/>
          <p:cNvSpPr/>
          <p:nvPr/>
        </p:nvSpPr>
        <p:spPr>
          <a:xfrm>
            <a:off x="6122096" y="5048228"/>
            <a:ext cx="253746" cy="456460"/>
          </a:xfrm>
          <a:prstGeom prst="rect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84" name="tr-g2-8-v"/>
          <p:cNvSpPr txBox="1"/>
          <p:nvPr/>
        </p:nvSpPr>
        <p:spPr>
          <a:xfrm>
            <a:off x="5946074" y="4819628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127</a:t>
            </a:r>
            <a:endParaRPr lang="en-US" sz="900" dirty="0"/>
          </a:p>
        </p:txBody>
      </p:sp>
      <p:sp>
        <p:nvSpPr>
          <p:cNvPr id="85" name="tr-g2-8-c"/>
          <p:cNvSpPr txBox="1"/>
          <p:nvPr/>
        </p:nvSpPr>
        <p:spPr>
          <a:xfrm>
            <a:off x="594607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</a:t>
            </a:r>
            <a:endParaRPr lang="en-US" sz="1000" dirty="0"/>
          </a:p>
        </p:txBody>
      </p:sp>
      <p:sp>
        <p:nvSpPr>
          <p:cNvPr id="86" name="tr-g2-9-b"/>
          <p:cNvSpPr/>
          <p:nvPr/>
        </p:nvSpPr>
        <p:spPr>
          <a:xfrm>
            <a:off x="6545006" y="5087764"/>
            <a:ext cx="253746" cy="416924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87" name="tr-g2-9-v"/>
          <p:cNvSpPr txBox="1"/>
          <p:nvPr/>
        </p:nvSpPr>
        <p:spPr>
          <a:xfrm>
            <a:off x="6368984" y="4859164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116</a:t>
            </a:r>
            <a:endParaRPr lang="en-US" sz="900" dirty="0"/>
          </a:p>
        </p:txBody>
      </p:sp>
      <p:sp>
        <p:nvSpPr>
          <p:cNvPr id="88" name="tr-g2-9-c"/>
          <p:cNvSpPr txBox="1"/>
          <p:nvPr/>
        </p:nvSpPr>
        <p:spPr>
          <a:xfrm>
            <a:off x="636898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oct</a:t>
            </a:r>
            <a:endParaRPr lang="en-US" sz="1000" dirty="0"/>
          </a:p>
        </p:txBody>
      </p:sp>
      <p:sp>
        <p:nvSpPr>
          <p:cNvPr id="89" name="tr-g2-10-b"/>
          <p:cNvSpPr/>
          <p:nvPr/>
        </p:nvSpPr>
        <p:spPr>
          <a:xfrm>
            <a:off x="6967916" y="5141676"/>
            <a:ext cx="253746" cy="363012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90" name="tr-g2-10-v"/>
          <p:cNvSpPr txBox="1"/>
          <p:nvPr/>
        </p:nvSpPr>
        <p:spPr>
          <a:xfrm>
            <a:off x="6791894" y="4913076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101</a:t>
            </a:r>
            <a:endParaRPr lang="en-US" sz="900" dirty="0"/>
          </a:p>
        </p:txBody>
      </p:sp>
      <p:sp>
        <p:nvSpPr>
          <p:cNvPr id="91" name="tr-g2-10-c"/>
          <p:cNvSpPr txBox="1"/>
          <p:nvPr/>
        </p:nvSpPr>
        <p:spPr>
          <a:xfrm>
            <a:off x="679189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</a:t>
            </a:r>
            <a:endParaRPr lang="en-US" sz="1000" dirty="0"/>
          </a:p>
        </p:txBody>
      </p:sp>
      <p:sp>
        <p:nvSpPr>
          <p:cNvPr id="92" name="tr-g2-11-b"/>
          <p:cNvSpPr/>
          <p:nvPr/>
        </p:nvSpPr>
        <p:spPr>
          <a:xfrm>
            <a:off x="7390826" y="5199183"/>
            <a:ext cx="253746" cy="305505"/>
          </a:xfrm>
          <a:prstGeom prst="rect">
            <a:avLst/>
          </a:prstGeom>
          <a:solidFill>
            <a:srgbClr val="404020"/>
          </a:solidFill>
          <a:ln w="12700">
            <a:solidFill>
              <a:srgbClr val="404020"/>
            </a:solidFill>
            <a:prstDash val="solid"/>
          </a:ln>
        </p:spPr>
      </p:sp>
      <p:sp>
        <p:nvSpPr>
          <p:cNvPr id="93" name="tr-g2-11-v"/>
          <p:cNvSpPr txBox="1"/>
          <p:nvPr/>
        </p:nvSpPr>
        <p:spPr>
          <a:xfrm>
            <a:off x="7214804" y="4970583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85</a:t>
            </a:r>
            <a:endParaRPr lang="en-US" sz="900" dirty="0"/>
          </a:p>
        </p:txBody>
      </p:sp>
      <p:sp>
        <p:nvSpPr>
          <p:cNvPr id="94" name="tr-g2-11-c"/>
          <p:cNvSpPr txBox="1"/>
          <p:nvPr/>
        </p:nvSpPr>
        <p:spPr>
          <a:xfrm>
            <a:off x="7214804" y="5559552"/>
            <a:ext cx="6057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dic</a:t>
            </a:r>
            <a:endParaRPr lang="en-US" sz="1000" dirty="0"/>
          </a:p>
        </p:txBody>
      </p:sp>
      <p:sp>
        <p:nvSpPr>
          <p:cNvPr id="95" name="tr-g2-base"/>
          <p:cNvSpPr/>
          <p:nvPr/>
        </p:nvSpPr>
        <p:spPr>
          <a:xfrm>
            <a:off x="2654234" y="5504688"/>
            <a:ext cx="507492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2654234" y="59893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Trends en Portugal, cinco años. 100 = media del año.</a:t>
            </a:r>
            <a:endParaRPr lang="en-US" sz="900" dirty="0"/>
          </a:p>
        </p:txBody>
      </p:sp>
      <p:sp>
        <p:nvSpPr>
          <p:cNvPr id="97" name="tr-c0-l"/>
          <p:cNvSpPr/>
          <p:nvPr/>
        </p:nvSpPr>
        <p:spPr>
          <a:xfrm>
            <a:off x="7863840" y="1719072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98" name="tr-c0-n"/>
          <p:cNvSpPr txBox="1"/>
          <p:nvPr/>
        </p:nvSpPr>
        <p:spPr>
          <a:xfrm>
            <a:off x="7863840" y="1828800"/>
            <a:ext cx="40294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Junio</a:t>
            </a:r>
            <a:endParaRPr lang="en-US" sz="3000" dirty="0"/>
          </a:p>
        </p:txBody>
      </p:sp>
      <p:sp>
        <p:nvSpPr>
          <p:cNvPr id="99" name="tr-c0-t"/>
          <p:cNvSpPr txBox="1"/>
          <p:nvPr/>
        </p:nvSpPr>
        <p:spPr>
          <a:xfrm>
            <a:off x="7863840" y="2286000"/>
            <a:ext cx="40294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«Equipamentos de futebol»: por encima de la media de mayo a octubre.</a:t>
            </a:r>
            <a:endParaRPr lang="en-US" sz="1200" dirty="0"/>
          </a:p>
        </p:txBody>
      </p:sp>
      <p:sp>
        <p:nvSpPr>
          <p:cNvPr id="100" name="tr-c0-e"/>
          <p:cNvSpPr txBox="1"/>
          <p:nvPr/>
        </p:nvSpPr>
        <p:spPr>
          <a:xfrm>
            <a:off x="7863840" y="27614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101" name="tr-c1-l"/>
          <p:cNvSpPr/>
          <p:nvPr/>
        </p:nvSpPr>
        <p:spPr>
          <a:xfrm>
            <a:off x="7863840" y="3017520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02" name="tr-c1-n"/>
          <p:cNvSpPr txBox="1"/>
          <p:nvPr/>
        </p:nvSpPr>
        <p:spPr>
          <a:xfrm>
            <a:off x="7863840" y="3127248"/>
            <a:ext cx="40294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Diciembre</a:t>
            </a:r>
            <a:endParaRPr lang="en-US" sz="3000" dirty="0"/>
          </a:p>
        </p:txBody>
      </p:sp>
      <p:sp>
        <p:nvSpPr>
          <p:cNvPr id="103" name="tr-c1-t"/>
          <p:cNvSpPr txBox="1"/>
          <p:nvPr/>
        </p:nvSpPr>
        <p:spPr>
          <a:xfrm>
            <a:off x="7863840" y="3584448"/>
            <a:ext cx="40294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«Camisolas personalizadas»: noviembre y diciembre, un 70 % más que la media.</a:t>
            </a:r>
            <a:endParaRPr lang="en-US" sz="1200" dirty="0"/>
          </a:p>
        </p:txBody>
      </p:sp>
      <p:sp>
        <p:nvSpPr>
          <p:cNvPr id="104" name="tr-c1-e"/>
          <p:cNvSpPr txBox="1"/>
          <p:nvPr/>
        </p:nvSpPr>
        <p:spPr>
          <a:xfrm>
            <a:off x="7863840" y="40599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105" name="tr-c2-l"/>
          <p:cNvSpPr/>
          <p:nvPr/>
        </p:nvSpPr>
        <p:spPr>
          <a:xfrm>
            <a:off x="7863840" y="4315968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06" name="tr-c2-n"/>
          <p:cNvSpPr txBox="1"/>
          <p:nvPr/>
        </p:nvSpPr>
        <p:spPr>
          <a:xfrm>
            <a:off x="7863840" y="4425696"/>
            <a:ext cx="40294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Septiembre</a:t>
            </a:r>
            <a:endParaRPr lang="en-US" sz="3000" dirty="0"/>
          </a:p>
        </p:txBody>
      </p:sp>
      <p:sp>
        <p:nvSpPr>
          <p:cNvPr id="107" name="tr-c2-t"/>
          <p:cNvSpPr txBox="1"/>
          <p:nvPr/>
        </p:nvSpPr>
        <p:spPr>
          <a:xfrm>
            <a:off x="7863840" y="4882896"/>
            <a:ext cx="40294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«Fardas» (uniformes): el mes en que más se buscan.</a:t>
            </a:r>
            <a:endParaRPr lang="en-US" sz="1200" dirty="0"/>
          </a:p>
        </p:txBody>
      </p:sp>
      <p:sp>
        <p:nvSpPr>
          <p:cNvPr id="108" name="tr-c2-e"/>
          <p:cNvSpPr txBox="1"/>
          <p:nvPr/>
        </p:nvSpPr>
        <p:spPr>
          <a:xfrm>
            <a:off x="7863840" y="5358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  <p:sp>
        <p:nvSpPr>
          <p:cNvPr id="109" name="tr-d-l"/>
          <p:cNvSpPr/>
          <p:nvPr/>
        </p:nvSpPr>
        <p:spPr>
          <a:xfrm>
            <a:off x="7863840" y="5632704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10" name="tr-d-t"/>
          <p:cNvSpPr txBox="1"/>
          <p:nvPr/>
        </p:nvSpPr>
        <p:spPr>
          <a:xfrm>
            <a:off x="7863840" y="5742432"/>
            <a:ext cx="4029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Proponer cada prenda antes de que se busque.</a:t>
            </a:r>
            <a:endParaRPr lang="en-US" sz="1300" dirty="0"/>
          </a:p>
        </p:txBody>
      </p:sp>
      <p:sp>
        <p:nvSpPr>
          <p:cNvPr id="111" name="tr-d-e"/>
          <p:cNvSpPr txBox="1"/>
          <p:nvPr/>
        </p:nvSpPr>
        <p:spPr>
          <a:xfrm>
            <a:off x="7863840" y="6071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80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4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4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4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4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250"/>
                            </p:stCondLst>
                            <p:childTnLst>
                              <p:par>
                                <p:cTn id="20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4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4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4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4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4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4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4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4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4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4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4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4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4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4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4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4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4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4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4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4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4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4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4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4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4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4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4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4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4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4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4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4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4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4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4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4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4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4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4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4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4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4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4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4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4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4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4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4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700"/>
                            </p:stCondLst>
                            <p:childTnLst>
                              <p:par>
                                <p:cTn id="30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3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7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3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2300"/>
                            </p:stCondLst>
                            <p:childTnLst>
                              <p:par>
                                <p:cTn id="3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0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2" dur="3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5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2600"/>
                            </p:stCondLst>
                            <p:childTnLst>
                              <p:par>
                                <p:cTn id="3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3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3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2900"/>
                            </p:stCondLst>
                            <p:childTnLst>
                              <p:par>
                                <p:cTn id="3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8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0" dur="3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3200"/>
                            </p:stCondLst>
                            <p:childTnLst>
                              <p:par>
                                <p:cTn id="3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3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3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fill="hold">
                            <p:stCondLst>
                              <p:cond delay="3500"/>
                            </p:stCondLst>
                            <p:childTnLst>
                              <p:par>
                                <p:cTn id="3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3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3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3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9" grpId="0" animBg="1"/>
      <p:bldP spid="60" grpId="0" animBg="1"/>
      <p:bldP spid="62" grpId="0" animBg="1"/>
      <p:bldP spid="63" grpId="0" animBg="1"/>
      <p:bldP spid="65" grpId="0" animBg="1"/>
      <p:bldP spid="66" grpId="0" animBg="1"/>
      <p:bldP spid="68" grpId="0" animBg="1"/>
      <p:bldP spid="69" grpId="0" animBg="1"/>
      <p:bldP spid="71" grpId="0" animBg="1"/>
      <p:bldP spid="72" grpId="0" animBg="1"/>
      <p:bldP spid="74" grpId="0" animBg="1"/>
      <p:bldP spid="75" grpId="0" animBg="1"/>
      <p:bldP spid="77" grpId="0" animBg="1"/>
      <p:bldP spid="78" grpId="0" animBg="1"/>
      <p:bldP spid="80" grpId="0" animBg="1"/>
      <p:bldP spid="81" grpId="0" animBg="1"/>
      <p:bldP spid="83" grpId="0" animBg="1"/>
      <p:bldP spid="84" grpId="0" animBg="1"/>
      <p:bldP spid="86" grpId="0" animBg="1"/>
      <p:bldP spid="87" grpId="0" animBg="1"/>
      <p:bldP spid="89" grpId="0" animBg="1"/>
      <p:bldP spid="90" grpId="0" animBg="1"/>
      <p:bldP spid="92" grpId="0" animBg="1"/>
      <p:bldP spid="93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a60e9ee-cec4-5fc1-bdd0-d8a953451dda/scratchpad/deck/v12/assets/sudade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0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la empresa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Reserva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32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868680"/>
            <a:ext cx="622397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el proyecto deja en beira.</a:t>
            </a:r>
            <a:endParaRPr lang="en-US" sz="3000" dirty="0"/>
          </a:p>
        </p:txBody>
      </p:sp>
      <p:sp>
        <p:nvSpPr>
          <p:cNvPr id="7" name="gan-0-n"/>
          <p:cNvSpPr txBox="1"/>
          <p:nvPr/>
        </p:nvSpPr>
        <p:spPr>
          <a:xfrm>
            <a:off x="566928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b="1" spc="-8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gan-0-l"/>
          <p:cNvSpPr/>
          <p:nvPr/>
        </p:nvSpPr>
        <p:spPr>
          <a:xfrm>
            <a:off x="5669280" y="2487168"/>
            <a:ext cx="301752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9" name="gan-0-t"/>
          <p:cNvSpPr txBox="1"/>
          <p:nvPr/>
        </p:nvSpPr>
        <p:spPr>
          <a:xfrm>
            <a:off x="566928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lista para llamar</a:t>
            </a:r>
            <a:endParaRPr lang="en-US" sz="1400" dirty="0"/>
          </a:p>
        </p:txBody>
      </p:sp>
      <p:sp>
        <p:nvSpPr>
          <p:cNvPr id="10" name="gan-0-d"/>
          <p:cNvSpPr txBox="1"/>
          <p:nvPr/>
        </p:nvSpPr>
        <p:spPr>
          <a:xfrm>
            <a:off x="5669280" y="294436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1.600 organizaciones puntuadas para Airtable, con un motivo real para llamar. Y 3.000 negocios para la oferta Trabajo.</a:t>
            </a:r>
            <a:endParaRPr lang="en-US" sz="1200" dirty="0"/>
          </a:p>
        </p:txBody>
      </p:sp>
      <p:sp>
        <p:nvSpPr>
          <p:cNvPr id="11" name="gan-0-e"/>
          <p:cNvSpPr txBox="1"/>
          <p:nvPr/>
        </p:nvSpPr>
        <p:spPr>
          <a:xfrm>
            <a:off x="5669280" y="38404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12" name="gan-1-n"/>
          <p:cNvSpPr txBox="1"/>
          <p:nvPr/>
        </p:nvSpPr>
        <p:spPr>
          <a:xfrm>
            <a:off x="886968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b="1" spc="-8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gan-1-l"/>
          <p:cNvSpPr/>
          <p:nvPr/>
        </p:nvSpPr>
        <p:spPr>
          <a:xfrm>
            <a:off x="8869680" y="2487168"/>
            <a:ext cx="301752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4" name="gan-1-t"/>
          <p:cNvSpPr txBox="1"/>
          <p:nvPr/>
        </p:nvSpPr>
        <p:spPr>
          <a:xfrm>
            <a:off x="886968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calendario</a:t>
            </a:r>
            <a:endParaRPr lang="en-US" sz="1400" dirty="0"/>
          </a:p>
        </p:txBody>
      </p:sp>
      <p:sp>
        <p:nvSpPr>
          <p:cNvPr id="15" name="gan-1-d"/>
          <p:cNvSpPr txBox="1"/>
          <p:nvPr/>
        </p:nvSpPr>
        <p:spPr>
          <a:xfrm>
            <a:off x="8869680" y="294436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Clubes y asociaciones, de 8 a 4 semanas antes de su fiesta; cámaras y juntas, todo el año. Tres fechas de contacto.</a:t>
            </a:r>
            <a:endParaRPr lang="en-US" sz="1200" dirty="0"/>
          </a:p>
        </p:txBody>
      </p:sp>
      <p:sp>
        <p:nvSpPr>
          <p:cNvPr id="16" name="gan-1-e"/>
          <p:cNvSpPr txBox="1"/>
          <p:nvPr/>
        </p:nvSpPr>
        <p:spPr>
          <a:xfrm>
            <a:off x="8869680" y="38404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17" name="gan-2-n"/>
          <p:cNvSpPr txBox="1"/>
          <p:nvPr/>
        </p:nvSpPr>
        <p:spPr>
          <a:xfrm>
            <a:off x="566928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b="1" spc="-8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gan-2-l"/>
          <p:cNvSpPr/>
          <p:nvPr/>
        </p:nvSpPr>
        <p:spPr>
          <a:xfrm>
            <a:off x="5669280" y="4636008"/>
            <a:ext cx="301752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9" name="gan-2-t"/>
          <p:cNvSpPr txBox="1"/>
          <p:nvPr/>
        </p:nvSpPr>
        <p:spPr>
          <a:xfrm>
            <a:off x="5669280" y="4754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orden</a:t>
            </a:r>
            <a:endParaRPr lang="en-US" sz="1400" dirty="0"/>
          </a:p>
        </p:txBody>
      </p:sp>
      <p:sp>
        <p:nvSpPr>
          <p:cNvPr id="20" name="gan-2-d"/>
          <p:cNvSpPr txBox="1"/>
          <p:nvPr/>
        </p:nvSpPr>
        <p:spPr>
          <a:xfrm>
            <a:off x="5669280" y="50932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Primero el piloto; después, los 11 compradores públicos cercanos que compran ropa varios años.</a:t>
            </a:r>
            <a:endParaRPr lang="en-US" sz="1200" dirty="0"/>
          </a:p>
        </p:txBody>
      </p:sp>
      <p:sp>
        <p:nvSpPr>
          <p:cNvPr id="21" name="gan-2-e"/>
          <p:cNvSpPr txBox="1"/>
          <p:nvPr/>
        </p:nvSpPr>
        <p:spPr>
          <a:xfrm>
            <a:off x="5669280" y="5989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  <p:sp>
        <p:nvSpPr>
          <p:cNvPr id="22" name="gan-3-n"/>
          <p:cNvSpPr txBox="1"/>
          <p:nvPr/>
        </p:nvSpPr>
        <p:spPr>
          <a:xfrm>
            <a:off x="886968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b="1" spc="-80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gan-3-l"/>
          <p:cNvSpPr/>
          <p:nvPr/>
        </p:nvSpPr>
        <p:spPr>
          <a:xfrm>
            <a:off x="8869680" y="4636008"/>
            <a:ext cx="301752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4" name="gan-3-t"/>
          <p:cNvSpPr txBox="1"/>
          <p:nvPr/>
        </p:nvSpPr>
        <p:spPr>
          <a:xfrm>
            <a:off x="8869680" y="4754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herramienta reutilizable</a:t>
            </a:r>
            <a:endParaRPr lang="en-US" sz="1400" dirty="0"/>
          </a:p>
        </p:txBody>
      </p:sp>
      <p:sp>
        <p:nvSpPr>
          <p:cNvPr id="25" name="gan-3-d"/>
          <p:cNvSpPr txBox="1"/>
          <p:nvPr/>
        </p:nvSpPr>
        <p:spPr>
          <a:xfrm>
            <a:off x="8869680" y="50932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datos nuevos o con otra zona, la lista se rehace en menos de 20 segundos.</a:t>
            </a:r>
            <a:endParaRPr lang="en-US" sz="1200" dirty="0"/>
          </a:p>
        </p:txBody>
      </p:sp>
      <p:sp>
        <p:nvSpPr>
          <p:cNvPr id="26" name="gan-3-e"/>
          <p:cNvSpPr txBox="1"/>
          <p:nvPr/>
        </p:nvSpPr>
        <p:spPr>
          <a:xfrm>
            <a:off x="8869680" y="5989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Dato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datos que faltan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Reserva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33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más falta es saber a quién.</a:t>
            </a:r>
            <a:endParaRPr lang="en-US" sz="3000" dirty="0"/>
          </a:p>
        </p:txBody>
      </p:sp>
      <p:sp>
        <p:nvSpPr>
          <p:cNvPr id="6" name="dat-q0-f"/>
          <p:cNvSpPr/>
          <p:nvPr/>
        </p:nvSpPr>
        <p:spPr>
          <a:xfrm>
            <a:off x="2654234" y="1783080"/>
            <a:ext cx="2537460" cy="2011680"/>
          </a:xfrm>
          <a:prstGeom prst="rect">
            <a:avLst/>
          </a:prstGeom>
          <a:solidFill>
            <a:srgbClr val="EDE5DC"/>
          </a:solidFill>
          <a:ln w="12700">
            <a:solidFill>
              <a:srgbClr val="EDE5DC"/>
            </a:solidFill>
            <a:prstDash val="solid"/>
          </a:ln>
        </p:spPr>
      </p:sp>
      <p:sp>
        <p:nvSpPr>
          <p:cNvPr id="7" name="dat-q0-t"/>
          <p:cNvSpPr txBox="1"/>
          <p:nvPr/>
        </p:nvSpPr>
        <p:spPr>
          <a:xfrm>
            <a:off x="2818826" y="1929384"/>
            <a:ext cx="2263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-12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Empezar ya</a:t>
            </a:r>
            <a:endParaRPr lang="en-US" sz="1250" dirty="0"/>
          </a:p>
        </p:txBody>
      </p:sp>
      <p:sp>
        <p:nvSpPr>
          <p:cNvPr id="8" name="dat-q0-p0"/>
          <p:cNvSpPr/>
          <p:nvPr/>
        </p:nvSpPr>
        <p:spPr>
          <a:xfrm>
            <a:off x="2827970" y="2450592"/>
            <a:ext cx="91440" cy="91440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9" name="dat-q0-i0"/>
          <p:cNvSpPr txBox="1"/>
          <p:nvPr/>
        </p:nvSpPr>
        <p:spPr>
          <a:xfrm>
            <a:off x="3001706" y="2386584"/>
            <a:ext cx="2125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 del piloto (Airtable)</a:t>
            </a:r>
            <a:endParaRPr lang="en-US" sz="1150" dirty="0"/>
          </a:p>
        </p:txBody>
      </p:sp>
      <p:sp>
        <p:nvSpPr>
          <p:cNvPr id="10" name="dat-q0-p1"/>
          <p:cNvSpPr/>
          <p:nvPr/>
        </p:nvSpPr>
        <p:spPr>
          <a:xfrm>
            <a:off x="2827970" y="2788920"/>
            <a:ext cx="91440" cy="91440"/>
          </a:xfrm>
          <a:prstGeom prst="ellipse">
            <a:avLst/>
          </a:prstGeom>
          <a:solidFill>
            <a:srgbClr val="96422C"/>
          </a:solidFill>
          <a:ln w="12700">
            <a:solidFill>
              <a:srgbClr val="96422C"/>
            </a:solidFill>
            <a:prstDash val="solid"/>
          </a:ln>
        </p:spPr>
      </p:sp>
      <p:sp>
        <p:nvSpPr>
          <p:cNvPr id="11" name="dat-q0-i1"/>
          <p:cNvSpPr txBox="1"/>
          <p:nvPr/>
        </p:nvSpPr>
        <p:spPr>
          <a:xfrm>
            <a:off x="3001706" y="2724912"/>
            <a:ext cx="2125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Pedidos de beira.</a:t>
            </a:r>
            <a:endParaRPr lang="en-US" sz="1150" dirty="0"/>
          </a:p>
        </p:txBody>
      </p:sp>
      <p:sp>
        <p:nvSpPr>
          <p:cNvPr id="12" name="dat-q1-t"/>
          <p:cNvSpPr txBox="1"/>
          <p:nvPr/>
        </p:nvSpPr>
        <p:spPr>
          <a:xfrm>
            <a:off x="5356286" y="1929384"/>
            <a:ext cx="2263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Planificar</a:t>
            </a:r>
            <a:endParaRPr lang="en-US" sz="1250" dirty="0"/>
          </a:p>
        </p:txBody>
      </p:sp>
      <p:sp>
        <p:nvSpPr>
          <p:cNvPr id="13" name="dat-q1-p0"/>
          <p:cNvSpPr/>
          <p:nvPr/>
        </p:nvSpPr>
        <p:spPr>
          <a:xfrm>
            <a:off x="5365430" y="2450592"/>
            <a:ext cx="91440" cy="91440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4" name="dat-q1-i0"/>
          <p:cNvSpPr txBox="1"/>
          <p:nvPr/>
        </p:nvSpPr>
        <p:spPr>
          <a:xfrm>
            <a:off x="5539166" y="2386584"/>
            <a:ext cx="2125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Subvenciones de las cámaras</a:t>
            </a:r>
            <a:endParaRPr lang="en-US" sz="1150" dirty="0"/>
          </a:p>
        </p:txBody>
      </p:sp>
      <p:sp>
        <p:nvSpPr>
          <p:cNvPr id="15" name="dat-q1-p1"/>
          <p:cNvSpPr/>
          <p:nvPr/>
        </p:nvSpPr>
        <p:spPr>
          <a:xfrm>
            <a:off x="5365430" y="2788920"/>
            <a:ext cx="91440" cy="91440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6" name="dat-q1-i1"/>
          <p:cNvSpPr txBox="1"/>
          <p:nvPr/>
        </p:nvSpPr>
        <p:spPr>
          <a:xfrm>
            <a:off x="5539166" y="2724912"/>
            <a:ext cx="2125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Fiestas de los pueblos del piloto</a:t>
            </a:r>
            <a:endParaRPr lang="en-US" sz="1150" dirty="0"/>
          </a:p>
        </p:txBody>
      </p:sp>
      <p:sp>
        <p:nvSpPr>
          <p:cNvPr id="17" name="dat-q1-p2"/>
          <p:cNvSpPr/>
          <p:nvPr/>
        </p:nvSpPr>
        <p:spPr>
          <a:xfrm>
            <a:off x="5365430" y="3127248"/>
            <a:ext cx="91440" cy="91440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8" name="dat-q1-i2"/>
          <p:cNvSpPr txBox="1"/>
          <p:nvPr/>
        </p:nvSpPr>
        <p:spPr>
          <a:xfrm>
            <a:off x="5539166" y="3063240"/>
            <a:ext cx="2125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Registros de asociaciones</a:t>
            </a:r>
            <a:endParaRPr lang="en-US" sz="1150" dirty="0"/>
          </a:p>
        </p:txBody>
      </p:sp>
      <p:sp>
        <p:nvSpPr>
          <p:cNvPr id="19" name="dat-q2-t"/>
          <p:cNvSpPr txBox="1"/>
          <p:nvPr/>
        </p:nvSpPr>
        <p:spPr>
          <a:xfrm>
            <a:off x="2818826" y="3941064"/>
            <a:ext cx="2263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-12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 sobra tiempo</a:t>
            </a:r>
            <a:endParaRPr lang="en-US" sz="1250" dirty="0"/>
          </a:p>
        </p:txBody>
      </p:sp>
      <p:sp>
        <p:nvSpPr>
          <p:cNvPr id="20" name="dat-q2-p0"/>
          <p:cNvSpPr/>
          <p:nvPr/>
        </p:nvSpPr>
        <p:spPr>
          <a:xfrm>
            <a:off x="2827970" y="4462272"/>
            <a:ext cx="91440" cy="91440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dat-q2-i0"/>
          <p:cNvSpPr txBox="1"/>
          <p:nvPr/>
        </p:nvSpPr>
        <p:spPr>
          <a:xfrm>
            <a:off x="3001706" y="4398264"/>
            <a:ext cx="2125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de 2012 a 2019</a:t>
            </a:r>
            <a:endParaRPr lang="en-US" sz="1150" dirty="0"/>
          </a:p>
        </p:txBody>
      </p:sp>
      <p:sp>
        <p:nvSpPr>
          <p:cNvPr id="22" name="dat-q2-p1"/>
          <p:cNvSpPr/>
          <p:nvPr/>
        </p:nvSpPr>
        <p:spPr>
          <a:xfrm>
            <a:off x="2827970" y="4800600"/>
            <a:ext cx="91440" cy="91440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dat-q2-i1"/>
          <p:cNvSpPr txBox="1"/>
          <p:nvPr/>
        </p:nvSpPr>
        <p:spPr>
          <a:xfrm>
            <a:off x="3001706" y="4736592"/>
            <a:ext cx="2125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Escuelas y otros en el BASE</a:t>
            </a:r>
            <a:endParaRPr lang="en-US" sz="1150" dirty="0"/>
          </a:p>
        </p:txBody>
      </p:sp>
      <p:sp>
        <p:nvSpPr>
          <p:cNvPr id="24" name="dat-q2-p2"/>
          <p:cNvSpPr/>
          <p:nvPr/>
        </p:nvSpPr>
        <p:spPr>
          <a:xfrm>
            <a:off x="2827970" y="5138928"/>
            <a:ext cx="91440" cy="91440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5" name="dat-q2-i2"/>
          <p:cNvSpPr txBox="1"/>
          <p:nvPr/>
        </p:nvSpPr>
        <p:spPr>
          <a:xfrm>
            <a:off x="3001706" y="5074920"/>
            <a:ext cx="2125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Trends, más términos</a:t>
            </a:r>
            <a:endParaRPr lang="en-US" sz="1150" dirty="0"/>
          </a:p>
        </p:txBody>
      </p:sp>
      <p:sp>
        <p:nvSpPr>
          <p:cNvPr id="26" name="dat-q3-t"/>
          <p:cNvSpPr txBox="1"/>
          <p:nvPr/>
        </p:nvSpPr>
        <p:spPr>
          <a:xfrm>
            <a:off x="5356286" y="3941064"/>
            <a:ext cx="2263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-12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Solo si hace falta</a:t>
            </a:r>
            <a:endParaRPr lang="en-US" sz="1250" dirty="0"/>
          </a:p>
        </p:txBody>
      </p:sp>
      <p:sp>
        <p:nvSpPr>
          <p:cNvPr id="27" name="dat-q3-p0"/>
          <p:cNvSpPr/>
          <p:nvPr/>
        </p:nvSpPr>
        <p:spPr>
          <a:xfrm>
            <a:off x="5365430" y="4462272"/>
            <a:ext cx="91440" cy="91440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8" name="dat-q3-i0"/>
          <p:cNvSpPr txBox="1"/>
          <p:nvPr/>
        </p:nvSpPr>
        <p:spPr>
          <a:xfrm>
            <a:off x="5539166" y="4398264"/>
            <a:ext cx="2125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Censos por freguesia</a:t>
            </a:r>
            <a:endParaRPr lang="en-US" sz="1150" dirty="0"/>
          </a:p>
        </p:txBody>
      </p:sp>
      <p:sp>
        <p:nvSpPr>
          <p:cNvPr id="29" name="dat-q3-p1"/>
          <p:cNvSpPr/>
          <p:nvPr/>
        </p:nvSpPr>
        <p:spPr>
          <a:xfrm>
            <a:off x="5365430" y="4800600"/>
            <a:ext cx="91440" cy="91440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0" name="dat-q3-i1"/>
          <p:cNvSpPr txBox="1"/>
          <p:nvPr/>
        </p:nvSpPr>
        <p:spPr>
          <a:xfrm>
            <a:off x="5539166" y="4736592"/>
            <a:ext cx="2125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Alumnos por escuela</a:t>
            </a:r>
            <a:endParaRPr lang="en-US" sz="1150" dirty="0"/>
          </a:p>
        </p:txBody>
      </p:sp>
      <p:sp>
        <p:nvSpPr>
          <p:cNvPr id="31" name="dat-q3-p2"/>
          <p:cNvSpPr/>
          <p:nvPr/>
        </p:nvSpPr>
        <p:spPr>
          <a:xfrm>
            <a:off x="5365430" y="5138928"/>
            <a:ext cx="91440" cy="91440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2" name="dat-q3-i2"/>
          <p:cNvSpPr txBox="1"/>
          <p:nvPr/>
        </p:nvSpPr>
        <p:spPr>
          <a:xfrm>
            <a:off x="5539166" y="5074920"/>
            <a:ext cx="2125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Carta Social</a:t>
            </a:r>
            <a:endParaRPr lang="en-US" sz="1150" dirty="0"/>
          </a:p>
        </p:txBody>
      </p:sp>
      <p:sp>
        <p:nvSpPr>
          <p:cNvPr id="33" name="dat-q3-p3"/>
          <p:cNvSpPr/>
          <p:nvPr/>
        </p:nvSpPr>
        <p:spPr>
          <a:xfrm>
            <a:off x="5365430" y="5477256"/>
            <a:ext cx="91440" cy="91440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4" name="dat-q3-i3"/>
          <p:cNvSpPr txBox="1"/>
          <p:nvPr/>
        </p:nvSpPr>
        <p:spPr>
          <a:xfrm>
            <a:off x="5539166" y="5413248"/>
            <a:ext cx="2125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Alojamiento turístico</a:t>
            </a:r>
            <a:endParaRPr lang="en-US" sz="1150" dirty="0"/>
          </a:p>
        </p:txBody>
      </p:sp>
      <p:sp>
        <p:nvSpPr>
          <p:cNvPr id="35" name="dat-eje-h"/>
          <p:cNvSpPr/>
          <p:nvPr/>
        </p:nvSpPr>
        <p:spPr>
          <a:xfrm>
            <a:off x="2654234" y="3794760"/>
            <a:ext cx="507492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36" name="dat-eje-v"/>
          <p:cNvSpPr/>
          <p:nvPr/>
        </p:nvSpPr>
        <p:spPr>
          <a:xfrm>
            <a:off x="5191694" y="1783080"/>
            <a:ext cx="0" cy="402336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37" name="dat-base"/>
          <p:cNvSpPr/>
          <p:nvPr/>
        </p:nvSpPr>
        <p:spPr>
          <a:xfrm>
            <a:off x="2654234" y="5806440"/>
            <a:ext cx="5074920" cy="0"/>
          </a:xfrm>
          <a:prstGeom prst="line">
            <a:avLst/>
          </a:prstGeom>
          <a:noFill/>
          <a:ln w="9525">
            <a:solidFill>
              <a:srgbClr val="0D0D0D"/>
            </a:solidFill>
            <a:prstDash val="solid"/>
          </a:ln>
        </p:spPr>
      </p:sp>
      <p:sp>
        <p:nvSpPr>
          <p:cNvPr id="38" name="dat-izq"/>
          <p:cNvSpPr/>
          <p:nvPr/>
        </p:nvSpPr>
        <p:spPr>
          <a:xfrm>
            <a:off x="2654234" y="1783080"/>
            <a:ext cx="0" cy="4023360"/>
          </a:xfrm>
          <a:prstGeom prst="line">
            <a:avLst/>
          </a:prstGeom>
          <a:noFill/>
          <a:ln w="9525">
            <a:solidFill>
              <a:srgbClr val="0D0D0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654234" y="587959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Esfuerzo para conseguirlo →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 rot="16200000">
            <a:off x="413954" y="36667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spc="-1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aporta →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2654234" y="610819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Posición por zona, no exacta: es una valoración.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863840" y="1783080"/>
            <a:ext cx="4029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 dónde empezar</a:t>
            </a:r>
            <a:endParaRPr lang="en-US" sz="1100" dirty="0"/>
          </a:p>
        </p:txBody>
      </p:sp>
      <p:sp>
        <p:nvSpPr>
          <p:cNvPr id="43" name="dat-r0-l"/>
          <p:cNvSpPr/>
          <p:nvPr/>
        </p:nvSpPr>
        <p:spPr>
          <a:xfrm>
            <a:off x="7863840" y="2194560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44" name="dat-r0-t"/>
          <p:cNvSpPr txBox="1"/>
          <p:nvPr/>
        </p:nvSpPr>
        <p:spPr>
          <a:xfrm>
            <a:off x="7863840" y="2322576"/>
            <a:ext cx="4029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 del piloto</a:t>
            </a:r>
            <a:endParaRPr lang="en-US" sz="1400" dirty="0"/>
          </a:p>
        </p:txBody>
      </p:sp>
      <p:sp>
        <p:nvSpPr>
          <p:cNvPr id="45" name="dat-r0-d"/>
          <p:cNvSpPr txBox="1"/>
          <p:nvPr/>
        </p:nvSpPr>
        <p:spPr>
          <a:xfrm>
            <a:off x="7863840" y="2670048"/>
            <a:ext cx="40294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Quién responde, cuándo y qué compra. Pone a prueba la ventana y los pesos.</a:t>
            </a:r>
            <a:endParaRPr lang="en-US" sz="1200" dirty="0"/>
          </a:p>
        </p:txBody>
      </p:sp>
      <p:sp>
        <p:nvSpPr>
          <p:cNvPr id="46" name="dat-r1-l"/>
          <p:cNvSpPr/>
          <p:nvPr/>
        </p:nvSpPr>
        <p:spPr>
          <a:xfrm>
            <a:off x="7863840" y="3383280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47" name="dat-r1-t"/>
          <p:cNvSpPr txBox="1"/>
          <p:nvPr/>
        </p:nvSpPr>
        <p:spPr>
          <a:xfrm>
            <a:off x="7863840" y="3511296"/>
            <a:ext cx="4029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Subvenciones de las cámaras</a:t>
            </a:r>
            <a:endParaRPr lang="en-US" sz="1400" dirty="0"/>
          </a:p>
        </p:txBody>
      </p:sp>
      <p:sp>
        <p:nvSpPr>
          <p:cNvPr id="48" name="dat-r1-d"/>
          <p:cNvSpPr txBox="1"/>
          <p:nvPr/>
        </p:nvSpPr>
        <p:spPr>
          <a:xfrm>
            <a:off x="7863840" y="3858768"/>
            <a:ext cx="40294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club y asociación apoyado, con su NIF: lo que el mapa no ve.</a:t>
            </a:r>
            <a:endParaRPr lang="en-US" sz="1200" dirty="0"/>
          </a:p>
        </p:txBody>
      </p:sp>
      <p:sp>
        <p:nvSpPr>
          <p:cNvPr id="49" name="dat-r2-l"/>
          <p:cNvSpPr/>
          <p:nvPr/>
        </p:nvSpPr>
        <p:spPr>
          <a:xfrm>
            <a:off x="7863840" y="4572000"/>
            <a:ext cx="4029413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50" name="dat-r2-t"/>
          <p:cNvSpPr txBox="1"/>
          <p:nvPr/>
        </p:nvSpPr>
        <p:spPr>
          <a:xfrm>
            <a:off x="7863840" y="4700016"/>
            <a:ext cx="4029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9642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spc="-14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Pedidos de beira.</a:t>
            </a:r>
            <a:endParaRPr lang="en-US" sz="1400" dirty="0"/>
          </a:p>
        </p:txBody>
      </p:sp>
      <p:sp>
        <p:nvSpPr>
          <p:cNvPr id="51" name="dat-r2-d"/>
          <p:cNvSpPr txBox="1"/>
          <p:nvPr/>
        </p:nvSpPr>
        <p:spPr>
          <a:xfrm>
            <a:off x="7863840" y="5047488"/>
            <a:ext cx="40294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cliente que ya compra: qué prenda, cuántas y en qué mes.</a:t>
            </a:r>
            <a:endParaRPr lang="en-US" sz="1200" dirty="0"/>
          </a:p>
        </p:txBody>
      </p:sp>
      <p:sp>
        <p:nvSpPr>
          <p:cNvPr id="52" name="dat-e"/>
          <p:cNvSpPr txBox="1"/>
          <p:nvPr/>
        </p:nvSpPr>
        <p:spPr>
          <a:xfrm>
            <a:off x="7863840" y="57607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Decisión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5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3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5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80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5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30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55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5" grpId="0" animBg="1"/>
      <p:bldP spid="36" grpId="0" animBg="1"/>
      <p:bldP spid="37" grpId="0" animBg="1"/>
      <p:bldP spid="38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Anexo · Notebook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Anexo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34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mismos datos, en el notebook 05.</a:t>
            </a:r>
            <a:endParaRPr lang="en-US" sz="3000" dirty="0"/>
          </a:p>
        </p:txBody>
      </p:sp>
      <p:pic>
        <p:nvPicPr>
          <p:cNvPr id="6" name="nb-0-i" descr="/tmp/claude-0/-home-claude/3a60e9ee-cec4-5fc1-bdd0-d8a953451dda/scratchpad/deck/v12/assets/notebook/h1_gasto_mes_a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134" y="1645920"/>
            <a:ext cx="3669448" cy="1783080"/>
          </a:xfrm>
          <a:prstGeom prst="rect">
            <a:avLst/>
          </a:prstGeom>
        </p:spPr>
      </p:pic>
      <p:sp>
        <p:nvSpPr>
          <p:cNvPr id="7" name="nb-0-t"/>
          <p:cNvSpPr txBox="1"/>
          <p:nvPr/>
        </p:nvSpPr>
        <p:spPr>
          <a:xfrm>
            <a:off x="304792" y="3483864"/>
            <a:ext cx="3692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H1 · Gasto por mes y año</a:t>
            </a:r>
            <a:endParaRPr lang="en-US" sz="1000" dirty="0"/>
          </a:p>
        </p:txBody>
      </p:sp>
      <p:pic>
        <p:nvPicPr>
          <p:cNvPr id="8" name="nb-1-i" descr="/tmp/claude-0/-home-claude/3a60e9ee-cec4-5fc1-bdd0-d8a953451dda/scratchpad/deck/v12/assets/notebook/h3_email_por_segmen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956" y="1699286"/>
            <a:ext cx="3692132" cy="1676347"/>
          </a:xfrm>
          <a:prstGeom prst="rect">
            <a:avLst/>
          </a:prstGeom>
        </p:spPr>
      </p:pic>
      <p:sp>
        <p:nvSpPr>
          <p:cNvPr id="9" name="nb-1-t"/>
          <p:cNvSpPr txBox="1"/>
          <p:nvPr/>
        </p:nvSpPr>
        <p:spPr>
          <a:xfrm>
            <a:off x="4252956" y="3483864"/>
            <a:ext cx="3692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H3 · Email por segmento</a:t>
            </a:r>
            <a:endParaRPr lang="en-US" sz="1000" dirty="0"/>
          </a:p>
        </p:txBody>
      </p:sp>
      <p:pic>
        <p:nvPicPr>
          <p:cNvPr id="10" name="nb-2-i" descr="/tmp/claude-0/-home-claude/3a60e9ee-cec4-5fc1-bdd0-d8a953451dda/scratchpad/deck/v12/assets/notebook/product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628" y="1645920"/>
            <a:ext cx="3263118" cy="1783080"/>
          </a:xfrm>
          <a:prstGeom prst="rect">
            <a:avLst/>
          </a:prstGeom>
        </p:spPr>
      </p:pic>
      <p:sp>
        <p:nvSpPr>
          <p:cNvPr id="11" name="nb-2-t"/>
          <p:cNvSpPr txBox="1"/>
          <p:nvPr/>
        </p:nvSpPr>
        <p:spPr>
          <a:xfrm>
            <a:off x="8201121" y="3483864"/>
            <a:ext cx="3692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compran</a:t>
            </a:r>
            <a:endParaRPr lang="en-US" sz="1000" dirty="0"/>
          </a:p>
        </p:txBody>
      </p:sp>
      <p:pic>
        <p:nvPicPr>
          <p:cNvPr id="12" name="nb-3-i" descr="/tmp/claude-0/-home-claude/3a60e9ee-cec4-5fc1-bdd0-d8a953451dda/scratchpad/deck/v12/assets/notebook/h2_concentrac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543" y="3886200"/>
            <a:ext cx="2916632" cy="1783080"/>
          </a:xfrm>
          <a:prstGeom prst="rect">
            <a:avLst/>
          </a:prstGeom>
        </p:spPr>
      </p:pic>
      <p:sp>
        <p:nvSpPr>
          <p:cNvPr id="13" name="nb-3-t"/>
          <p:cNvSpPr txBox="1"/>
          <p:nvPr/>
        </p:nvSpPr>
        <p:spPr>
          <a:xfrm>
            <a:off x="304792" y="5724144"/>
            <a:ext cx="3692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H2 · Concentración de proveedores</a:t>
            </a:r>
            <a:endParaRPr lang="en-US" sz="1000" dirty="0"/>
          </a:p>
        </p:txBody>
      </p:sp>
      <p:pic>
        <p:nvPicPr>
          <p:cNvPr id="14" name="nb-4-i" descr="/tmp/claude-0/-home-claude/3a60e9ee-cec4-5fc1-bdd0-d8a953451dda/scratchpad/deck/v12/assets/notebook/indice_oportunidad_top1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3486" y="3886200"/>
            <a:ext cx="2151074" cy="1783080"/>
          </a:xfrm>
          <a:prstGeom prst="rect">
            <a:avLst/>
          </a:prstGeom>
        </p:spPr>
      </p:pic>
      <p:sp>
        <p:nvSpPr>
          <p:cNvPr id="15" name="nb-4-t"/>
          <p:cNvSpPr txBox="1"/>
          <p:nvPr/>
        </p:nvSpPr>
        <p:spPr>
          <a:xfrm>
            <a:off x="4252956" y="5724144"/>
            <a:ext cx="3692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Índice de oportunidad</a:t>
            </a:r>
            <a:endParaRPr lang="en-US" sz="1000" dirty="0"/>
          </a:p>
        </p:txBody>
      </p:sp>
      <p:pic>
        <p:nvPicPr>
          <p:cNvPr id="16" name="nb-5-i" descr="/tmp/claude-0/-home-claude/3a60e9ee-cec4-5fc1-bdd0-d8a953451dda/scratchpad/deck/v12/assets/notebook/calendario_comerci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3411" y="3886200"/>
            <a:ext cx="2087551" cy="1783080"/>
          </a:xfrm>
          <a:prstGeom prst="rect">
            <a:avLst/>
          </a:prstGeom>
        </p:spPr>
      </p:pic>
      <p:sp>
        <p:nvSpPr>
          <p:cNvPr id="17" name="nb-5-t"/>
          <p:cNvSpPr txBox="1"/>
          <p:nvPr/>
        </p:nvSpPr>
        <p:spPr>
          <a:xfrm>
            <a:off x="8201121" y="5724144"/>
            <a:ext cx="3692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spc="-1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Calendario comercial</a:t>
            </a:r>
            <a:endParaRPr lang="en-US" sz="1000" dirty="0"/>
          </a:p>
        </p:txBody>
      </p:sp>
      <p:sp>
        <p:nvSpPr>
          <p:cNvPr id="18" name="Text 10"/>
          <p:cNvSpPr txBox="1"/>
          <p:nvPr/>
        </p:nvSpPr>
        <p:spPr>
          <a:xfrm>
            <a:off x="304792" y="6172200"/>
            <a:ext cx="11588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Generados con matplotlib en src/graficos.py; en las diapositivas se redibujan con los mismos números para leerse de lejos.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5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Anexo · Datos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Anexo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Fuentes y limpieza, con las cifras exactas.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654234" y="1783080"/>
            <a:ext cx="21970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aporta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997325" y="1783080"/>
            <a:ext cx="21970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Cómo se obtiene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340416" y="1783080"/>
            <a:ext cx="21970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hubo que limpiar</a:t>
            </a:r>
            <a:endParaRPr lang="en-US" sz="950" dirty="0"/>
          </a:p>
        </p:txBody>
      </p:sp>
      <p:sp>
        <p:nvSpPr>
          <p:cNvPr id="9" name="dat-f0-l"/>
          <p:cNvSpPr/>
          <p:nvPr/>
        </p:nvSpPr>
        <p:spPr>
          <a:xfrm>
            <a:off x="304792" y="2057400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4792" y="2176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OpenStreetMap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54234" y="2167128"/>
            <a:ext cx="21970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Cámaras, juntas, colegios, clubes, asociaciones y bomberos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997325" y="2167128"/>
            <a:ext cx="21970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Overpass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340416" y="2167128"/>
            <a:ext cx="45528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1.824 elementos → 1.596 organizaciones: sin nombre, duplicados, 44 juntas añadidas y exclusiones</a:t>
            </a:r>
            <a:endParaRPr lang="en-US" sz="1150" dirty="0"/>
          </a:p>
        </p:txBody>
      </p:sp>
      <p:sp>
        <p:nvSpPr>
          <p:cNvPr id="14" name="dat-f1-l"/>
          <p:cNvSpPr/>
          <p:nvPr/>
        </p:nvSpPr>
        <p:spPr>
          <a:xfrm>
            <a:off x="304792" y="2843784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4792" y="2962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Portal BASE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54234" y="2953512"/>
            <a:ext cx="21970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Contratos públicos de ropa y merchandising, 2020-2025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997325" y="2953512"/>
            <a:ext cx="21970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Descarga anual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340416" y="2953512"/>
            <a:ext cx="45528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12.350 contratos → 265 de cámaras y juntas de la región; proveedores unificados por su NIF</a:t>
            </a:r>
            <a:endParaRPr lang="en-US" sz="1150" dirty="0"/>
          </a:p>
        </p:txBody>
      </p:sp>
      <p:sp>
        <p:nvSpPr>
          <p:cNvPr id="19" name="dat-f2-l"/>
          <p:cNvSpPr/>
          <p:nvPr/>
        </p:nvSpPr>
        <p:spPr>
          <a:xfrm>
            <a:off x="304792" y="3630168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4792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Wikipedia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654234" y="3739896"/>
            <a:ext cx="21970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festivo de cada municipio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997325" y="3739896"/>
            <a:ext cx="21970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 scraping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340416" y="3739896"/>
            <a:ext cx="45528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Celdas combinadas escondían 12 municipios: 66 de 66, con las fechas móviles</a:t>
            </a:r>
            <a:endParaRPr lang="en-US" sz="1150" dirty="0"/>
          </a:p>
        </p:txBody>
      </p:sp>
      <p:sp>
        <p:nvSpPr>
          <p:cNvPr id="24" name="dat-f3-l"/>
          <p:cNvSpPr/>
          <p:nvPr/>
        </p:nvSpPr>
        <p:spPr>
          <a:xfrm>
            <a:off x="304792" y="4416552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4792" y="45354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654234" y="4526280"/>
            <a:ext cx="21970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Población por edad y empresas del sector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997325" y="4526280"/>
            <a:ext cx="21970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340416" y="4526280"/>
            <a:ext cx="45528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código, comprobado en los metadatos antes de usarlo</a:t>
            </a:r>
            <a:endParaRPr lang="en-US" sz="1150" dirty="0"/>
          </a:p>
        </p:txBody>
      </p:sp>
      <p:sp>
        <p:nvSpPr>
          <p:cNvPr id="29" name="dat-f4-l"/>
          <p:cNvSpPr/>
          <p:nvPr/>
        </p:nvSpPr>
        <p:spPr>
          <a:xfrm>
            <a:off x="304792" y="5202936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04792" y="5321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-12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Trends y fiestas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654234" y="5312664"/>
            <a:ext cx="21970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de búsqueda y 30 fiestas de los pueblos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997325" y="5312664"/>
            <a:ext cx="21970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Exportación y recogida manual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340416" y="5312664"/>
            <a:ext cx="45528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Índice relativo, reescalado: 100 = media del año; fechas comprobadas una a una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654234" y="6108192"/>
            <a:ext cx="92390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-1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paso de limpieza termina con una comprobación (assert). Lo que falta queda vacío, no a cero.</a:t>
            </a:r>
            <a:endParaRPr lang="en-US" sz="10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792" y="265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3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Anexo · Gestión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301752"/>
            <a:ext cx="275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Anexo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301752"/>
            <a:ext cx="554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spc="-8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36</a:t>
            </a:r>
            <a:endParaRPr lang="en-US" sz="850" dirty="0"/>
          </a:p>
        </p:txBody>
      </p:sp>
      <p:sp>
        <p:nvSpPr>
          <p:cNvPr id="5" name="tit"/>
          <p:cNvSpPr txBox="1"/>
          <p:nvPr/>
        </p:nvSpPr>
        <p:spPr>
          <a:xfrm>
            <a:off x="2654234" y="868680"/>
            <a:ext cx="92390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120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Cuatro días, un plan B para cada fuente.</a:t>
            </a:r>
            <a:endParaRPr lang="en-US" sz="3000" dirty="0"/>
          </a:p>
        </p:txBody>
      </p:sp>
      <p:sp>
        <p:nvSpPr>
          <p:cNvPr id="6" name="ges-d0-l"/>
          <p:cNvSpPr/>
          <p:nvPr/>
        </p:nvSpPr>
        <p:spPr>
          <a:xfrm>
            <a:off x="304792" y="1783080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4792" y="1911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Martes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654234" y="1901952"/>
            <a:ext cx="9239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Pregunta validada con la profesora. OpenStreetMap, INE, Wikipedia y BASE 2023-2025.</a:t>
            </a:r>
            <a:endParaRPr lang="en-US" sz="1300" dirty="0"/>
          </a:p>
        </p:txBody>
      </p:sp>
      <p:sp>
        <p:nvSpPr>
          <p:cNvPr id="9" name="ges-d1-l"/>
          <p:cNvSpPr/>
          <p:nvPr/>
        </p:nvSpPr>
        <p:spPr>
          <a:xfrm>
            <a:off x="304792" y="2286000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4792" y="24140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Miércoles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654234" y="2404872"/>
            <a:ext cx="9239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2020-2022 y anuncios. Limpieza final, análisis, SQL y README.</a:t>
            </a:r>
            <a:endParaRPr lang="en-US" sz="1300" dirty="0"/>
          </a:p>
        </p:txBody>
      </p:sp>
      <p:sp>
        <p:nvSpPr>
          <p:cNvPr id="12" name="ges-d2-l"/>
          <p:cNvSpPr/>
          <p:nvPr/>
        </p:nvSpPr>
        <p:spPr>
          <a:xfrm>
            <a:off x="304792" y="2788920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792" y="2916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Jueves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654234" y="2907792"/>
            <a:ext cx="9239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Diapositivas, lista de 20 contactos para verificar y ensayo cronometrado.</a:t>
            </a:r>
            <a:endParaRPr lang="en-US" sz="1300" dirty="0"/>
          </a:p>
        </p:txBody>
      </p:sp>
      <p:sp>
        <p:nvSpPr>
          <p:cNvPr id="15" name="ges-d3-l"/>
          <p:cNvSpPr/>
          <p:nvPr/>
        </p:nvSpPr>
        <p:spPr>
          <a:xfrm>
            <a:off x="304792" y="3291840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4792" y="3419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Viernes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654234" y="3410712"/>
            <a:ext cx="9239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Presentación y entrega del repositorio.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654234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Riesgo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359466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-9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 B</a:t>
            </a:r>
            <a:endParaRPr lang="en-US" sz="950" dirty="0"/>
          </a:p>
        </p:txBody>
      </p:sp>
      <p:sp>
        <p:nvSpPr>
          <p:cNvPr id="20" name="ges-r0-l"/>
          <p:cNvSpPr/>
          <p:nvPr/>
        </p:nvSpPr>
        <p:spPr>
          <a:xfrm>
            <a:off x="304792" y="4251960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4792" y="4389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-11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Riesgos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654234" y="4379976"/>
            <a:ext cx="438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 webs de las asociaciones de fútbol dan error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59466" y="4379976"/>
            <a:ext cx="45274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Futbolistas federados por distrito (INE)</a:t>
            </a:r>
            <a:endParaRPr lang="en-US" sz="1300" dirty="0"/>
          </a:p>
        </p:txBody>
      </p:sp>
      <p:sp>
        <p:nvSpPr>
          <p:cNvPr id="24" name="ges-r1-l"/>
          <p:cNvSpPr/>
          <p:nvPr/>
        </p:nvSpPr>
        <p:spPr>
          <a:xfrm>
            <a:off x="304792" y="4800600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54234" y="4928616"/>
            <a:ext cx="438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Contactos de la CCDR Centro: el robots.txt no lo permite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59466" y="4928616"/>
            <a:ext cx="45274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se recogen; contacto por la web oficial</a:t>
            </a:r>
            <a:endParaRPr lang="en-US" sz="1300" dirty="0"/>
          </a:p>
        </p:txBody>
      </p:sp>
      <p:sp>
        <p:nvSpPr>
          <p:cNvPr id="27" name="ges-r2-l"/>
          <p:cNvSpPr/>
          <p:nvPr/>
        </p:nvSpPr>
        <p:spPr>
          <a:xfrm>
            <a:off x="304792" y="5349240"/>
            <a:ext cx="11588460" cy="0"/>
          </a:xfrm>
          <a:prstGeom prst="line">
            <a:avLst/>
          </a:prstGeom>
          <a:noFill/>
          <a:ln w="9525">
            <a:solidFill>
              <a:srgbClr val="AEAEA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54234" y="5477256"/>
            <a:ext cx="438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fondo de las freguesias no viene en el PDF publicado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359466" y="5477256"/>
            <a:ext cx="45274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D0D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Descartado y explicado en el README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654234" y="6035040"/>
            <a:ext cx="92390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-10" kern="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Kanban en Trello: por hacer, hoy, en curso y hecho, con una etiqueta por día.</a:t>
            </a:r>
            <a:endParaRPr lang="en-US" sz="10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beira.">
  <a:themeElements>
    <a:clrScheme name="beira.">
      <a:dk1>
        <a:srgbClr val="0D0D0D"/>
      </a:dk1>
      <a:lt1>
        <a:srgbClr val="F2F2F2"/>
      </a:lt1>
      <a:dk2>
        <a:srgbClr val="404020"/>
      </a:dk2>
      <a:lt2>
        <a:srgbClr val="EDE5DC"/>
      </a:lt2>
      <a:accent1>
        <a:srgbClr val="96422C"/>
      </a:accent1>
      <a:accent2>
        <a:srgbClr val="404020"/>
      </a:accent2>
      <a:accent3>
        <a:srgbClr val="8F6226"/>
      </a:accent3>
      <a:accent4>
        <a:srgbClr val="0D0D0D"/>
      </a:accent4>
      <a:accent5>
        <a:srgbClr val="999999"/>
      </a:accent5>
      <a:accent6>
        <a:srgbClr val="EDE5DC"/>
      </a:accent6>
      <a:hlink>
        <a:srgbClr val="96422C"/>
      </a:hlink>
      <a:folHlink>
        <a:srgbClr val="8F6226"/>
      </a:folHlink>
    </a:clrScheme>
    <a:fontScheme name="beira.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beira. · Dónde empieza la venta</dc:title>
  <dc:subject>PptxGenJS Presentation</dc:subject>
  <dc:creator>João Miguel Pais</dc:creator>
  <cp:lastModifiedBy>João Miguel Pais</cp:lastModifiedBy>
  <cp:revision>1</cp:revision>
  <dcterms:created xsi:type="dcterms:W3CDTF">2026-10-09T07:44:33Z</dcterms:created>
  <dcterms:modified xsi:type="dcterms:W3CDTF">2026-10-09T07:44:33Z</dcterms:modified>
</cp:coreProperties>
</file>